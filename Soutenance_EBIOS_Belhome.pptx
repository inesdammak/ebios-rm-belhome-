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9" r:id="rId3"/>
    <p:sldId id="258" r:id="rId4"/>
    <p:sldId id="267" r:id="rId5"/>
    <p:sldId id="259" r:id="rId6"/>
    <p:sldId id="280" r:id="rId7"/>
    <p:sldId id="262" r:id="rId8"/>
    <p:sldId id="270" r:id="rId9"/>
    <p:sldId id="271" r:id="rId10"/>
    <p:sldId id="273" r:id="rId11"/>
    <p:sldId id="281" r:id="rId12"/>
    <p:sldId id="275" r:id="rId13"/>
    <p:sldId id="276" r:id="rId14"/>
    <p:sldId id="269" r:id="rId15"/>
    <p:sldId id="282"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384A"/>
    <a:srgbClr val="E07B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50" autoAdjust="0"/>
    <p:restoredTop sz="91882" autoAdjust="0"/>
  </p:normalViewPr>
  <p:slideViewPr>
    <p:cSldViewPr snapToGrid="0" snapToObjects="1">
      <p:cViewPr varScale="1">
        <p:scale>
          <a:sx n="66" d="100"/>
          <a:sy n="66" d="100"/>
        </p:scale>
        <p:origin x="1050" y="78"/>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7912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[Storytelling] On pose le décor avant de </a:t>
            </a:r>
            <a:r>
              <a:rPr dirty="0" err="1"/>
              <a:t>plonger</a:t>
            </a:r>
            <a:r>
              <a:rPr dirty="0"/>
              <a:t> : qui est </a:t>
            </a:r>
            <a:r>
              <a:rPr dirty="0" err="1"/>
              <a:t>Belhome</a:t>
            </a:r>
            <a:r>
              <a:rPr dirty="0"/>
              <a:t>, </a:t>
            </a:r>
            <a:r>
              <a:rPr dirty="0" err="1"/>
              <a:t>ce</a:t>
            </a:r>
            <a:r>
              <a:rPr dirty="0"/>
              <a:t> </a:t>
            </a:r>
            <a:r>
              <a:rPr dirty="0" err="1"/>
              <a:t>qu'on</a:t>
            </a:r>
            <a:r>
              <a:rPr dirty="0"/>
              <a:t> nous </a:t>
            </a:r>
            <a:r>
              <a:rPr dirty="0" err="1"/>
              <a:t>demande</a:t>
            </a:r>
            <a:r>
              <a:rPr dirty="0"/>
              <a:t>, et comment on </a:t>
            </a:r>
            <a:r>
              <a:rPr dirty="0" err="1"/>
              <a:t>s'y</a:t>
            </a:r>
            <a:r>
              <a:rPr dirty="0"/>
              <a:t> </a:t>
            </a:r>
            <a:r>
              <a:rPr dirty="0" err="1"/>
              <a:t>prend</a:t>
            </a:r>
            <a:r>
              <a:rPr dirty="0"/>
              <a:t>.</a:t>
            </a:r>
          </a:p>
          <a:p>
            <a:r>
              <a:rPr dirty="0"/>
              <a:t>[Script] Notre mission : </a:t>
            </a:r>
            <a:r>
              <a:rPr dirty="0" err="1"/>
              <a:t>Belhome</a:t>
            </a:r>
            <a:r>
              <a:rPr dirty="0"/>
              <a:t> a perdu deux </a:t>
            </a:r>
            <a:r>
              <a:rPr dirty="0" err="1"/>
              <a:t>marchés</a:t>
            </a:r>
            <a:r>
              <a:rPr dirty="0"/>
              <a:t> et </a:t>
            </a:r>
            <a:r>
              <a:rPr dirty="0" err="1"/>
              <a:t>suspecte</a:t>
            </a:r>
            <a:r>
              <a:rPr dirty="0"/>
              <a:t> </a:t>
            </a:r>
            <a:r>
              <a:rPr dirty="0" err="1"/>
              <a:t>une</a:t>
            </a:r>
            <a:r>
              <a:rPr dirty="0"/>
              <a:t> </a:t>
            </a:r>
            <a:r>
              <a:rPr dirty="0" err="1"/>
              <a:t>fuite</a:t>
            </a:r>
            <a:r>
              <a:rPr dirty="0"/>
              <a:t>. Notre </a:t>
            </a:r>
            <a:r>
              <a:rPr dirty="0" err="1"/>
              <a:t>rôle</a:t>
            </a:r>
            <a:r>
              <a:rPr dirty="0"/>
              <a:t> </a:t>
            </a:r>
            <a:r>
              <a:rPr dirty="0" err="1"/>
              <a:t>n'est</a:t>
            </a:r>
            <a:r>
              <a:rPr dirty="0"/>
              <a:t> pas de </a:t>
            </a:r>
            <a:r>
              <a:rPr dirty="0" err="1"/>
              <a:t>valider</a:t>
            </a:r>
            <a:r>
              <a:rPr dirty="0"/>
              <a:t> </a:t>
            </a:r>
            <a:r>
              <a:rPr dirty="0" err="1"/>
              <a:t>l'hypothèse</a:t>
            </a:r>
            <a:r>
              <a:rPr dirty="0"/>
              <a:t> </a:t>
            </a:r>
            <a:r>
              <a:rPr dirty="0" err="1"/>
              <a:t>mais</a:t>
            </a:r>
            <a:r>
              <a:rPr dirty="0"/>
              <a:t> de </a:t>
            </a:r>
            <a:r>
              <a:rPr dirty="0" err="1"/>
              <a:t>l'éprouver</a:t>
            </a:r>
            <a:r>
              <a:rPr dirty="0"/>
              <a:t>. Nous testons deux </a:t>
            </a:r>
            <a:r>
              <a:rPr dirty="0" err="1"/>
              <a:t>hypothèses</a:t>
            </a:r>
            <a:r>
              <a:rPr dirty="0"/>
              <a:t> : H1, </a:t>
            </a:r>
            <a:r>
              <a:rPr dirty="0" err="1"/>
              <a:t>une</a:t>
            </a:r>
            <a:r>
              <a:rPr dirty="0"/>
              <a:t> </a:t>
            </a:r>
            <a:r>
              <a:rPr dirty="0" err="1"/>
              <a:t>fuite</a:t>
            </a:r>
            <a:r>
              <a:rPr dirty="0"/>
              <a:t> des prix ; H2, </a:t>
            </a:r>
            <a:r>
              <a:rPr dirty="0" err="1"/>
              <a:t>une</a:t>
            </a:r>
            <a:r>
              <a:rPr dirty="0"/>
              <a:t> compromission des études techniques. La </a:t>
            </a:r>
            <a:r>
              <a:rPr dirty="0" err="1"/>
              <a:t>méthode</a:t>
            </a:r>
            <a:r>
              <a:rPr dirty="0"/>
              <a:t> est EBIOS, </a:t>
            </a:r>
            <a:r>
              <a:rPr dirty="0" err="1"/>
              <a:t>déclinée</a:t>
            </a:r>
            <a:r>
              <a:rPr dirty="0"/>
              <a:t> </a:t>
            </a:r>
            <a:r>
              <a:rPr dirty="0" err="1"/>
              <a:t>en</a:t>
            </a:r>
            <a:r>
              <a:rPr dirty="0"/>
              <a:t> cinq modules — </a:t>
            </a:r>
            <a:r>
              <a:rPr dirty="0" err="1"/>
              <a:t>contexte</a:t>
            </a:r>
            <a:r>
              <a:rPr dirty="0"/>
              <a:t>, </a:t>
            </a:r>
            <a:r>
              <a:rPr dirty="0" err="1"/>
              <a:t>biens</a:t>
            </a:r>
            <a:r>
              <a:rPr dirty="0"/>
              <a:t> </a:t>
            </a:r>
            <a:r>
              <a:rPr dirty="0" err="1"/>
              <a:t>essentiels</a:t>
            </a:r>
            <a:r>
              <a:rPr dirty="0"/>
              <a:t>, </a:t>
            </a:r>
            <a:r>
              <a:rPr dirty="0" err="1"/>
              <a:t>scénarios</a:t>
            </a:r>
            <a:r>
              <a:rPr dirty="0"/>
              <a:t>, </a:t>
            </a:r>
            <a:r>
              <a:rPr dirty="0" err="1"/>
              <a:t>traitement</a:t>
            </a:r>
            <a:r>
              <a:rPr dirty="0"/>
              <a:t>, </a:t>
            </a:r>
            <a:r>
              <a:rPr dirty="0" err="1"/>
              <a:t>mesures</a:t>
            </a:r>
            <a:r>
              <a:rPr dirty="0"/>
              <a:t>. </a:t>
            </a:r>
            <a:r>
              <a:rPr dirty="0" err="1"/>
              <a:t>C'est</a:t>
            </a:r>
            <a:r>
              <a:rPr dirty="0"/>
              <a:t> </a:t>
            </a:r>
            <a:r>
              <a:rPr dirty="0" err="1"/>
              <a:t>une</a:t>
            </a:r>
            <a:r>
              <a:rPr dirty="0"/>
              <a:t> </a:t>
            </a:r>
            <a:r>
              <a:rPr dirty="0" err="1"/>
              <a:t>analyse</a:t>
            </a:r>
            <a:r>
              <a:rPr dirty="0"/>
              <a:t> </a:t>
            </a:r>
            <a:r>
              <a:rPr dirty="0" err="1"/>
              <a:t>générale</a:t>
            </a:r>
            <a:r>
              <a:rPr dirty="0"/>
              <a:t>, premier </a:t>
            </a:r>
            <a:r>
              <a:rPr dirty="0" err="1"/>
              <a:t>jalon</a:t>
            </a:r>
            <a:r>
              <a:rPr dirty="0"/>
              <a:t> avant </a:t>
            </a:r>
            <a:r>
              <a:rPr dirty="0" err="1"/>
              <a:t>une</a:t>
            </a:r>
            <a:r>
              <a:rPr dirty="0"/>
              <a:t> étude </a:t>
            </a:r>
            <a:r>
              <a:rPr dirty="0" err="1"/>
              <a:t>complète</a:t>
            </a:r>
            <a:r>
              <a:rPr dirty="0"/>
              <a:t>.</a:t>
            </a:r>
          </a:p>
          <a:p>
            <a:r>
              <a:rPr dirty="0"/>
              <a:t>[Q </a:t>
            </a:r>
            <a:r>
              <a:rPr dirty="0" err="1"/>
              <a:t>attendue</a:t>
            </a:r>
            <a:r>
              <a:rPr dirty="0"/>
              <a:t>] « EBIOS </a:t>
            </a:r>
            <a:r>
              <a:rPr dirty="0" err="1"/>
              <a:t>ou</a:t>
            </a:r>
            <a:r>
              <a:rPr dirty="0"/>
              <a:t> EBIOS Risk Manager ? » → Nous </a:t>
            </a:r>
            <a:r>
              <a:rPr dirty="0" err="1"/>
              <a:t>appliquons</a:t>
            </a:r>
            <a:r>
              <a:rPr dirty="0"/>
              <a:t> la démarche EBIOS </a:t>
            </a:r>
            <a:r>
              <a:rPr dirty="0" err="1"/>
              <a:t>classique</a:t>
            </a:r>
            <a:r>
              <a:rPr dirty="0"/>
              <a:t> (</a:t>
            </a:r>
            <a:r>
              <a:rPr dirty="0" err="1"/>
              <a:t>biens</a:t>
            </a:r>
            <a:r>
              <a:rPr dirty="0"/>
              <a:t> </a:t>
            </a:r>
            <a:r>
              <a:rPr dirty="0" err="1"/>
              <a:t>essentiels</a:t>
            </a:r>
            <a:r>
              <a:rPr dirty="0"/>
              <a:t> / </a:t>
            </a:r>
            <a:r>
              <a:rPr dirty="0" err="1"/>
              <a:t>biens</a:t>
            </a:r>
            <a:r>
              <a:rPr dirty="0"/>
              <a:t> supports / </a:t>
            </a:r>
            <a:r>
              <a:rPr dirty="0" err="1"/>
              <a:t>événements</a:t>
            </a:r>
            <a:r>
              <a:rPr dirty="0"/>
              <a:t> </a:t>
            </a:r>
            <a:r>
              <a:rPr dirty="0" err="1"/>
              <a:t>redoutés</a:t>
            </a:r>
            <a:r>
              <a:rPr dirty="0"/>
              <a:t> / vraisemblance), </a:t>
            </a:r>
            <a:r>
              <a:rPr dirty="0" err="1"/>
              <a:t>conformément</a:t>
            </a:r>
            <a:r>
              <a:rPr dirty="0"/>
              <a:t> à </a:t>
            </a:r>
            <a:r>
              <a:rPr dirty="0" err="1"/>
              <a:t>l'énoncé</a:t>
            </a:r>
            <a:r>
              <a:rPr dirty="0"/>
              <a:t>. EBIOS RM (2018) </a:t>
            </a:r>
            <a:r>
              <a:rPr dirty="0" err="1"/>
              <a:t>raisonne</a:t>
            </a:r>
            <a:r>
              <a:rPr dirty="0"/>
              <a:t> </a:t>
            </a:r>
            <a:r>
              <a:rPr dirty="0" err="1"/>
              <a:t>en</a:t>
            </a:r>
            <a:r>
              <a:rPr dirty="0"/>
              <a:t> </a:t>
            </a:r>
            <a:r>
              <a:rPr dirty="0" err="1"/>
              <a:t>valeurs</a:t>
            </a:r>
            <a:r>
              <a:rPr dirty="0"/>
              <a:t> métier et </a:t>
            </a:r>
            <a:r>
              <a:rPr dirty="0" err="1"/>
              <a:t>en</a:t>
            </a:r>
            <a:r>
              <a:rPr dirty="0"/>
              <a:t> ateliers ; la </a:t>
            </a:r>
            <a:r>
              <a:rPr dirty="0" err="1"/>
              <a:t>logique</a:t>
            </a:r>
            <a:r>
              <a:rPr dirty="0"/>
              <a:t> de fond — </a:t>
            </a:r>
            <a:r>
              <a:rPr dirty="0" err="1"/>
              <a:t>relier</a:t>
            </a:r>
            <a:r>
              <a:rPr dirty="0"/>
              <a:t> </a:t>
            </a:r>
            <a:r>
              <a:rPr dirty="0" err="1"/>
              <a:t>l'enjeu</a:t>
            </a:r>
            <a:r>
              <a:rPr dirty="0"/>
              <a:t> métier au </a:t>
            </a:r>
            <a:r>
              <a:rPr dirty="0" err="1"/>
              <a:t>risque</a:t>
            </a:r>
            <a:r>
              <a:rPr dirty="0"/>
              <a:t> — est la </a:t>
            </a:r>
            <a:r>
              <a:rPr dirty="0" err="1"/>
              <a:t>même</a:t>
            </a:r>
            <a:r>
              <a:rPr dirty="0"/>
              <a:t>. Nous </a:t>
            </a:r>
            <a:r>
              <a:rPr dirty="0" err="1"/>
              <a:t>savons</a:t>
            </a:r>
            <a:r>
              <a:rPr dirty="0"/>
              <a:t> faire la bascule </a:t>
            </a:r>
            <a:r>
              <a:rPr dirty="0" err="1"/>
              <a:t>si</a:t>
            </a:r>
            <a:r>
              <a:rPr dirty="0"/>
              <a:t> </a:t>
            </a:r>
            <a:r>
              <a:rPr dirty="0" err="1"/>
              <a:t>besoin</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[Storytelling] Pour comprendre le risque, il faut comprendre le métier. Belhome est une TPE artisanale d'excellence : peu de gens, mais un savoir-faire qui vaut de l'or.</a:t>
            </a:r>
          </a:p>
          <a:p>
            <a:r>
              <a:t>[Script] 9 personnes, dont 6 ingénieurs ; un chiffre d'affaires tiré par des architectures sur-mesure. La réputation est l'actif central : une fuite ou un plagiat, et c'est la confiance — donc les marchés — qui s'effondre. Le déclencheur, ce sont ces deux appels d'offres perdus « coup sur coup ». Côté cadrage : périmètre = le site et ses intervenants ; objectif = livrer un plan proportionné ; contrainte = pas de RSSI, budget limité ; ambition = une étude générale d'abord, l'excellence technique ensuite.</a:t>
            </a:r>
          </a:p>
          <a:p>
            <a:r>
              <a:t>[Q attendue] « Votre périmètre est-il trop large/étroit ? » → Volontairement resserré sur le site et les flux internes/externes, car c'est là que se joue l'exposition réelle, comme le montre la slide suivante.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FR" dirty="0" err="1"/>
              <a:t>Belhome</a:t>
            </a:r>
            <a:r>
              <a:rPr lang="fr-FR" dirty="0"/>
              <a:t> a fait l'effort d'isoler son cœur de réseau — air-gap, ni Internet ni Wi-Fi. Sur le papier, c'est inviolable.</a:t>
            </a:r>
          </a:p>
          <a:p>
            <a:r>
              <a:rPr lang="fr-FR" dirty="0"/>
              <a:t>[Script] À gauche, la zone verte sanctuarisée : PC ingénieurs, serveurs métier, sauvegardes. À droite, la zone orange exposée : portables, consoles libre-service, Wi-Fi, imprimante, visiteurs. Le piège est au milieu : l'air-gap est contourné par les clés USB et par l'accès physique. Le risque ne vit pas sur les serveurs ; il vit sur le pont. C'est ce constat qui structure tous nos scénarios.</a:t>
            </a:r>
          </a:p>
          <a:p>
            <a:r>
              <a:rPr lang="fr-FR" dirty="0"/>
              <a:t>[Q attendue] « Si c'est isolé, où est le risque ? » → Précisément : l'isolement crée un faux sentiment de sécurité. L'antivirus des PC isolés est mis à jour par clé, de façon irrégulière — la clé est à la fois le pansement et le vecteur.</a:t>
            </a:r>
          </a:p>
        </p:txBody>
      </p:sp>
    </p:spTree>
    <p:extLst>
      <p:ext uri="{BB962C8B-B14F-4D97-AF65-F5344CB8AC3E}">
        <p14:creationId xmlns:p14="http://schemas.microsoft.com/office/powerpoint/2010/main" val="1900337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fr-FR" sz="1200" b="0" i="0" kern="1200" dirty="0">
                <a:solidFill>
                  <a:schemeClr val="tx1"/>
                </a:solidFill>
                <a:effectLst/>
                <a:latin typeface="+mn-lt"/>
                <a:ea typeface="+mn-ea"/>
                <a:cs typeface="+mn-cs"/>
              </a:rPr>
              <a:t>« Sur cette slide, nous avons cartographié les biens essentiels de l’entreprise </a:t>
            </a:r>
            <a:r>
              <a:rPr lang="fr-FR" sz="1200" b="0" i="0" kern="1200" dirty="0" err="1">
                <a:solidFill>
                  <a:schemeClr val="tx1"/>
                </a:solidFill>
                <a:effectLst/>
                <a:latin typeface="+mn-lt"/>
                <a:ea typeface="+mn-ea"/>
                <a:cs typeface="+mn-cs"/>
              </a:rPr>
              <a:t>Belhome</a:t>
            </a:r>
            <a:r>
              <a:rPr lang="fr-FR" sz="1200" b="0" i="0" kern="1200" dirty="0">
                <a:solidFill>
                  <a:schemeClr val="tx1"/>
                </a:solidFill>
                <a:effectLst/>
                <a:latin typeface="+mn-lt"/>
                <a:ea typeface="+mn-ea"/>
                <a:cs typeface="+mn-cs"/>
              </a:rPr>
              <a:t> ainsi que leurs besoins de sécurité selon les trois critères fondamentaux : confidentialité, intégrité et disponibilité.</a:t>
            </a:r>
          </a:p>
          <a:p>
            <a:pPr fontAlgn="t"/>
            <a:r>
              <a:rPr lang="fr-FR" sz="1200" b="0" i="0" kern="1200" dirty="0">
                <a:solidFill>
                  <a:schemeClr val="tx1"/>
                </a:solidFill>
                <a:effectLst/>
                <a:latin typeface="+mn-lt"/>
                <a:ea typeface="+mn-ea"/>
                <a:cs typeface="+mn-cs"/>
              </a:rPr>
              <a:t>On observe que les </a:t>
            </a:r>
            <a:r>
              <a:rPr lang="fr-FR" sz="1200" b="1" i="0" kern="1200" dirty="0">
                <a:solidFill>
                  <a:schemeClr val="tx1"/>
                </a:solidFill>
                <a:effectLst/>
                <a:latin typeface="+mn-lt"/>
                <a:ea typeface="+mn-ea"/>
                <a:cs typeface="+mn-cs"/>
              </a:rPr>
              <a:t>études techniques</a:t>
            </a:r>
            <a:r>
              <a:rPr lang="fr-FR" sz="1200" b="0" i="0" kern="1200" dirty="0">
                <a:solidFill>
                  <a:schemeClr val="tx1"/>
                </a:solidFill>
                <a:effectLst/>
                <a:latin typeface="+mn-lt"/>
                <a:ea typeface="+mn-ea"/>
                <a:cs typeface="+mn-cs"/>
              </a:rPr>
              <a:t> sont l’actif le plus critique, avec un niveau maximal en confidentialité et en intégrité. Cela s’explique par le risque d’espionnage industriel, mais surtout par la responsabilité pénale engagée en cas d’erreur ou de modification.</a:t>
            </a:r>
          </a:p>
          <a:p>
            <a:pPr fontAlgn="t"/>
            <a:r>
              <a:rPr lang="fr-FR" sz="1200" b="0" i="0" kern="1200" dirty="0">
                <a:solidFill>
                  <a:schemeClr val="tx1"/>
                </a:solidFill>
                <a:effectLst/>
                <a:latin typeface="+mn-lt"/>
                <a:ea typeface="+mn-ea"/>
                <a:cs typeface="+mn-cs"/>
              </a:rPr>
              <a:t>Ensuite, les </a:t>
            </a:r>
            <a:r>
              <a:rPr lang="fr-FR" sz="1200" b="1" i="0" kern="1200" dirty="0">
                <a:solidFill>
                  <a:schemeClr val="tx1"/>
                </a:solidFill>
                <a:effectLst/>
                <a:latin typeface="+mn-lt"/>
                <a:ea typeface="+mn-ea"/>
                <a:cs typeface="+mn-cs"/>
              </a:rPr>
              <a:t>données commerciales</a:t>
            </a:r>
            <a:r>
              <a:rPr lang="fr-FR" sz="1200" b="0" i="0" kern="1200" dirty="0">
                <a:solidFill>
                  <a:schemeClr val="tx1"/>
                </a:solidFill>
                <a:effectLst/>
                <a:latin typeface="+mn-lt"/>
                <a:ea typeface="+mn-ea"/>
                <a:cs typeface="+mn-cs"/>
              </a:rPr>
              <a:t> présentent un fort besoin de confidentialité, car leur fuite peut directement entraîner une perte de compétitivité, notamment sur les appels d’offres.</a:t>
            </a:r>
          </a:p>
          <a:p>
            <a:pPr fontAlgn="t"/>
            <a:r>
              <a:rPr lang="fr-FR" sz="1200" b="0" i="0" kern="1200" dirty="0">
                <a:solidFill>
                  <a:schemeClr val="tx1"/>
                </a:solidFill>
                <a:effectLst/>
                <a:latin typeface="+mn-lt"/>
                <a:ea typeface="+mn-ea"/>
                <a:cs typeface="+mn-cs"/>
              </a:rPr>
              <a:t>Les </a:t>
            </a:r>
            <a:r>
              <a:rPr lang="fr-FR" sz="1200" b="1" i="0" kern="1200" dirty="0">
                <a:solidFill>
                  <a:schemeClr val="tx1"/>
                </a:solidFill>
                <a:effectLst/>
                <a:latin typeface="+mn-lt"/>
                <a:ea typeface="+mn-ea"/>
                <a:cs typeface="+mn-cs"/>
              </a:rPr>
              <a:t>échanges via messagerie</a:t>
            </a:r>
            <a:r>
              <a:rPr lang="fr-FR" sz="1200" b="0" i="0" kern="1200" dirty="0">
                <a:solidFill>
                  <a:schemeClr val="tx1"/>
                </a:solidFill>
                <a:effectLst/>
                <a:latin typeface="+mn-lt"/>
                <a:ea typeface="+mn-ea"/>
                <a:cs typeface="+mn-cs"/>
              </a:rPr>
              <a:t> ont également un enjeu, principalement en disponibilité, car ils conditionnent la continuité des activités et la communication interne et externe.</a:t>
            </a:r>
          </a:p>
          <a:p>
            <a:pPr fontAlgn="t"/>
            <a:r>
              <a:rPr lang="fr-FR" sz="1200" b="0" i="0" kern="1200" dirty="0">
                <a:solidFill>
                  <a:schemeClr val="tx1"/>
                </a:solidFill>
                <a:effectLst/>
                <a:latin typeface="+mn-lt"/>
                <a:ea typeface="+mn-ea"/>
                <a:cs typeface="+mn-cs"/>
              </a:rPr>
              <a:t>Enfin, les </a:t>
            </a:r>
            <a:r>
              <a:rPr lang="fr-FR" sz="1200" b="1" i="0" kern="1200" dirty="0">
                <a:solidFill>
                  <a:schemeClr val="tx1"/>
                </a:solidFill>
                <a:effectLst/>
                <a:latin typeface="+mn-lt"/>
                <a:ea typeface="+mn-ea"/>
                <a:cs typeface="+mn-cs"/>
              </a:rPr>
              <a:t>données administratives et RH</a:t>
            </a:r>
            <a:r>
              <a:rPr lang="fr-FR" sz="1200" b="0" i="0" kern="1200" dirty="0">
                <a:solidFill>
                  <a:schemeClr val="tx1"/>
                </a:solidFill>
                <a:effectLst/>
                <a:latin typeface="+mn-lt"/>
                <a:ea typeface="+mn-ea"/>
                <a:cs typeface="+mn-cs"/>
              </a:rPr>
              <a:t> sont aussi sensibles, notamment en raison des obligations réglementaires comme le RGPD, mais leur criticité reste légèrement inférieure aux autres actifs stratégiques.</a:t>
            </a:r>
          </a:p>
          <a:p>
            <a:pPr fontAlgn="t"/>
            <a:r>
              <a:rPr lang="fr-FR" sz="1200" b="0" i="0" kern="1200" dirty="0">
                <a:solidFill>
                  <a:schemeClr val="tx1"/>
                </a:solidFill>
                <a:effectLst/>
                <a:latin typeface="+mn-lt"/>
                <a:ea typeface="+mn-ea"/>
                <a:cs typeface="+mn-cs"/>
              </a:rPr>
              <a:t>Cette analyse nous permet donc de prioriser les risques et de concentrer les efforts de sécurité sur les actifs les plus critiques.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Les </a:t>
            </a:r>
            <a:r>
              <a:rPr dirty="0" err="1"/>
              <a:t>biens</a:t>
            </a:r>
            <a:r>
              <a:rPr dirty="0"/>
              <a:t> </a:t>
            </a:r>
            <a:r>
              <a:rPr dirty="0" err="1"/>
              <a:t>essentiels</a:t>
            </a:r>
            <a:r>
              <a:rPr dirty="0"/>
              <a:t> </a:t>
            </a:r>
            <a:r>
              <a:rPr dirty="0" err="1"/>
              <a:t>sont</a:t>
            </a:r>
            <a:r>
              <a:rPr dirty="0"/>
              <a:t> </a:t>
            </a:r>
            <a:r>
              <a:rPr dirty="0" err="1"/>
              <a:t>abstraits</a:t>
            </a:r>
            <a:r>
              <a:rPr dirty="0"/>
              <a:t> ; </a:t>
            </a:r>
            <a:r>
              <a:rPr dirty="0" err="1"/>
              <a:t>ils</a:t>
            </a:r>
            <a:r>
              <a:rPr dirty="0"/>
              <a:t> </a:t>
            </a:r>
            <a:r>
              <a:rPr dirty="0" err="1"/>
              <a:t>vivent</a:t>
            </a:r>
            <a:r>
              <a:rPr dirty="0"/>
              <a:t> sur des supports </a:t>
            </a:r>
            <a:r>
              <a:rPr dirty="0" err="1"/>
              <a:t>concrets</a:t>
            </a:r>
            <a:r>
              <a:rPr dirty="0"/>
              <a:t>. </a:t>
            </a:r>
            <a:r>
              <a:rPr dirty="0" err="1"/>
              <a:t>C'est</a:t>
            </a:r>
            <a:r>
              <a:rPr dirty="0"/>
              <a:t> </a:t>
            </a:r>
            <a:r>
              <a:rPr dirty="0" err="1"/>
              <a:t>là</a:t>
            </a:r>
            <a:r>
              <a:rPr dirty="0"/>
              <a:t> </a:t>
            </a:r>
            <a:r>
              <a:rPr dirty="0" err="1"/>
              <a:t>qu'on</a:t>
            </a:r>
            <a:r>
              <a:rPr dirty="0"/>
              <a:t> </a:t>
            </a:r>
            <a:r>
              <a:rPr dirty="0" err="1"/>
              <a:t>attaque</a:t>
            </a:r>
            <a:r>
              <a:rPr dirty="0"/>
              <a:t>.</a:t>
            </a:r>
          </a:p>
          <a:p>
            <a:r>
              <a:rPr dirty="0"/>
              <a:t>On </a:t>
            </a:r>
            <a:r>
              <a:rPr dirty="0" err="1"/>
              <a:t>liste</a:t>
            </a:r>
            <a:r>
              <a:rPr dirty="0"/>
              <a:t> les supports par </a:t>
            </a:r>
            <a:r>
              <a:rPr dirty="0" err="1"/>
              <a:t>catégorie</a:t>
            </a:r>
            <a:r>
              <a:rPr dirty="0"/>
              <a:t> — matériel, </a:t>
            </a:r>
            <a:r>
              <a:rPr dirty="0" err="1"/>
              <a:t>logiciel</a:t>
            </a:r>
            <a:r>
              <a:rPr dirty="0"/>
              <a:t>, </a:t>
            </a:r>
            <a:r>
              <a:rPr dirty="0" err="1"/>
              <a:t>amovibles</a:t>
            </a:r>
            <a:r>
              <a:rPr dirty="0"/>
              <a:t>, réseau, </a:t>
            </a:r>
            <a:r>
              <a:rPr dirty="0" err="1"/>
              <a:t>locaux</a:t>
            </a:r>
            <a:r>
              <a:rPr dirty="0"/>
              <a:t>, </a:t>
            </a:r>
            <a:r>
              <a:rPr dirty="0" err="1"/>
              <a:t>humain</a:t>
            </a:r>
            <a:r>
              <a:rPr dirty="0"/>
              <a:t> — </a:t>
            </a:r>
            <a:r>
              <a:rPr dirty="0" err="1"/>
              <a:t>puis</a:t>
            </a:r>
            <a:r>
              <a:rPr dirty="0"/>
              <a:t> on les </a:t>
            </a:r>
            <a:r>
              <a:rPr dirty="0" err="1"/>
              <a:t>croise</a:t>
            </a:r>
            <a:r>
              <a:rPr dirty="0"/>
              <a:t> avec les </a:t>
            </a:r>
            <a:r>
              <a:rPr dirty="0" err="1"/>
              <a:t>biens</a:t>
            </a:r>
            <a:r>
              <a:rPr dirty="0"/>
              <a:t> </a:t>
            </a:r>
            <a:r>
              <a:rPr dirty="0" err="1"/>
              <a:t>essentiels</a:t>
            </a:r>
            <a:r>
              <a:rPr dirty="0"/>
              <a:t>. Le tableau </a:t>
            </a:r>
            <a:r>
              <a:rPr dirty="0" err="1"/>
              <a:t>révèle</a:t>
            </a:r>
            <a:r>
              <a:rPr dirty="0"/>
              <a:t> les points de concentration : les </a:t>
            </a:r>
            <a:r>
              <a:rPr dirty="0" err="1"/>
              <a:t>clés</a:t>
            </a:r>
            <a:r>
              <a:rPr dirty="0"/>
              <a:t> USB et les PC fixes portent les études ; le portable commercial </a:t>
            </a:r>
            <a:r>
              <a:rPr dirty="0" err="1"/>
              <a:t>porte</a:t>
            </a:r>
            <a:r>
              <a:rPr dirty="0"/>
              <a:t> les prix. Une </a:t>
            </a:r>
            <a:r>
              <a:rPr dirty="0" err="1"/>
              <a:t>croix</a:t>
            </a:r>
            <a:r>
              <a:rPr dirty="0"/>
              <a:t> = relation, deux </a:t>
            </a:r>
            <a:r>
              <a:rPr dirty="0" err="1"/>
              <a:t>croix</a:t>
            </a:r>
            <a:r>
              <a:rPr dirty="0"/>
              <a:t> = relation </a:t>
            </a:r>
            <a:r>
              <a:rPr dirty="0" err="1"/>
              <a:t>persistante</a:t>
            </a:r>
            <a:r>
              <a:rPr dirty="0"/>
              <a:t>. Le ménage et les </a:t>
            </a:r>
            <a:r>
              <a:rPr dirty="0" err="1"/>
              <a:t>visiteurs</a:t>
            </a:r>
            <a:r>
              <a:rPr dirty="0"/>
              <a:t>/faux clients </a:t>
            </a:r>
            <a:r>
              <a:rPr dirty="0" err="1"/>
              <a:t>sont</a:t>
            </a:r>
            <a:r>
              <a:rPr dirty="0"/>
              <a:t> </a:t>
            </a:r>
            <a:r>
              <a:rPr dirty="0" err="1"/>
              <a:t>traités</a:t>
            </a:r>
            <a:r>
              <a:rPr dirty="0"/>
              <a:t> </a:t>
            </a:r>
            <a:r>
              <a:rPr dirty="0" err="1"/>
              <a:t>comme</a:t>
            </a:r>
            <a:r>
              <a:rPr dirty="0"/>
              <a:t> des </a:t>
            </a:r>
            <a:r>
              <a:rPr dirty="0" err="1"/>
              <a:t>biens</a:t>
            </a:r>
            <a:r>
              <a:rPr dirty="0"/>
              <a:t> supports </a:t>
            </a:r>
            <a:r>
              <a:rPr dirty="0" err="1"/>
              <a:t>humains</a:t>
            </a:r>
            <a:r>
              <a:rPr dirty="0"/>
              <a:t> — un point </a:t>
            </a:r>
            <a:r>
              <a:rPr dirty="0" err="1"/>
              <a:t>souvent</a:t>
            </a:r>
            <a:r>
              <a:rPr dirty="0"/>
              <a:t> </a:t>
            </a:r>
            <a:r>
              <a:rPr dirty="0" err="1"/>
              <a:t>oublié</a:t>
            </a:r>
            <a:r>
              <a:rPr dirty="0"/>
              <a:t>.</a:t>
            </a:r>
          </a:p>
          <a:p>
            <a:r>
              <a:rPr dirty="0"/>
              <a:t>[Q </a:t>
            </a:r>
            <a:r>
              <a:rPr dirty="0" err="1"/>
              <a:t>attendue</a:t>
            </a:r>
            <a:r>
              <a:rPr dirty="0"/>
              <a:t>] « </a:t>
            </a:r>
            <a:r>
              <a:rPr dirty="0" err="1"/>
              <a:t>Pourquoi</a:t>
            </a:r>
            <a:r>
              <a:rPr dirty="0"/>
              <a:t> </a:t>
            </a:r>
            <a:r>
              <a:rPr dirty="0" err="1"/>
              <a:t>mettre</a:t>
            </a:r>
            <a:r>
              <a:rPr dirty="0"/>
              <a:t> </a:t>
            </a:r>
            <a:r>
              <a:rPr dirty="0" err="1"/>
              <a:t>l'humain</a:t>
            </a:r>
            <a:r>
              <a:rPr dirty="0"/>
              <a:t> </a:t>
            </a:r>
            <a:r>
              <a:rPr dirty="0" err="1"/>
              <a:t>en</a:t>
            </a:r>
            <a:r>
              <a:rPr dirty="0"/>
              <a:t> bien support ? » → Parce </a:t>
            </a:r>
            <a:r>
              <a:rPr dirty="0" err="1"/>
              <a:t>qu'un</a:t>
            </a:r>
            <a:r>
              <a:rPr dirty="0"/>
              <a:t> faux client </a:t>
            </a:r>
            <a:r>
              <a:rPr dirty="0" err="1"/>
              <a:t>ou</a:t>
            </a:r>
            <a:r>
              <a:rPr dirty="0"/>
              <a:t> un agent de ménage à 7h30 est un </a:t>
            </a:r>
            <a:r>
              <a:rPr dirty="0" err="1"/>
              <a:t>vecteur</a:t>
            </a:r>
            <a:r>
              <a:rPr dirty="0"/>
              <a:t> </a:t>
            </a:r>
            <a:r>
              <a:rPr dirty="0" err="1"/>
              <a:t>d'accès</a:t>
            </a:r>
            <a:r>
              <a:rPr dirty="0"/>
              <a:t> physique </a:t>
            </a:r>
            <a:r>
              <a:rPr dirty="0" err="1"/>
              <a:t>réel</a:t>
            </a:r>
            <a:r>
              <a:rPr dirty="0"/>
              <a:t> ; </a:t>
            </a:r>
            <a:r>
              <a:rPr dirty="0" err="1"/>
              <a:t>l'ignorer</a:t>
            </a:r>
            <a:r>
              <a:rPr dirty="0"/>
              <a:t>, </a:t>
            </a:r>
            <a:r>
              <a:rPr dirty="0" err="1"/>
              <a:t>c'est</a:t>
            </a:r>
            <a:r>
              <a:rPr dirty="0"/>
              <a:t> </a:t>
            </a:r>
            <a:r>
              <a:rPr dirty="0" err="1"/>
              <a:t>manquer</a:t>
            </a:r>
            <a:r>
              <a:rPr dirty="0"/>
              <a:t> le </a:t>
            </a:r>
            <a:r>
              <a:rPr dirty="0" err="1"/>
              <a:t>scénario</a:t>
            </a:r>
            <a:r>
              <a:rPr dirty="0"/>
              <a:t> R2.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effectLst/>
              </a:rPr>
              <a:t>« Une fois qu’on a bien compris où se situent les points de vulnérabilité dans le système, l’étape suivante a été d’identifier les événements réellement critiques pour l’entreprise. On en a retenu deux principaux, en lien direct avec les préoccupations de M. </a:t>
            </a:r>
            <a:r>
              <a:rPr lang="fr-FR" dirty="0" err="1">
                <a:effectLst/>
              </a:rPr>
              <a:t>Belhome</a:t>
            </a:r>
            <a:r>
              <a:rPr lang="fr-FR" dirty="0">
                <a:effectLst/>
              </a:rPr>
              <a:t>. </a:t>
            </a:r>
          </a:p>
          <a:p>
            <a:endParaRPr lang="fr-FR" dirty="0">
              <a:effectLst/>
            </a:endParaRPr>
          </a:p>
          <a:p>
            <a:r>
              <a:rPr lang="fr-FR" dirty="0">
                <a:effectLst/>
              </a:rPr>
              <a:t>Le premier concerne la fuite des données commerciales, notamment les grilles de prix. Ici, l’enjeu est surtout la confidentialité, car une fuite peut directement entraîner une perte d’appels d’offres et une dégradation de la position concurrentielle. </a:t>
            </a:r>
          </a:p>
          <a:p>
            <a:endParaRPr lang="fr-FR" dirty="0">
              <a:effectLst/>
            </a:endParaRPr>
          </a:p>
          <a:p>
            <a:r>
              <a:rPr lang="fr-FR" dirty="0">
                <a:effectLst/>
              </a:rPr>
              <a:t>Le second, encore plus critique, concerne la compromission des études techniques. Dans ce cas, on touche à la fois à la confidentialité et à l’intégrité, avec des conséquences potentiellement très graves, allant jusqu’à une responsabilité pénale en cas d’erreur ou d’altération. C’est pour cette raison que ce second événement est classé en priorité maximale, avec une gravité critique. </a:t>
            </a:r>
          </a:p>
          <a:p>
            <a:endParaRPr lang="fr-FR" dirty="0">
              <a:effectLst/>
            </a:endParaRPr>
          </a:p>
          <a:p>
            <a:r>
              <a:rPr lang="fr-FR" dirty="0">
                <a:effectLst/>
              </a:rPr>
              <a:t>Cette étape nous permet donc de focaliser l’analyse de risque sur les scénarios les plus </a:t>
            </a:r>
            <a:r>
              <a:rPr lang="fr-FR" dirty="0" err="1">
                <a:effectLst/>
              </a:rPr>
              <a:t>impactants</a:t>
            </a:r>
            <a:r>
              <a:rPr lang="fr-FR" dirty="0">
                <a:effectLst/>
              </a:rPr>
              <a:t> pour le métier, et pas seulement sur des risques techniques.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FR" dirty="0">
                <a:effectLst/>
              </a:rPr>
              <a:t>« À partir des événements redoutés, on a ensuite construit des scénarios concrets pour comprendre comment ces risques peuvent réellement se produire. </a:t>
            </a:r>
            <a:br>
              <a:rPr lang="fr-FR" dirty="0"/>
            </a:br>
            <a:r>
              <a:rPr lang="fr-FR" dirty="0">
                <a:effectLst/>
              </a:rPr>
              <a:t>Ici, on s’est concentré sur un scénario d’espionnage industriel. Tout commence par une source de menace crédible : un concurrent direct, avec une motivation économique forte et des compétences techniques suffisantes. Il va ensuite exploiter une vulnérabilité du système, par exemple le  PC du commercial connecté à Internet, ou des documents sensibles laissés sans surveillance. </a:t>
            </a:r>
          </a:p>
          <a:p>
            <a:endParaRPr lang="fr-FR" dirty="0">
              <a:effectLst/>
            </a:endParaRPr>
          </a:p>
          <a:p>
            <a:r>
              <a:rPr lang="fr-FR" dirty="0">
                <a:effectLst/>
              </a:rPr>
              <a:t>À partir de là, plusieurs vecteurs d’attaque sont possibles : installation d’un malware via un </a:t>
            </a:r>
            <a:r>
              <a:rPr lang="fr-FR" dirty="0" err="1">
                <a:effectLst/>
              </a:rPr>
              <a:t>WiFi</a:t>
            </a:r>
            <a:r>
              <a:rPr lang="fr-FR" dirty="0">
                <a:effectLst/>
              </a:rPr>
              <a:t> public, ou intrusion physique via un faux intervenant, qui permettrait de récupérer des informations sensibles. Et on aboutit à l’impact final : la fuite des données commerciales, avec une perte d’appels d’offres. Ce qui est intéressant ici, c’est que le scénario ne repose pas sur une attaque très complexe techniquement, mais plutôt sur l’exploitation de vulnérabilités simples liées aux usages. Cela explique pourquoi la vraisemblance est élevée, et pourquoi ce risque est considéré comme prioritaire. »</a:t>
            </a:r>
            <a:endParaRPr lang="fr-FR" dirty="0"/>
          </a:p>
        </p:txBody>
      </p:sp>
    </p:spTree>
    <p:extLst>
      <p:ext uri="{BB962C8B-B14F-4D97-AF65-F5344CB8AC3E}">
        <p14:creationId xmlns:p14="http://schemas.microsoft.com/office/powerpoint/2010/main" val="3775635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FR" dirty="0">
                <a:effectLst/>
              </a:rPr>
              <a:t>« Après avoir étudié un scénario d’espionnage, on a ensuite analysé un second risque encore plus critique : celui de l’altération des études techniques. Dans ce cas, la source de menace peut être multiple : un ransomware, un concurrent malveillant, ou même un employé mécontent, avec un objectif de sabotage. Le scénario repose ensuite sur une vulnérabilité importante : l’absence de contrôle des clés USB et l’accès libre à certaines consoles connectées à Internet. Concrètement, un fichier infecté peut être téléchargé depuis une console Internet, transféré sur une clé USB, puis introduit dans un poste isolé du réseau. Cela permet de contourner totalement les mesures de sécurité en place. C’est ce qu’on appelle un point invisible dans le système, car l’attaque passe par des usages légitimes. L’impact est particulièrement critique : une modification silencieuse des plans peut avoir des conséquences graves, avec un risque de responsabilité pénale en cas d’accident. Même si la probabilité est plus limitée que dans le cas de l’espionnage, la gravité maximale justifie que ce risque soit considéré comme prioritaire. »</a:t>
            </a:r>
            <a:endParaRPr lang="fr-FR" dirty="0"/>
          </a:p>
        </p:txBody>
      </p:sp>
    </p:spTree>
    <p:extLst>
      <p:ext uri="{BB962C8B-B14F-4D97-AF65-F5344CB8AC3E}">
        <p14:creationId xmlns:p14="http://schemas.microsoft.com/office/powerpoint/2010/main" val="23168130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effectLst/>
              </a:rPr>
              <a:t>« Une fois les scénarios construits, on a pu passer à une vision globale des risques, en les classant selon leur gravité et leur vraisemblance. Cette cartographie met clairement en évidence deux risques prioritaires. D’abord, le risque d’espionnage des études, qui combine une gravité critique et une vraisemblance élevée. Il représente donc le risque principal pour l’entreprise. Ensuite, la fuite des données commerciales, qui, bien que légèrement moins critique, reste très probable et impacte directement la performance commerciale. Les autres risques, comme la fuite de données RH, la perte de clé USB ou l’indisponibilité de la messagerie, sont présents mais considérés comme secondaires, car soit leur impact est plus limité, soit leur probabilité est plus faible. Cette hiérarchisation nous permet de concentrer les efforts de sécurité sur les risques les plus critiques, conformément à la logique EBIOS.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fr-FR" sz="1200" b="0" i="0" kern="1200" dirty="0">
                <a:solidFill>
                  <a:schemeClr val="tx1"/>
                </a:solidFill>
                <a:effectLst/>
                <a:latin typeface="+mn-lt"/>
                <a:ea typeface="+mn-ea"/>
                <a:cs typeface="+mn-cs"/>
              </a:rPr>
              <a:t>« Une fois les risques identifiés et priorisés, la dernière étape consiste à définir les stratégies de traitement adaptées.</a:t>
            </a:r>
          </a:p>
          <a:p>
            <a:pPr fontAlgn="t"/>
            <a:r>
              <a:rPr lang="fr-FR" sz="1200" b="0" i="0" kern="1200" dirty="0">
                <a:solidFill>
                  <a:schemeClr val="tx1"/>
                </a:solidFill>
                <a:effectLst/>
                <a:latin typeface="+mn-lt"/>
                <a:ea typeface="+mn-ea"/>
                <a:cs typeface="+mn-cs"/>
              </a:rPr>
              <a:t>Pour le risque le plus critique, lié à l’espionnage et à l’altération des études, on privilégie une stratégie de </a:t>
            </a:r>
            <a:r>
              <a:rPr lang="fr-FR" sz="1200" b="1" i="0" kern="1200" dirty="0">
                <a:solidFill>
                  <a:schemeClr val="tx1"/>
                </a:solidFill>
                <a:effectLst/>
                <a:latin typeface="+mn-lt"/>
                <a:ea typeface="+mn-ea"/>
                <a:cs typeface="+mn-cs"/>
              </a:rPr>
              <a:t>réduction forte</a:t>
            </a:r>
            <a:r>
              <a:rPr lang="fr-FR" sz="1200" b="0" i="0" kern="1200" dirty="0">
                <a:solidFill>
                  <a:schemeClr val="tx1"/>
                </a:solidFill>
                <a:effectLst/>
                <a:latin typeface="+mn-lt"/>
                <a:ea typeface="+mn-ea"/>
                <a:cs typeface="+mn-cs"/>
              </a:rPr>
              <a:t>.</a:t>
            </a:r>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Cela passe notamment par le chiffrement des données, le durcissement des accès et la journalisation, afin de limiter au maximum les possibilités d’exploitation.</a:t>
            </a:r>
          </a:p>
          <a:p>
            <a:pPr fontAlgn="t"/>
            <a:r>
              <a:rPr lang="fr-FR" sz="1200" b="0" i="0" kern="1200" dirty="0">
                <a:solidFill>
                  <a:schemeClr val="tx1"/>
                </a:solidFill>
                <a:effectLst/>
                <a:latin typeface="+mn-lt"/>
                <a:ea typeface="+mn-ea"/>
                <a:cs typeface="+mn-cs"/>
              </a:rPr>
              <a:t>On complète avec une logique d’</a:t>
            </a:r>
            <a:r>
              <a:rPr lang="fr-FR" sz="1200" b="1" i="0" kern="1200" dirty="0">
                <a:solidFill>
                  <a:schemeClr val="tx1"/>
                </a:solidFill>
                <a:effectLst/>
                <a:latin typeface="+mn-lt"/>
                <a:ea typeface="+mn-ea"/>
                <a:cs typeface="+mn-cs"/>
              </a:rPr>
              <a:t>évitement partiel</a:t>
            </a:r>
            <a:r>
              <a:rPr lang="fr-FR" sz="1200" b="0" i="0" kern="1200" dirty="0">
                <a:solidFill>
                  <a:schemeClr val="tx1"/>
                </a:solidFill>
                <a:effectLst/>
                <a:latin typeface="+mn-lt"/>
                <a:ea typeface="+mn-ea"/>
                <a:cs typeface="+mn-cs"/>
              </a:rPr>
              <a:t>, en réduisant les vecteurs d’attaque, par exemple en contrôlant ou supprimant l’usage des clés USB.</a:t>
            </a:r>
          </a:p>
          <a:p>
            <a:pPr fontAlgn="t"/>
            <a:r>
              <a:rPr lang="fr-FR" sz="1200" b="0" i="0" kern="1200" dirty="0">
                <a:solidFill>
                  <a:schemeClr val="tx1"/>
                </a:solidFill>
                <a:effectLst/>
                <a:latin typeface="+mn-lt"/>
                <a:ea typeface="+mn-ea"/>
                <a:cs typeface="+mn-cs"/>
              </a:rPr>
              <a:t>En parallèle, une partie du risque peut être </a:t>
            </a:r>
            <a:r>
              <a:rPr lang="fr-FR" sz="1200" b="1" i="0" kern="1200" dirty="0">
                <a:solidFill>
                  <a:schemeClr val="tx1"/>
                </a:solidFill>
                <a:effectLst/>
                <a:latin typeface="+mn-lt"/>
                <a:ea typeface="+mn-ea"/>
                <a:cs typeface="+mn-cs"/>
              </a:rPr>
              <a:t>transférée</a:t>
            </a:r>
            <a:r>
              <a:rPr lang="fr-FR" sz="1200" b="0" i="0" kern="1200" dirty="0">
                <a:solidFill>
                  <a:schemeClr val="tx1"/>
                </a:solidFill>
                <a:effectLst/>
                <a:latin typeface="+mn-lt"/>
                <a:ea typeface="+mn-ea"/>
                <a:cs typeface="+mn-cs"/>
              </a:rPr>
              <a:t>, via une assurance cyber, mais le risque principal ne peut pas être accepté, car il engage la responsabilité pénale de l’entreprise.</a:t>
            </a:r>
          </a:p>
          <a:p>
            <a:pPr fontAlgn="t"/>
            <a:r>
              <a:rPr lang="fr-FR" sz="1200" b="0" i="0" kern="1200" dirty="0">
                <a:solidFill>
                  <a:schemeClr val="tx1"/>
                </a:solidFill>
                <a:effectLst/>
                <a:latin typeface="+mn-lt"/>
                <a:ea typeface="+mn-ea"/>
                <a:cs typeface="+mn-cs"/>
              </a:rPr>
              <a:t>Pour le second risque, lié à la fuite des données commerciales, on adopte également une stratégie de réduction, mais plus équilibrée.</a:t>
            </a:r>
          </a:p>
          <a:p>
            <a:pPr fontAlgn="t"/>
            <a:r>
              <a:rPr lang="fr-FR" sz="1200" b="0" i="0" kern="1200" dirty="0">
                <a:solidFill>
                  <a:schemeClr val="tx1"/>
                </a:solidFill>
                <a:effectLst/>
                <a:latin typeface="+mn-lt"/>
                <a:ea typeface="+mn-ea"/>
                <a:cs typeface="+mn-cs"/>
              </a:rPr>
              <a:t>Ici, l’objectif est de sécuriser les usages : chiffrement, VPN, cloisonnement des accès et sensibilisation des utilisateurs.</a:t>
            </a:r>
          </a:p>
          <a:p>
            <a:pPr fontAlgn="t"/>
            <a:r>
              <a:rPr lang="fr-FR" sz="1200" b="0" i="0" kern="1200" dirty="0">
                <a:solidFill>
                  <a:schemeClr val="tx1"/>
                </a:solidFill>
                <a:effectLst/>
                <a:latin typeface="+mn-lt"/>
                <a:ea typeface="+mn-ea"/>
                <a:cs typeface="+mn-cs"/>
              </a:rPr>
              <a:t>Une partie du risque peut être transférée, et le risque résiduel, une fois réduit, peut être acceptable pour l’entreprise.</a:t>
            </a:r>
          </a:p>
          <a:p>
            <a:pPr fontAlgn="t"/>
            <a:r>
              <a:rPr lang="fr-FR" sz="1200" b="0" i="0" kern="1200" dirty="0">
                <a:solidFill>
                  <a:schemeClr val="tx1"/>
                </a:solidFill>
                <a:effectLst/>
                <a:latin typeface="+mn-lt"/>
                <a:ea typeface="+mn-ea"/>
                <a:cs typeface="+mn-cs"/>
              </a:rPr>
              <a:t>Finalement, cette étape montre bien qu’on ne cherche pas à supprimer totalement les risques, mais à les ramener à un niveau acceptable, en combinant les différents leviers EBIOS.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 Après la mise en place des mesures de sécurité, nous avons réévalué les risques pour analyser leur niveau résiduel. On observe que les risques les plus critiques ont été significativement réduits. Par exemple, le risque lié aux études techniques passe d’un niveau critique à un niveau élevé mais maîtrisé. Cela s’explique par la mise en place de mesures comme le chiffrement, le contrôle des accès ou encore la réduction des vecteurs d’attaque, qui diminuent la vraisemblance. De la même manière, le risque de fuite des données commerciales diminue et devient acceptable, car les mesures mises en place réduisent à la fois l’exposition et les probabilités d’exploitation. Les risques secondaires, comme ceux liés aux données RH, sont également abaissés à un niveau faible grâce à des mesures simples comme le chiffrement et la mise en conformité réglementaire. L’idée ici est essentielle en EBIOS : on ne cherche pas à supprimer totalement les risques, mais à les ramener à un niveau acceptable en connaissance de cause. Cela permet à l’entreprise de continuer son activité tout en maîtrisant son exposition aux menaces. » </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fr-FR" sz="1200" b="0" i="0" kern="1200" dirty="0">
                <a:solidFill>
                  <a:schemeClr val="tx1"/>
                </a:solidFill>
                <a:effectLst/>
                <a:latin typeface="+mn-lt"/>
                <a:ea typeface="+mn-ea"/>
                <a:cs typeface="+mn-cs"/>
              </a:rPr>
              <a:t>« Après avoir analysé et traité les risques, la dernière étape consiste à passer à l’action avec un plan concret et priorisé.</a:t>
            </a:r>
          </a:p>
          <a:p>
            <a:pPr fontAlgn="t"/>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Ici, on a structuré les mesures en fonction des risques associés et de leur priorité.</a:t>
            </a:r>
          </a:p>
          <a:p>
            <a:pPr fontAlgn="t"/>
            <a:r>
              <a:rPr lang="fr-FR" sz="1200" b="0" i="0" kern="1200" dirty="0">
                <a:solidFill>
                  <a:schemeClr val="tx1"/>
                </a:solidFill>
                <a:effectLst/>
                <a:latin typeface="+mn-lt"/>
                <a:ea typeface="+mn-ea"/>
                <a:cs typeface="+mn-cs"/>
              </a:rPr>
              <a:t>Les actions les plus critiques concernent directement les deux risques majeurs identifiés. Par exemple, le contrôle des ports USB ou le chiffrement des données permettent de réduire fortement les risques d’espionnage et d’altération.</a:t>
            </a:r>
          </a:p>
          <a:p>
            <a:pPr fontAlgn="t"/>
            <a:r>
              <a:rPr lang="fr-FR" sz="1200" b="0" i="0" kern="1200" dirty="0">
                <a:solidFill>
                  <a:schemeClr val="tx1"/>
                </a:solidFill>
                <a:effectLst/>
                <a:latin typeface="+mn-lt"/>
                <a:ea typeface="+mn-ea"/>
                <a:cs typeface="+mn-cs"/>
              </a:rPr>
              <a:t>On retrouve également des mesures techniques comme l’EDR ou le VPN, mais aussi des mesures organisationnelles, comme le contrôle des accès physiques ou la gestion des visiteurs.</a:t>
            </a:r>
          </a:p>
          <a:p>
            <a:pPr fontAlgn="t"/>
            <a:r>
              <a:rPr lang="fr-FR" sz="1200" b="0" i="0" kern="1200" dirty="0">
                <a:solidFill>
                  <a:schemeClr val="tx1"/>
                </a:solidFill>
                <a:effectLst/>
                <a:latin typeface="+mn-lt"/>
                <a:ea typeface="+mn-ea"/>
                <a:cs typeface="+mn-cs"/>
              </a:rPr>
              <a:t>Ce qui est important ici, c’est qu’on combine plusieurs lignes de défense : des mesures préventives pour éviter les attaques, protectrices pour limiter leur impact, et récupératrices pour assurer la continuité en cas d’incident.</a:t>
            </a:r>
          </a:p>
          <a:p>
            <a:pPr fontAlgn="t"/>
            <a:r>
              <a:rPr lang="fr-FR" sz="1200" b="0" i="0" kern="1200" dirty="0">
                <a:solidFill>
                  <a:schemeClr val="tx1"/>
                </a:solidFill>
                <a:effectLst/>
                <a:latin typeface="+mn-lt"/>
                <a:ea typeface="+mn-ea"/>
                <a:cs typeface="+mn-cs"/>
              </a:rPr>
              <a:t>Enfin, certaines actions comme la sensibilisation sont continues, car le facteur humain reste un élément clé du risque.</a:t>
            </a:r>
          </a:p>
          <a:p>
            <a:pPr fontAlgn="t"/>
            <a:r>
              <a:rPr lang="fr-FR" sz="1200" b="0" i="0" kern="1200" dirty="0">
                <a:solidFill>
                  <a:schemeClr val="tx1"/>
                </a:solidFill>
                <a:effectLst/>
                <a:latin typeface="+mn-lt"/>
                <a:ea typeface="+mn-ea"/>
                <a:cs typeface="+mn-cs"/>
              </a:rPr>
              <a:t>L’objectif global est donc de déployer des mesures proportionnées, réalistes pour une PME, et efficaces face aux risques identifiés.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effectLst/>
              </a:rPr>
              <a:t>« Enfin, on a identifié deux mesures à fort impact, mais avec un coût très faible, ce qui est particulièrement important dans le contexte d’une PME. La première est une mesure d’organisation : mettre en place une politique stricte sur les supports amovibles. Concrètement, cela consiste à contrôler l’usage des clés USB, imposer leur chiffrement et appliquer réellement des règles comme le clean desk ou le clean printer. Cette mesure est très efficace, car elle permet de réduire directement les principaux vecteurs d’attaque identifiés, notamment l’espionnage et les fuites de données. La seconde mesure concerne le réaménagement des locaux, avec un meilleur cloisonnement des flux. Par exemple, limiter l’accès des visiteurs aux bureaux, isoler les consoles Internet ou encore encadrer les interventions externes. Là encore, cela permet de réduire fortement les risques d’ingénierie sociale ou d’intrusion physique. Ce qui est intéressant, c’est que ces deux mesures reposent davantage sur des bonnes pratiques organisationnelles que sur des investissements techniques, tout en ayant un impact immédiat sur la réduction des risques.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fr-FR" sz="1200" b="0" i="0" kern="1200" dirty="0">
                <a:solidFill>
                  <a:schemeClr val="tx1"/>
                </a:solidFill>
                <a:effectLst/>
                <a:latin typeface="+mn-lt"/>
                <a:ea typeface="+mn-ea"/>
                <a:cs typeface="+mn-cs"/>
              </a:rPr>
              <a:t>Pour conclure, cette étude nous a permis de structurer l’analyse des risques de manière rigoureuse, en partant des enjeux métier jusqu’à des mesures concrètes.</a:t>
            </a:r>
          </a:p>
          <a:p>
            <a:pPr fontAlgn="t"/>
            <a:r>
              <a:rPr lang="fr-FR" sz="1200" b="0" i="0" kern="1200" dirty="0">
                <a:solidFill>
                  <a:schemeClr val="tx1"/>
                </a:solidFill>
                <a:effectLst/>
                <a:latin typeface="+mn-lt"/>
                <a:ea typeface="+mn-ea"/>
                <a:cs typeface="+mn-cs"/>
              </a:rPr>
              <a:t>On observe que </a:t>
            </a:r>
            <a:r>
              <a:rPr lang="fr-FR" sz="1200" b="0" i="0" kern="1200" dirty="0" err="1">
                <a:solidFill>
                  <a:schemeClr val="tx1"/>
                </a:solidFill>
                <a:effectLst/>
                <a:latin typeface="+mn-lt"/>
                <a:ea typeface="+mn-ea"/>
                <a:cs typeface="+mn-cs"/>
              </a:rPr>
              <a:t>Belhome</a:t>
            </a:r>
            <a:r>
              <a:rPr lang="fr-FR" sz="1200" b="0" i="0" kern="1200" dirty="0">
                <a:solidFill>
                  <a:schemeClr val="tx1"/>
                </a:solidFill>
                <a:effectLst/>
                <a:latin typeface="+mn-lt"/>
                <a:ea typeface="+mn-ea"/>
                <a:cs typeface="+mn-cs"/>
              </a:rPr>
              <a:t> possède des actifs très critiques, mais aussi une surface d’exposition importante, notamment liée aux usages et à l’environnement physique.</a:t>
            </a:r>
          </a:p>
          <a:p>
            <a:pPr fontAlgn="t"/>
            <a:r>
              <a:rPr lang="fr-FR" sz="1200" b="0" i="0" kern="1200" dirty="0">
                <a:solidFill>
                  <a:schemeClr val="tx1"/>
                </a:solidFill>
                <a:effectLst/>
                <a:latin typeface="+mn-lt"/>
                <a:ea typeface="+mn-ea"/>
                <a:cs typeface="+mn-cs"/>
              </a:rPr>
              <a:t>Les deux risques majeurs identifiés sont bien réels et prioritaires, ce qui justifie la mise en place de mesures adaptées.</a:t>
            </a:r>
          </a:p>
          <a:p>
            <a:pPr fontAlgn="t"/>
            <a:r>
              <a:rPr lang="fr-FR" sz="1200" b="0" i="0" kern="1200" dirty="0">
                <a:solidFill>
                  <a:schemeClr val="tx1"/>
                </a:solidFill>
                <a:effectLst/>
                <a:latin typeface="+mn-lt"/>
                <a:ea typeface="+mn-ea"/>
                <a:cs typeface="+mn-cs"/>
              </a:rPr>
              <a:t>Cependant, la principale difficulté ne réside pas uniquement dans la technique, mais dans la conduite du changement : sensibiliser les équipes, faire évoluer les pratiques et intégrer la sécurité dans le quotidien.</a:t>
            </a:r>
          </a:p>
          <a:p>
            <a:pPr fontAlgn="t"/>
            <a:r>
              <a:rPr lang="fr-FR" sz="1200" b="0" i="0" kern="1200" dirty="0">
                <a:solidFill>
                  <a:schemeClr val="tx1"/>
                </a:solidFill>
                <a:effectLst/>
                <a:latin typeface="+mn-lt"/>
                <a:ea typeface="+mn-ea"/>
                <a:cs typeface="+mn-cs"/>
              </a:rPr>
              <a:t>Cette étude reste volontairement simplifiée, mais elle constitue une première étape vers une démarche plus complète, avec par exemple un audit approfondi ou une analyse EBIOS complète.</a:t>
            </a:r>
          </a:p>
          <a:p>
            <a:pPr fontAlgn="t"/>
            <a:r>
              <a:rPr lang="fr-FR" sz="1200" b="0" i="0" kern="1200" dirty="0">
                <a:solidFill>
                  <a:schemeClr val="tx1"/>
                </a:solidFill>
                <a:effectLst/>
                <a:latin typeface="+mn-lt"/>
                <a:ea typeface="+mn-ea"/>
                <a:cs typeface="+mn-cs"/>
              </a:rPr>
              <a:t>Finalement, on retiendra que la cybersécurité n’est pas une solution absolue, mais une gestion continue du risque, qui repose sur la rigueur, la préparation et le pragmatisme.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2A44"/>
          </a:solidFill>
          <a:ln/>
        </p:spPr>
      </p:sp>
      <p:sp>
        <p:nvSpPr>
          <p:cNvPr id="3" name="Text 1"/>
          <p:cNvSpPr/>
          <p:nvPr/>
        </p:nvSpPr>
        <p:spPr>
          <a:xfrm>
            <a:off x="914400" y="1554480"/>
            <a:ext cx="10058400" cy="365760"/>
          </a:xfrm>
          <a:prstGeom prst="rect">
            <a:avLst/>
          </a:prstGeom>
          <a:noFill/>
          <a:ln/>
        </p:spPr>
        <p:txBody>
          <a:bodyPr wrap="square" lIns="0" tIns="0" rIns="0" bIns="0" rtlCol="0" anchor="ctr"/>
          <a:lstStyle/>
          <a:p>
            <a:pPr marL="0" indent="0">
              <a:buNone/>
            </a:pPr>
            <a:r>
              <a:rPr lang="en-US" sz="1400" b="1" kern="0" spc="200" dirty="0">
                <a:solidFill>
                  <a:srgbClr val="E07B16"/>
                </a:solidFill>
                <a:latin typeface="Calibri" pitchFamily="34" charset="0"/>
                <a:ea typeface="Calibri" pitchFamily="34" charset="-122"/>
                <a:cs typeface="Calibri" pitchFamily="34" charset="-120"/>
              </a:rPr>
              <a:t>ÉTUDE DE SÉCURITÉ — MÉTHODE EBIOS (ANSSI)</a:t>
            </a:r>
            <a:endParaRPr lang="en-US" sz="1400" dirty="0"/>
          </a:p>
        </p:txBody>
      </p:sp>
      <p:sp>
        <p:nvSpPr>
          <p:cNvPr id="4" name="Text 2"/>
          <p:cNvSpPr/>
          <p:nvPr/>
        </p:nvSpPr>
        <p:spPr>
          <a:xfrm>
            <a:off x="914400" y="2011680"/>
            <a:ext cx="10332720" cy="1463040"/>
          </a:xfrm>
          <a:prstGeom prst="rect">
            <a:avLst/>
          </a:prstGeom>
          <a:noFill/>
          <a:ln/>
        </p:spPr>
        <p:txBody>
          <a:bodyPr wrap="square" lIns="0" tIns="0" rIns="0" bIns="0" rtlCol="0" anchor="ctr"/>
          <a:lstStyle/>
          <a:p>
            <a:pPr marL="0" indent="0">
              <a:buNone/>
            </a:pPr>
            <a:r>
              <a:rPr lang="en-US" sz="4000" b="1" dirty="0">
                <a:solidFill>
                  <a:srgbClr val="1F2A44"/>
                </a:solidFill>
                <a:latin typeface="Cambria" pitchFamily="34" charset="0"/>
                <a:ea typeface="Cambria" pitchFamily="34" charset="-122"/>
                <a:cs typeface="Cambria" pitchFamily="34" charset="-120"/>
              </a:rPr>
              <a:t>Analyse de risque cyber de l'entreprise Belhome</a:t>
            </a:r>
            <a:endParaRPr lang="en-US" sz="4000" dirty="0"/>
          </a:p>
        </p:txBody>
      </p:sp>
      <p:sp>
        <p:nvSpPr>
          <p:cNvPr id="5" name="Text 3"/>
          <p:cNvSpPr/>
          <p:nvPr/>
        </p:nvSpPr>
        <p:spPr>
          <a:xfrm>
            <a:off x="914400" y="3611880"/>
            <a:ext cx="9601200" cy="822960"/>
          </a:xfrm>
          <a:prstGeom prst="rect">
            <a:avLst/>
          </a:prstGeom>
          <a:noFill/>
          <a:ln/>
        </p:spPr>
        <p:txBody>
          <a:bodyPr wrap="square" lIns="0" tIns="0" rIns="0" bIns="0" rtlCol="0" anchor="ctr"/>
          <a:lstStyle/>
          <a:p>
            <a:pPr marL="0" indent="0">
              <a:lnSpc>
                <a:spcPct val="110000"/>
              </a:lnSpc>
              <a:buNone/>
            </a:pPr>
            <a:r>
              <a:rPr lang="en-US" sz="1700" dirty="0">
                <a:solidFill>
                  <a:srgbClr val="5B6B82"/>
                </a:solidFill>
                <a:latin typeface="Calibri" pitchFamily="34" charset="0"/>
                <a:ea typeface="Calibri" pitchFamily="34" charset="-122"/>
                <a:cs typeface="Calibri" pitchFamily="34" charset="-120"/>
              </a:rPr>
              <a:t>Identifier les biens critiques, qualifier les risques d'espionnage et</a:t>
            </a:r>
            <a:endParaRPr lang="en-US" sz="1700" dirty="0"/>
          </a:p>
          <a:p>
            <a:pPr marL="0" indent="0">
              <a:lnSpc>
                <a:spcPct val="110000"/>
              </a:lnSpc>
              <a:buNone/>
            </a:pPr>
            <a:r>
              <a:rPr lang="en-US" sz="1700" dirty="0">
                <a:solidFill>
                  <a:srgbClr val="5B6B82"/>
                </a:solidFill>
                <a:latin typeface="Calibri" pitchFamily="34" charset="0"/>
                <a:ea typeface="Calibri" pitchFamily="34" charset="-122"/>
                <a:cs typeface="Calibri" pitchFamily="34" charset="-120"/>
              </a:rPr>
              <a:t>proposer un plan de traitement proportionné à une TPE.</a:t>
            </a:r>
            <a:endParaRPr lang="en-US" sz="1700" dirty="0"/>
          </a:p>
        </p:txBody>
      </p:sp>
      <p:sp>
        <p:nvSpPr>
          <p:cNvPr id="6" name="Shape 4"/>
          <p:cNvSpPr/>
          <p:nvPr/>
        </p:nvSpPr>
        <p:spPr>
          <a:xfrm>
            <a:off x="914400" y="4937760"/>
            <a:ext cx="3840480" cy="0"/>
          </a:xfrm>
          <a:prstGeom prst="line">
            <a:avLst/>
          </a:prstGeom>
          <a:noFill/>
          <a:ln w="19050">
            <a:solidFill>
              <a:srgbClr val="C9D2E0"/>
            </a:solidFill>
            <a:prstDash val="solid"/>
          </a:ln>
        </p:spPr>
      </p:sp>
      <p:sp>
        <p:nvSpPr>
          <p:cNvPr id="7" name="Text 5"/>
          <p:cNvSpPr/>
          <p:nvPr/>
        </p:nvSpPr>
        <p:spPr>
          <a:xfrm>
            <a:off x="914400" y="5120640"/>
            <a:ext cx="9144000" cy="1005840"/>
          </a:xfrm>
          <a:prstGeom prst="rect">
            <a:avLst/>
          </a:prstGeom>
          <a:noFill/>
          <a:ln/>
        </p:spPr>
        <p:txBody>
          <a:bodyPr wrap="square" lIns="0" tIns="0" rIns="0" bIns="0" rtlCol="0" anchor="ctr"/>
          <a:lstStyle/>
          <a:p>
            <a:pPr marL="0" indent="0">
              <a:lnSpc>
                <a:spcPct val="115000"/>
              </a:lnSpc>
              <a:buNone/>
            </a:pPr>
            <a:r>
              <a:rPr lang="en-US" sz="1300" b="1" dirty="0">
                <a:solidFill>
                  <a:srgbClr val="1F2A44"/>
                </a:solidFill>
                <a:latin typeface="Calibri" pitchFamily="34" charset="0"/>
                <a:ea typeface="Calibri" pitchFamily="34" charset="-122"/>
                <a:cs typeface="Calibri" pitchFamily="34" charset="-120"/>
              </a:rPr>
              <a:t>Master Data Analytics — OMNES Education</a:t>
            </a:r>
            <a:endParaRPr lang="en-US" sz="1300" dirty="0"/>
          </a:p>
          <a:p>
            <a:pPr marL="0" indent="0">
              <a:lnSpc>
                <a:spcPct val="115000"/>
              </a:lnSpc>
              <a:buNone/>
            </a:pPr>
            <a:r>
              <a:rPr lang="en-US" sz="1300" dirty="0">
                <a:solidFill>
                  <a:srgbClr val="5B6B82"/>
                </a:solidFill>
                <a:latin typeface="Calibri" pitchFamily="34" charset="0"/>
                <a:ea typeface="Calibri" pitchFamily="34" charset="-122"/>
                <a:cs typeface="Calibri" pitchFamily="34" charset="-120"/>
              </a:rPr>
              <a:t>Module Cybersécurité &amp; Big Data  </a:t>
            </a:r>
          </a:p>
          <a:p>
            <a:pPr marL="0" indent="0">
              <a:lnSpc>
                <a:spcPct val="115000"/>
              </a:lnSpc>
              <a:buNone/>
            </a:pPr>
            <a:endParaRPr lang="en-US" sz="1300" dirty="0">
              <a:solidFill>
                <a:srgbClr val="5B6B82"/>
              </a:solidFill>
              <a:latin typeface="Calibri" pitchFamily="34" charset="0"/>
              <a:cs typeface="Calibri" pitchFamily="34" charset="-120"/>
            </a:endParaRPr>
          </a:p>
          <a:p>
            <a:pPr marL="0" indent="0">
              <a:lnSpc>
                <a:spcPct val="115000"/>
              </a:lnSpc>
              <a:buNone/>
            </a:pPr>
            <a:r>
              <a:rPr lang="en-US" sz="1300" dirty="0">
                <a:solidFill>
                  <a:srgbClr val="5B6B82"/>
                </a:solidFill>
                <a:latin typeface="Calibri" pitchFamily="34" charset="0"/>
                <a:cs typeface="Calibri" pitchFamily="34" charset="-120"/>
              </a:rPr>
              <a:t>Manel FRIKHA | Ines DAMMAK | Yasmine BOUAZIZ | </a:t>
            </a:r>
            <a:r>
              <a:rPr lang="en-US" sz="1300" dirty="0" err="1">
                <a:solidFill>
                  <a:srgbClr val="5B6B82"/>
                </a:solidFill>
                <a:latin typeface="Calibri" pitchFamily="34" charset="0"/>
                <a:cs typeface="Calibri" pitchFamily="34" charset="-120"/>
              </a:rPr>
              <a:t>Milade</a:t>
            </a:r>
            <a:r>
              <a:rPr lang="en-US" sz="1300" dirty="0">
                <a:solidFill>
                  <a:srgbClr val="5B6B82"/>
                </a:solidFill>
                <a:latin typeface="Calibri" pitchFamily="34" charset="0"/>
                <a:cs typeface="Calibri" pitchFamily="34" charset="-120"/>
              </a:rPr>
              <a:t> LAMMARI</a:t>
            </a:r>
            <a:endParaRPr lang="en-US" sz="1300" dirty="0"/>
          </a:p>
        </p:txBody>
      </p:sp>
      <p:sp>
        <p:nvSpPr>
          <p:cNvPr id="8" name="Text 6"/>
          <p:cNvSpPr/>
          <p:nvPr/>
        </p:nvSpPr>
        <p:spPr>
          <a:xfrm>
            <a:off x="640080" y="6473952"/>
            <a:ext cx="5486400" cy="274320"/>
          </a:xfrm>
          <a:prstGeom prst="rect">
            <a:avLst/>
          </a:prstGeom>
          <a:noFill/>
          <a:ln/>
        </p:spPr>
        <p:txBody>
          <a:bodyPr wrap="square" lIns="0" tIns="0" rIns="0" bIns="0" rtlCol="0" anchor="ctr"/>
          <a:lstStyle/>
          <a:p>
            <a:pPr marL="0" indent="0">
              <a:buNone/>
            </a:pPr>
            <a:r>
              <a:rPr lang="en-US" sz="900" dirty="0">
                <a:solidFill>
                  <a:srgbClr val="5B6B82"/>
                </a:solidFill>
                <a:latin typeface="Calibri" pitchFamily="34" charset="0"/>
                <a:ea typeface="Calibri" pitchFamily="34" charset="-122"/>
                <a:cs typeface="Calibri" pitchFamily="34" charset="-120"/>
              </a:rPr>
              <a:t>Cas Belhome — Analyse EBIOS</a:t>
            </a:r>
            <a:endParaRPr lang="en-US" sz="900" dirty="0"/>
          </a:p>
        </p:txBody>
      </p:sp>
      <p:sp>
        <p:nvSpPr>
          <p:cNvPr id="9" name="Text 7"/>
          <p:cNvSpPr/>
          <p:nvPr/>
        </p:nvSpPr>
        <p:spPr>
          <a:xfrm>
            <a:off x="11091672" y="6473952"/>
            <a:ext cx="4572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INTRODUCTION</a:t>
            </a:r>
            <a:endParaRPr lang="en-US" sz="1467" dirty="0"/>
          </a:p>
        </p:txBody>
      </p:sp>
      <p:sp>
        <p:nvSpPr>
          <p:cNvPr id="4" name="Text 2"/>
          <p:cNvSpPr/>
          <p:nvPr/>
        </p:nvSpPr>
        <p:spPr>
          <a:xfrm>
            <a:off x="670560" y="829056"/>
            <a:ext cx="10850880" cy="853440"/>
          </a:xfrm>
          <a:prstGeom prst="rect">
            <a:avLst/>
          </a:prstGeom>
          <a:noFill/>
          <a:ln/>
        </p:spPr>
        <p:txBody>
          <a:bodyPr wrap="square" lIns="0" tIns="0" rIns="0" bIns="0" rtlCol="0" anchor="ctr"/>
          <a:lstStyle/>
          <a:p>
            <a:r>
              <a:rPr lang="en-US" sz="3200" b="1" dirty="0">
                <a:solidFill>
                  <a:srgbClr val="1E2B45"/>
                </a:solidFill>
                <a:latin typeface="Georgia" pitchFamily="34" charset="0"/>
                <a:ea typeface="Georgia" pitchFamily="34" charset="-122"/>
                <a:cs typeface="Georgia" pitchFamily="34" charset="-120"/>
              </a:rPr>
              <a:t>Mission, méthode et déroulé de l'étude</a:t>
            </a:r>
            <a:endParaRPr lang="en-US" sz="3200" dirty="0"/>
          </a:p>
        </p:txBody>
      </p:sp>
      <p:sp>
        <p:nvSpPr>
          <p:cNvPr id="5" name="Shape 3"/>
          <p:cNvSpPr/>
          <p:nvPr/>
        </p:nvSpPr>
        <p:spPr>
          <a:xfrm>
            <a:off x="670560" y="1767840"/>
            <a:ext cx="5547360" cy="414528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6" name="Shape 4"/>
          <p:cNvSpPr/>
          <p:nvPr/>
        </p:nvSpPr>
        <p:spPr>
          <a:xfrm>
            <a:off x="670560" y="1767840"/>
            <a:ext cx="5547360" cy="85344"/>
          </a:xfrm>
          <a:prstGeom prst="rect">
            <a:avLst/>
          </a:prstGeom>
          <a:solidFill>
            <a:srgbClr val="D97A28"/>
          </a:solidFill>
          <a:ln/>
        </p:spPr>
      </p:sp>
      <p:sp>
        <p:nvSpPr>
          <p:cNvPr id="7" name="Text 5"/>
          <p:cNvSpPr/>
          <p:nvPr/>
        </p:nvSpPr>
        <p:spPr>
          <a:xfrm>
            <a:off x="975360" y="1975104"/>
            <a:ext cx="4876800" cy="426720"/>
          </a:xfrm>
          <a:prstGeom prst="rect">
            <a:avLst/>
          </a:prstGeom>
          <a:noFill/>
          <a:ln/>
        </p:spPr>
        <p:txBody>
          <a:bodyPr wrap="square" lIns="0" tIns="0" rIns="0" bIns="0" rtlCol="0" anchor="ctr"/>
          <a:lstStyle/>
          <a:p>
            <a:r>
              <a:rPr lang="en-US" sz="2000" b="1" dirty="0">
                <a:solidFill>
                  <a:srgbClr val="1E2B45"/>
                </a:solidFill>
                <a:latin typeface="Georgia" pitchFamily="34" charset="0"/>
                <a:ea typeface="Georgia" pitchFamily="34" charset="-122"/>
                <a:cs typeface="Georgia" pitchFamily="34" charset="-120"/>
              </a:rPr>
              <a:t>Notre mission</a:t>
            </a:r>
            <a:endParaRPr lang="en-US" sz="2000" dirty="0"/>
          </a:p>
        </p:txBody>
      </p:sp>
      <p:sp>
        <p:nvSpPr>
          <p:cNvPr id="8" name="Text 6"/>
          <p:cNvSpPr/>
          <p:nvPr/>
        </p:nvSpPr>
        <p:spPr>
          <a:xfrm>
            <a:off x="975360" y="2414016"/>
            <a:ext cx="4937760" cy="3352800"/>
          </a:xfrm>
          <a:prstGeom prst="rect">
            <a:avLst/>
          </a:prstGeom>
          <a:noFill/>
          <a:ln/>
        </p:spPr>
        <p:txBody>
          <a:bodyPr wrap="square" lIns="0" tIns="0" rIns="0" bIns="0" rtlCol="0" anchor="t"/>
          <a:lstStyle/>
          <a:p>
            <a:pPr>
              <a:lnSpc>
                <a:spcPct val="102000"/>
              </a:lnSpc>
            </a:pPr>
            <a:r>
              <a:rPr lang="en-US" sz="1533" dirty="0">
                <a:solidFill>
                  <a:srgbClr val="27313F"/>
                </a:solidFill>
                <a:latin typeface="Calibri" pitchFamily="34" charset="0"/>
                <a:ea typeface="Calibri" pitchFamily="34" charset="-122"/>
                <a:cs typeface="Calibri" pitchFamily="34" charset="-120"/>
              </a:rPr>
              <a:t>M. Belhome a perdu deux appels d'offres dans des conditions « curieuses » et suspecte une fuite.
</a:t>
            </a:r>
            <a:endParaRPr lang="en-US" sz="1533" dirty="0"/>
          </a:p>
          <a:p>
            <a:pPr>
              <a:lnSpc>
                <a:spcPct val="102000"/>
              </a:lnSpc>
            </a:pPr>
            <a:r>
              <a:rPr lang="en-US" sz="1533" b="1" dirty="0">
                <a:solidFill>
                  <a:srgbClr val="1E2B45"/>
                </a:solidFill>
                <a:latin typeface="Calibri" pitchFamily="34" charset="0"/>
                <a:ea typeface="Calibri" pitchFamily="34" charset="-122"/>
                <a:cs typeface="Calibri" pitchFamily="34" charset="-120"/>
              </a:rPr>
              <a:t>Notre rôle : </a:t>
            </a:r>
            <a:r>
              <a:rPr lang="en-US" sz="1533" dirty="0">
                <a:solidFill>
                  <a:srgbClr val="27313F"/>
                </a:solidFill>
                <a:latin typeface="Calibri" pitchFamily="34" charset="0"/>
                <a:ea typeface="Calibri" pitchFamily="34" charset="-122"/>
                <a:cs typeface="Calibri" pitchFamily="34" charset="-120"/>
              </a:rPr>
              <a:t>ne pas valider une intuition, mais conduire une étude de risque structurée pour objectiver la menace et proposer des mesures réalistes.
</a:t>
            </a:r>
            <a:endParaRPr lang="en-US" sz="1533" dirty="0"/>
          </a:p>
          <a:p>
            <a:pPr>
              <a:lnSpc>
                <a:spcPct val="102000"/>
              </a:lnSpc>
            </a:pPr>
            <a:r>
              <a:rPr lang="en-US" sz="1533" b="1" dirty="0">
                <a:solidFill>
                  <a:srgbClr val="1E2B45"/>
                </a:solidFill>
                <a:latin typeface="Calibri" pitchFamily="34" charset="0"/>
                <a:ea typeface="Calibri" pitchFamily="34" charset="-122"/>
                <a:cs typeface="Calibri" pitchFamily="34" charset="-120"/>
              </a:rPr>
              <a:t>Deux hypothèses à éprouver :
</a:t>
            </a:r>
            <a:endParaRPr lang="en-US" sz="1533" dirty="0"/>
          </a:p>
          <a:p>
            <a:pPr>
              <a:lnSpc>
                <a:spcPct val="102000"/>
              </a:lnSpc>
            </a:pPr>
            <a:r>
              <a:rPr lang="en-US" sz="1533" dirty="0">
                <a:solidFill>
                  <a:srgbClr val="27313F"/>
                </a:solidFill>
                <a:latin typeface="Calibri" pitchFamily="34" charset="0"/>
                <a:ea typeface="Calibri" pitchFamily="34" charset="-122"/>
                <a:cs typeface="Calibri" pitchFamily="34" charset="-120"/>
              </a:rPr>
              <a:t>H1 — fuite des données commerciales (prix).
</a:t>
            </a:r>
            <a:endParaRPr lang="en-US" sz="1533" dirty="0"/>
          </a:p>
          <a:p>
            <a:pPr>
              <a:lnSpc>
                <a:spcPct val="102000"/>
              </a:lnSpc>
            </a:pPr>
            <a:r>
              <a:rPr lang="en-US" sz="1533" dirty="0">
                <a:solidFill>
                  <a:srgbClr val="27313F"/>
                </a:solidFill>
                <a:latin typeface="Calibri" pitchFamily="34" charset="0"/>
                <a:ea typeface="Calibri" pitchFamily="34" charset="-122"/>
                <a:cs typeface="Calibri" pitchFamily="34" charset="-120"/>
              </a:rPr>
              <a:t>H2 — compromission des études techniques.</a:t>
            </a:r>
            <a:endParaRPr lang="en-US" sz="1533" dirty="0"/>
          </a:p>
        </p:txBody>
      </p:sp>
      <p:sp>
        <p:nvSpPr>
          <p:cNvPr id="9" name="Shape 7"/>
          <p:cNvSpPr/>
          <p:nvPr/>
        </p:nvSpPr>
        <p:spPr>
          <a:xfrm>
            <a:off x="6583680" y="1767840"/>
            <a:ext cx="4937760" cy="188976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10" name="Shape 8"/>
          <p:cNvSpPr/>
          <p:nvPr/>
        </p:nvSpPr>
        <p:spPr>
          <a:xfrm>
            <a:off x="6583680" y="1767840"/>
            <a:ext cx="4937760" cy="85344"/>
          </a:xfrm>
          <a:prstGeom prst="rect">
            <a:avLst/>
          </a:prstGeom>
          <a:solidFill>
            <a:srgbClr val="2B3F63"/>
          </a:solidFill>
          <a:ln/>
        </p:spPr>
      </p:sp>
      <p:sp>
        <p:nvSpPr>
          <p:cNvPr id="11" name="Text 9"/>
          <p:cNvSpPr/>
          <p:nvPr/>
        </p:nvSpPr>
        <p:spPr>
          <a:xfrm>
            <a:off x="6851904" y="1950720"/>
            <a:ext cx="4511040" cy="390144"/>
          </a:xfrm>
          <a:prstGeom prst="rect">
            <a:avLst/>
          </a:prstGeom>
          <a:noFill/>
          <a:ln/>
        </p:spPr>
        <p:txBody>
          <a:bodyPr wrap="square" lIns="0" tIns="0" rIns="0" bIns="0" rtlCol="0" anchor="ctr"/>
          <a:lstStyle/>
          <a:p>
            <a:r>
              <a:rPr lang="en-US" sz="1867" b="1" dirty="0">
                <a:solidFill>
                  <a:srgbClr val="1E2B45"/>
                </a:solidFill>
                <a:latin typeface="Georgia" pitchFamily="34" charset="0"/>
                <a:ea typeface="Georgia" pitchFamily="34" charset="-122"/>
                <a:cs typeface="Georgia" pitchFamily="34" charset="-120"/>
              </a:rPr>
              <a:t>La méthode : EBIOS (ANSSI)</a:t>
            </a:r>
            <a:endParaRPr lang="en-US" sz="1867" dirty="0"/>
          </a:p>
        </p:txBody>
      </p:sp>
      <p:sp>
        <p:nvSpPr>
          <p:cNvPr id="12" name="Text 10"/>
          <p:cNvSpPr/>
          <p:nvPr/>
        </p:nvSpPr>
        <p:spPr>
          <a:xfrm>
            <a:off x="6851904" y="2377440"/>
            <a:ext cx="4450080" cy="1158240"/>
          </a:xfrm>
          <a:prstGeom prst="rect">
            <a:avLst/>
          </a:prstGeom>
          <a:noFill/>
          <a:ln/>
        </p:spPr>
        <p:txBody>
          <a:bodyPr wrap="square" lIns="0" tIns="0" rIns="0" bIns="0" rtlCol="0" anchor="t"/>
          <a:lstStyle/>
          <a:p>
            <a:r>
              <a:rPr lang="en-US" sz="1467" dirty="0">
                <a:solidFill>
                  <a:srgbClr val="27313F"/>
                </a:solidFill>
                <a:latin typeface="Calibri" pitchFamily="34" charset="0"/>
                <a:ea typeface="Calibri" pitchFamily="34" charset="-122"/>
                <a:cs typeface="Calibri" pitchFamily="34" charset="-120"/>
              </a:rPr>
              <a:t>Démarche officielle en 5 modules — du contexte aux mesures. Adaptée ici en étude générale, premier jalon avant une analyse complète.</a:t>
            </a:r>
            <a:endParaRPr lang="en-US" sz="1467" dirty="0"/>
          </a:p>
        </p:txBody>
      </p:sp>
      <p:sp>
        <p:nvSpPr>
          <p:cNvPr id="13" name="Shape 11"/>
          <p:cNvSpPr/>
          <p:nvPr/>
        </p:nvSpPr>
        <p:spPr>
          <a:xfrm>
            <a:off x="6583680" y="3840480"/>
            <a:ext cx="4937760" cy="207264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14" name="Shape 12"/>
          <p:cNvSpPr/>
          <p:nvPr/>
        </p:nvSpPr>
        <p:spPr>
          <a:xfrm>
            <a:off x="6583680" y="3840480"/>
            <a:ext cx="4937760" cy="85344"/>
          </a:xfrm>
          <a:prstGeom prst="rect">
            <a:avLst/>
          </a:prstGeom>
          <a:solidFill>
            <a:srgbClr val="D97A28"/>
          </a:solidFill>
          <a:ln/>
        </p:spPr>
      </p:sp>
      <p:sp>
        <p:nvSpPr>
          <p:cNvPr id="15" name="Text 13"/>
          <p:cNvSpPr/>
          <p:nvPr/>
        </p:nvSpPr>
        <p:spPr>
          <a:xfrm>
            <a:off x="6851904" y="3998976"/>
            <a:ext cx="4511040" cy="365760"/>
          </a:xfrm>
          <a:prstGeom prst="rect">
            <a:avLst/>
          </a:prstGeom>
          <a:noFill/>
          <a:ln/>
        </p:spPr>
        <p:txBody>
          <a:bodyPr wrap="square" lIns="0" tIns="0" rIns="0" bIns="0" rtlCol="0" anchor="ctr"/>
          <a:lstStyle/>
          <a:p>
            <a:r>
              <a:rPr lang="en-US" sz="1867" b="1" dirty="0">
                <a:solidFill>
                  <a:srgbClr val="1E2B45"/>
                </a:solidFill>
                <a:latin typeface="Georgia" pitchFamily="34" charset="0"/>
                <a:ea typeface="Georgia" pitchFamily="34" charset="-122"/>
                <a:cs typeface="Georgia" pitchFamily="34" charset="-120"/>
              </a:rPr>
              <a:t>Notre déroulé</a:t>
            </a:r>
            <a:endParaRPr lang="en-US" sz="1867" dirty="0"/>
          </a:p>
        </p:txBody>
      </p:sp>
      <p:sp>
        <p:nvSpPr>
          <p:cNvPr id="16" name="Shape 14"/>
          <p:cNvSpPr/>
          <p:nvPr/>
        </p:nvSpPr>
        <p:spPr>
          <a:xfrm>
            <a:off x="6851904" y="4462272"/>
            <a:ext cx="195072" cy="195072"/>
          </a:xfrm>
          <a:prstGeom prst="ellipse">
            <a:avLst/>
          </a:prstGeom>
          <a:solidFill>
            <a:srgbClr val="D97A28"/>
          </a:solidFill>
          <a:ln/>
        </p:spPr>
      </p:sp>
      <p:sp>
        <p:nvSpPr>
          <p:cNvPr id="17" name="Text 15"/>
          <p:cNvSpPr/>
          <p:nvPr/>
        </p:nvSpPr>
        <p:spPr>
          <a:xfrm>
            <a:off x="7132320" y="4401312"/>
            <a:ext cx="4267200" cy="316992"/>
          </a:xfrm>
          <a:prstGeom prst="rect">
            <a:avLst/>
          </a:prstGeom>
          <a:noFill/>
          <a:ln/>
        </p:spPr>
        <p:txBody>
          <a:bodyPr wrap="square" lIns="0" tIns="0" rIns="0" bIns="0" rtlCol="0" anchor="ctr"/>
          <a:lstStyle/>
          <a:p>
            <a:r>
              <a:rPr lang="en-US" sz="1400" dirty="0">
                <a:solidFill>
                  <a:srgbClr val="27313F"/>
                </a:solidFill>
                <a:latin typeface="Calibri" pitchFamily="34" charset="0"/>
                <a:ea typeface="Calibri" pitchFamily="34" charset="-122"/>
                <a:cs typeface="Calibri" pitchFamily="34" charset="-120"/>
              </a:rPr>
              <a:t>1 · Contexte &amp; biens</a:t>
            </a:r>
            <a:endParaRPr lang="en-US" sz="1400" dirty="0"/>
          </a:p>
        </p:txBody>
      </p:sp>
      <p:sp>
        <p:nvSpPr>
          <p:cNvPr id="18" name="Shape 16"/>
          <p:cNvSpPr/>
          <p:nvPr/>
        </p:nvSpPr>
        <p:spPr>
          <a:xfrm>
            <a:off x="6851904" y="4736592"/>
            <a:ext cx="195072" cy="195072"/>
          </a:xfrm>
          <a:prstGeom prst="ellipse">
            <a:avLst/>
          </a:prstGeom>
          <a:solidFill>
            <a:srgbClr val="D97A28"/>
          </a:solidFill>
          <a:ln/>
        </p:spPr>
      </p:sp>
      <p:sp>
        <p:nvSpPr>
          <p:cNvPr id="19" name="Text 17"/>
          <p:cNvSpPr/>
          <p:nvPr/>
        </p:nvSpPr>
        <p:spPr>
          <a:xfrm>
            <a:off x="7132320" y="4675632"/>
            <a:ext cx="4267200" cy="316992"/>
          </a:xfrm>
          <a:prstGeom prst="rect">
            <a:avLst/>
          </a:prstGeom>
          <a:noFill/>
          <a:ln/>
        </p:spPr>
        <p:txBody>
          <a:bodyPr wrap="square" lIns="0" tIns="0" rIns="0" bIns="0" rtlCol="0" anchor="ctr"/>
          <a:lstStyle/>
          <a:p>
            <a:r>
              <a:rPr lang="en-US" sz="1400" dirty="0">
                <a:solidFill>
                  <a:srgbClr val="27313F"/>
                </a:solidFill>
                <a:latin typeface="Calibri" pitchFamily="34" charset="0"/>
                <a:ea typeface="Calibri" pitchFamily="34" charset="-122"/>
                <a:cs typeface="Calibri" pitchFamily="34" charset="-120"/>
              </a:rPr>
              <a:t>2 · Événements redoutés</a:t>
            </a:r>
            <a:endParaRPr lang="en-US" sz="1400" dirty="0"/>
          </a:p>
        </p:txBody>
      </p:sp>
      <p:sp>
        <p:nvSpPr>
          <p:cNvPr id="20" name="Shape 18"/>
          <p:cNvSpPr/>
          <p:nvPr/>
        </p:nvSpPr>
        <p:spPr>
          <a:xfrm>
            <a:off x="6851904" y="5010912"/>
            <a:ext cx="195072" cy="195072"/>
          </a:xfrm>
          <a:prstGeom prst="ellipse">
            <a:avLst/>
          </a:prstGeom>
          <a:solidFill>
            <a:srgbClr val="B23A2E"/>
          </a:solidFill>
          <a:ln/>
        </p:spPr>
      </p:sp>
      <p:sp>
        <p:nvSpPr>
          <p:cNvPr id="21" name="Text 19"/>
          <p:cNvSpPr/>
          <p:nvPr/>
        </p:nvSpPr>
        <p:spPr>
          <a:xfrm>
            <a:off x="7132320" y="4949952"/>
            <a:ext cx="4267200" cy="316992"/>
          </a:xfrm>
          <a:prstGeom prst="rect">
            <a:avLst/>
          </a:prstGeom>
          <a:noFill/>
          <a:ln/>
        </p:spPr>
        <p:txBody>
          <a:bodyPr wrap="square" lIns="0" tIns="0" rIns="0" bIns="0" rtlCol="0" anchor="ctr"/>
          <a:lstStyle/>
          <a:p>
            <a:r>
              <a:rPr lang="en-US" sz="1400" dirty="0">
                <a:solidFill>
                  <a:srgbClr val="27313F"/>
                </a:solidFill>
                <a:latin typeface="Calibri" pitchFamily="34" charset="0"/>
                <a:ea typeface="Calibri" pitchFamily="34" charset="-122"/>
                <a:cs typeface="Calibri" pitchFamily="34" charset="-120"/>
              </a:rPr>
              <a:t>3 · Scénarios de menace</a:t>
            </a:r>
            <a:endParaRPr lang="en-US" sz="1400" dirty="0"/>
          </a:p>
        </p:txBody>
      </p:sp>
      <p:sp>
        <p:nvSpPr>
          <p:cNvPr id="22" name="Shape 20"/>
          <p:cNvSpPr/>
          <p:nvPr/>
        </p:nvSpPr>
        <p:spPr>
          <a:xfrm>
            <a:off x="6851904" y="5285232"/>
            <a:ext cx="195072" cy="195072"/>
          </a:xfrm>
          <a:prstGeom prst="ellipse">
            <a:avLst/>
          </a:prstGeom>
          <a:solidFill>
            <a:srgbClr val="B23A2E"/>
          </a:solidFill>
          <a:ln/>
        </p:spPr>
      </p:sp>
      <p:sp>
        <p:nvSpPr>
          <p:cNvPr id="23" name="Text 21"/>
          <p:cNvSpPr/>
          <p:nvPr/>
        </p:nvSpPr>
        <p:spPr>
          <a:xfrm>
            <a:off x="7132320" y="5224272"/>
            <a:ext cx="4267200" cy="316992"/>
          </a:xfrm>
          <a:prstGeom prst="rect">
            <a:avLst/>
          </a:prstGeom>
          <a:noFill/>
          <a:ln/>
        </p:spPr>
        <p:txBody>
          <a:bodyPr wrap="square" lIns="0" tIns="0" rIns="0" bIns="0" rtlCol="0" anchor="ctr"/>
          <a:lstStyle/>
          <a:p>
            <a:r>
              <a:rPr lang="en-US" sz="1400" dirty="0">
                <a:solidFill>
                  <a:srgbClr val="27313F"/>
                </a:solidFill>
                <a:latin typeface="Calibri" pitchFamily="34" charset="0"/>
                <a:ea typeface="Calibri" pitchFamily="34" charset="-122"/>
                <a:cs typeface="Calibri" pitchFamily="34" charset="-120"/>
              </a:rPr>
              <a:t>4 · Risques &amp; traitement</a:t>
            </a:r>
            <a:endParaRPr lang="en-US" sz="1400" dirty="0"/>
          </a:p>
        </p:txBody>
      </p:sp>
      <p:sp>
        <p:nvSpPr>
          <p:cNvPr id="24" name="Shape 22"/>
          <p:cNvSpPr/>
          <p:nvPr/>
        </p:nvSpPr>
        <p:spPr>
          <a:xfrm>
            <a:off x="6851904" y="5559552"/>
            <a:ext cx="195072" cy="195072"/>
          </a:xfrm>
          <a:prstGeom prst="ellipse">
            <a:avLst/>
          </a:prstGeom>
          <a:solidFill>
            <a:srgbClr val="3C8C5A"/>
          </a:solidFill>
          <a:ln/>
        </p:spPr>
      </p:sp>
      <p:sp>
        <p:nvSpPr>
          <p:cNvPr id="25" name="Text 23"/>
          <p:cNvSpPr/>
          <p:nvPr/>
        </p:nvSpPr>
        <p:spPr>
          <a:xfrm>
            <a:off x="7132320" y="5498592"/>
            <a:ext cx="4267200" cy="316992"/>
          </a:xfrm>
          <a:prstGeom prst="rect">
            <a:avLst/>
          </a:prstGeom>
          <a:noFill/>
          <a:ln/>
        </p:spPr>
        <p:txBody>
          <a:bodyPr wrap="square" lIns="0" tIns="0" rIns="0" bIns="0" rtlCol="0" anchor="ctr"/>
          <a:lstStyle/>
          <a:p>
            <a:r>
              <a:rPr lang="en-US" sz="1400" dirty="0">
                <a:solidFill>
                  <a:srgbClr val="27313F"/>
                </a:solidFill>
                <a:latin typeface="Calibri" pitchFamily="34" charset="0"/>
                <a:ea typeface="Calibri" pitchFamily="34" charset="-122"/>
                <a:cs typeface="Calibri" pitchFamily="34" charset="-120"/>
              </a:rPr>
              <a:t>5 · Mesures de sécurité</a:t>
            </a:r>
            <a:endParaRPr lang="en-US" sz="1400" dirty="0"/>
          </a:p>
        </p:txBody>
      </p:sp>
      <p:sp>
        <p:nvSpPr>
          <p:cNvPr id="26" name="Shape 24"/>
          <p:cNvSpPr/>
          <p:nvPr/>
        </p:nvSpPr>
        <p:spPr>
          <a:xfrm>
            <a:off x="670560" y="6315456"/>
            <a:ext cx="10850880" cy="0"/>
          </a:xfrm>
          <a:prstGeom prst="line">
            <a:avLst/>
          </a:prstGeom>
          <a:noFill/>
          <a:ln w="12700">
            <a:solidFill>
              <a:srgbClr val="D7DEE8"/>
            </a:solidFill>
            <a:prstDash val="solid"/>
          </a:ln>
        </p:spPr>
      </p:sp>
      <p:sp>
        <p:nvSpPr>
          <p:cNvPr id="27" name="Text 25"/>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28" name="Text 26"/>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2</a:t>
            </a:r>
            <a:endParaRPr lang="en-US" sz="11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MODULE 1 · ÉTUDE DU CONTEXTE</a:t>
            </a:r>
            <a:endParaRPr lang="en-US" sz="1467" dirty="0"/>
          </a:p>
        </p:txBody>
      </p:sp>
      <p:sp>
        <p:nvSpPr>
          <p:cNvPr id="4" name="Text 2"/>
          <p:cNvSpPr/>
          <p:nvPr/>
        </p:nvSpPr>
        <p:spPr>
          <a:xfrm>
            <a:off x="670560" y="829056"/>
            <a:ext cx="10850880" cy="853440"/>
          </a:xfrm>
          <a:prstGeom prst="rect">
            <a:avLst/>
          </a:prstGeom>
          <a:noFill/>
          <a:ln/>
        </p:spPr>
        <p:txBody>
          <a:bodyPr wrap="square" lIns="0" tIns="0" rIns="0" bIns="0" rtlCol="0" anchor="ctr"/>
          <a:lstStyle/>
          <a:p>
            <a:r>
              <a:rPr lang="en-US" sz="3200" b="1" dirty="0">
                <a:solidFill>
                  <a:srgbClr val="1E2B45"/>
                </a:solidFill>
                <a:latin typeface="Georgia" pitchFamily="34" charset="0"/>
                <a:ea typeface="Georgia" pitchFamily="34" charset="-122"/>
                <a:cs typeface="Georgia" pitchFamily="34" charset="-120"/>
              </a:rPr>
              <a:t>Contexte métier, enjeux et cadrage de l'étude</a:t>
            </a:r>
            <a:endParaRPr lang="en-US" sz="3200" dirty="0"/>
          </a:p>
        </p:txBody>
      </p:sp>
      <p:sp>
        <p:nvSpPr>
          <p:cNvPr id="5" name="Shape 3"/>
          <p:cNvSpPr/>
          <p:nvPr/>
        </p:nvSpPr>
        <p:spPr>
          <a:xfrm>
            <a:off x="670560" y="1767840"/>
            <a:ext cx="3560064" cy="207264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6" name="Shape 4"/>
          <p:cNvSpPr/>
          <p:nvPr/>
        </p:nvSpPr>
        <p:spPr>
          <a:xfrm>
            <a:off x="670560" y="1767840"/>
            <a:ext cx="3560064" cy="85344"/>
          </a:xfrm>
          <a:prstGeom prst="rect">
            <a:avLst/>
          </a:prstGeom>
          <a:solidFill>
            <a:srgbClr val="2B3F63"/>
          </a:solidFill>
          <a:ln/>
        </p:spPr>
      </p:sp>
      <p:sp>
        <p:nvSpPr>
          <p:cNvPr id="7" name="Text 5"/>
          <p:cNvSpPr/>
          <p:nvPr/>
        </p:nvSpPr>
        <p:spPr>
          <a:xfrm>
            <a:off x="914400" y="1962912"/>
            <a:ext cx="3072384" cy="390144"/>
          </a:xfrm>
          <a:prstGeom prst="rect">
            <a:avLst/>
          </a:prstGeom>
          <a:noFill/>
          <a:ln/>
        </p:spPr>
        <p:txBody>
          <a:bodyPr wrap="square" lIns="0" tIns="0" rIns="0" bIns="0" rtlCol="0" anchor="ctr"/>
          <a:lstStyle/>
          <a:p>
            <a:r>
              <a:rPr lang="en-US" sz="1867" b="1" dirty="0">
                <a:solidFill>
                  <a:srgbClr val="1E2B45"/>
                </a:solidFill>
                <a:latin typeface="Georgia" pitchFamily="34" charset="0"/>
                <a:ea typeface="Georgia" pitchFamily="34" charset="-122"/>
                <a:cs typeface="Georgia" pitchFamily="34" charset="-120"/>
              </a:rPr>
              <a:t>Le métier</a:t>
            </a:r>
            <a:endParaRPr lang="en-US" sz="1867" dirty="0"/>
          </a:p>
        </p:txBody>
      </p:sp>
      <p:sp>
        <p:nvSpPr>
          <p:cNvPr id="8" name="Text 6"/>
          <p:cNvSpPr/>
          <p:nvPr/>
        </p:nvSpPr>
        <p:spPr>
          <a:xfrm>
            <a:off x="914400" y="2401824"/>
            <a:ext cx="3072384" cy="1280160"/>
          </a:xfrm>
          <a:prstGeom prst="rect">
            <a:avLst/>
          </a:prstGeom>
          <a:noFill/>
          <a:ln/>
        </p:spPr>
        <p:txBody>
          <a:bodyPr wrap="square" lIns="0" tIns="0" rIns="0" bIns="0" rtlCol="0" anchor="t"/>
          <a:lstStyle/>
          <a:p>
            <a:r>
              <a:rPr lang="en-US" sz="1373" dirty="0">
                <a:solidFill>
                  <a:srgbClr val="27313F"/>
                </a:solidFill>
                <a:latin typeface="Calibri" pitchFamily="34" charset="0"/>
                <a:ea typeface="Calibri" pitchFamily="34" charset="-122"/>
                <a:cs typeface="Calibri" pitchFamily="34" charset="-120"/>
              </a:rPr>
              <a:t>TPE de 9 personnes (6 ingénieurs agréés, PDG, commercial, RAF). Études de structures pour architectes et promoteurs — marché très technique et concurrentiel. Réputation = actif central.</a:t>
            </a:r>
            <a:endParaRPr lang="en-US" sz="1373" dirty="0"/>
          </a:p>
        </p:txBody>
      </p:sp>
      <p:sp>
        <p:nvSpPr>
          <p:cNvPr id="9" name="Shape 7"/>
          <p:cNvSpPr/>
          <p:nvPr/>
        </p:nvSpPr>
        <p:spPr>
          <a:xfrm>
            <a:off x="4450080" y="1767840"/>
            <a:ext cx="3560064" cy="207264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10" name="Shape 8"/>
          <p:cNvSpPr/>
          <p:nvPr/>
        </p:nvSpPr>
        <p:spPr>
          <a:xfrm>
            <a:off x="4450080" y="1767840"/>
            <a:ext cx="3560064" cy="85344"/>
          </a:xfrm>
          <a:prstGeom prst="rect">
            <a:avLst/>
          </a:prstGeom>
          <a:solidFill>
            <a:srgbClr val="D97A28"/>
          </a:solidFill>
          <a:ln/>
        </p:spPr>
      </p:sp>
      <p:sp>
        <p:nvSpPr>
          <p:cNvPr id="11" name="Text 9"/>
          <p:cNvSpPr/>
          <p:nvPr/>
        </p:nvSpPr>
        <p:spPr>
          <a:xfrm>
            <a:off x="4693920" y="1962912"/>
            <a:ext cx="3072384" cy="390144"/>
          </a:xfrm>
          <a:prstGeom prst="rect">
            <a:avLst/>
          </a:prstGeom>
          <a:noFill/>
          <a:ln/>
        </p:spPr>
        <p:txBody>
          <a:bodyPr wrap="square" lIns="0" tIns="0" rIns="0" bIns="0" rtlCol="0" anchor="ctr"/>
          <a:lstStyle/>
          <a:p>
            <a:r>
              <a:rPr lang="en-US" sz="1867" b="1" dirty="0">
                <a:solidFill>
                  <a:srgbClr val="1E2B45"/>
                </a:solidFill>
                <a:latin typeface="Georgia" pitchFamily="34" charset="0"/>
                <a:ea typeface="Georgia" pitchFamily="34" charset="-122"/>
                <a:cs typeface="Georgia" pitchFamily="34" charset="-120"/>
              </a:rPr>
              <a:t>Les enjeux</a:t>
            </a:r>
            <a:endParaRPr lang="en-US" sz="1867" dirty="0"/>
          </a:p>
        </p:txBody>
      </p:sp>
      <p:sp>
        <p:nvSpPr>
          <p:cNvPr id="12" name="Text 10"/>
          <p:cNvSpPr/>
          <p:nvPr/>
        </p:nvSpPr>
        <p:spPr>
          <a:xfrm>
            <a:off x="4693920" y="2401824"/>
            <a:ext cx="3072384" cy="1280160"/>
          </a:xfrm>
          <a:prstGeom prst="rect">
            <a:avLst/>
          </a:prstGeom>
          <a:noFill/>
          <a:ln/>
        </p:spPr>
        <p:txBody>
          <a:bodyPr wrap="square" lIns="0" tIns="0" rIns="0" bIns="0" rtlCol="0" anchor="t"/>
          <a:lstStyle/>
          <a:p>
            <a:r>
              <a:rPr lang="en-US" sz="1373" dirty="0">
                <a:solidFill>
                  <a:srgbClr val="27313F"/>
                </a:solidFill>
                <a:latin typeface="Calibri" pitchFamily="34" charset="0"/>
                <a:ea typeface="Calibri" pitchFamily="34" charset="-122"/>
                <a:cs typeface="Calibri" pitchFamily="34" charset="-120"/>
              </a:rPr>
              <a:t>Responsabilité pénale à vie des signataires : toute altération, même infime, d'une étude peut engager le pénal en cas d'effondrement. Conservation des données sans limite de durée.</a:t>
            </a:r>
            <a:endParaRPr lang="en-US" sz="1373" dirty="0"/>
          </a:p>
        </p:txBody>
      </p:sp>
      <p:sp>
        <p:nvSpPr>
          <p:cNvPr id="13" name="Shape 11"/>
          <p:cNvSpPr/>
          <p:nvPr/>
        </p:nvSpPr>
        <p:spPr>
          <a:xfrm>
            <a:off x="8229600" y="1767840"/>
            <a:ext cx="3560064" cy="207264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14" name="Shape 12"/>
          <p:cNvSpPr/>
          <p:nvPr/>
        </p:nvSpPr>
        <p:spPr>
          <a:xfrm>
            <a:off x="8229600" y="1767840"/>
            <a:ext cx="3560064" cy="85344"/>
          </a:xfrm>
          <a:prstGeom prst="rect">
            <a:avLst/>
          </a:prstGeom>
          <a:solidFill>
            <a:srgbClr val="B23A2E"/>
          </a:solidFill>
          <a:ln/>
        </p:spPr>
      </p:sp>
      <p:sp>
        <p:nvSpPr>
          <p:cNvPr id="15" name="Text 13"/>
          <p:cNvSpPr/>
          <p:nvPr/>
        </p:nvSpPr>
        <p:spPr>
          <a:xfrm>
            <a:off x="8473440" y="1962912"/>
            <a:ext cx="3072384" cy="390144"/>
          </a:xfrm>
          <a:prstGeom prst="rect">
            <a:avLst/>
          </a:prstGeom>
          <a:noFill/>
          <a:ln/>
        </p:spPr>
        <p:txBody>
          <a:bodyPr wrap="square" lIns="0" tIns="0" rIns="0" bIns="0" rtlCol="0" anchor="ctr"/>
          <a:lstStyle/>
          <a:p>
            <a:r>
              <a:rPr lang="en-US" sz="1867" b="1" dirty="0">
                <a:solidFill>
                  <a:srgbClr val="1E2B45"/>
                </a:solidFill>
                <a:latin typeface="Georgia" pitchFamily="34" charset="0"/>
                <a:ea typeface="Georgia" pitchFamily="34" charset="-122"/>
                <a:cs typeface="Georgia" pitchFamily="34" charset="-120"/>
              </a:rPr>
              <a:t>Le déclencheur</a:t>
            </a:r>
            <a:endParaRPr lang="en-US" sz="1867" dirty="0"/>
          </a:p>
        </p:txBody>
      </p:sp>
      <p:sp>
        <p:nvSpPr>
          <p:cNvPr id="16" name="Text 14"/>
          <p:cNvSpPr/>
          <p:nvPr/>
        </p:nvSpPr>
        <p:spPr>
          <a:xfrm>
            <a:off x="8473440" y="2401824"/>
            <a:ext cx="3072384" cy="1280160"/>
          </a:xfrm>
          <a:prstGeom prst="rect">
            <a:avLst/>
          </a:prstGeom>
          <a:noFill/>
          <a:ln/>
        </p:spPr>
        <p:txBody>
          <a:bodyPr wrap="square" lIns="0" tIns="0" rIns="0" bIns="0" rtlCol="0" anchor="t"/>
          <a:lstStyle/>
          <a:p>
            <a:r>
              <a:rPr lang="en-US" sz="1373" dirty="0">
                <a:solidFill>
                  <a:srgbClr val="27313F"/>
                </a:solidFill>
                <a:latin typeface="Calibri" pitchFamily="34" charset="0"/>
                <a:ea typeface="Calibri" pitchFamily="34" charset="-122"/>
                <a:cs typeface="Calibri" pitchFamily="34" charset="-120"/>
              </a:rPr>
              <a:t>Deux appels d'offres perdus coup sur coup dans des conditions « curieuses ». Espionnage des prix probable — mais les études techniques pourraient aussi être visées.</a:t>
            </a:r>
            <a:endParaRPr lang="en-US" sz="1373" dirty="0"/>
          </a:p>
        </p:txBody>
      </p:sp>
      <p:sp>
        <p:nvSpPr>
          <p:cNvPr id="17" name="Shape 15"/>
          <p:cNvSpPr/>
          <p:nvPr/>
        </p:nvSpPr>
        <p:spPr>
          <a:xfrm>
            <a:off x="670560" y="4145280"/>
            <a:ext cx="10850880" cy="182880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18" name="Shape 16"/>
          <p:cNvSpPr/>
          <p:nvPr/>
        </p:nvSpPr>
        <p:spPr>
          <a:xfrm>
            <a:off x="670560" y="4145280"/>
            <a:ext cx="10850880" cy="85344"/>
          </a:xfrm>
          <a:prstGeom prst="rect">
            <a:avLst/>
          </a:prstGeom>
          <a:solidFill>
            <a:srgbClr val="2B3F63"/>
          </a:solidFill>
          <a:ln/>
        </p:spPr>
      </p:sp>
      <p:sp>
        <p:nvSpPr>
          <p:cNvPr id="19" name="Text 17"/>
          <p:cNvSpPr/>
          <p:nvPr/>
        </p:nvSpPr>
        <p:spPr>
          <a:xfrm>
            <a:off x="938784" y="4315968"/>
            <a:ext cx="10607040" cy="390144"/>
          </a:xfrm>
          <a:prstGeom prst="rect">
            <a:avLst/>
          </a:prstGeom>
          <a:noFill/>
          <a:ln/>
        </p:spPr>
        <p:txBody>
          <a:bodyPr wrap="square" lIns="0" tIns="0" rIns="0" bIns="0" rtlCol="0" anchor="ctr"/>
          <a:lstStyle/>
          <a:p>
            <a:r>
              <a:rPr lang="en-US" sz="1867" b="1" dirty="0">
                <a:solidFill>
                  <a:srgbClr val="1E2B45"/>
                </a:solidFill>
                <a:latin typeface="Georgia" pitchFamily="34" charset="0"/>
                <a:ea typeface="Georgia" pitchFamily="34" charset="-122"/>
                <a:cs typeface="Georgia" pitchFamily="34" charset="-120"/>
              </a:rPr>
              <a:t>Cadrage du projet — ambitieux mais réaliste</a:t>
            </a:r>
            <a:endParaRPr lang="en-US" sz="1867" dirty="0"/>
          </a:p>
        </p:txBody>
      </p:sp>
      <p:sp>
        <p:nvSpPr>
          <p:cNvPr id="20" name="Text 18"/>
          <p:cNvSpPr/>
          <p:nvPr/>
        </p:nvSpPr>
        <p:spPr>
          <a:xfrm>
            <a:off x="938784" y="4815840"/>
            <a:ext cx="2456688" cy="292608"/>
          </a:xfrm>
          <a:prstGeom prst="rect">
            <a:avLst/>
          </a:prstGeom>
          <a:noFill/>
          <a:ln/>
        </p:spPr>
        <p:txBody>
          <a:bodyPr wrap="square" lIns="0" tIns="0" rIns="0" bIns="0" rtlCol="0" anchor="ctr"/>
          <a:lstStyle/>
          <a:p>
            <a:r>
              <a:rPr lang="en-US" sz="1267" b="1" kern="0" spc="133" dirty="0">
                <a:solidFill>
                  <a:srgbClr val="D97A28"/>
                </a:solidFill>
                <a:latin typeface="Calibri" pitchFamily="34" charset="0"/>
                <a:ea typeface="Calibri" pitchFamily="34" charset="-122"/>
                <a:cs typeface="Calibri" pitchFamily="34" charset="-120"/>
              </a:rPr>
              <a:t>PÉRIMÈTRE</a:t>
            </a:r>
            <a:endParaRPr lang="en-US" sz="1267" dirty="0"/>
          </a:p>
        </p:txBody>
      </p:sp>
      <p:sp>
        <p:nvSpPr>
          <p:cNvPr id="21" name="Text 19"/>
          <p:cNvSpPr/>
          <p:nvPr/>
        </p:nvSpPr>
        <p:spPr>
          <a:xfrm>
            <a:off x="938784" y="5096256"/>
            <a:ext cx="2432304" cy="804672"/>
          </a:xfrm>
          <a:prstGeom prst="rect">
            <a:avLst/>
          </a:prstGeom>
          <a:noFill/>
          <a:ln/>
        </p:spPr>
        <p:txBody>
          <a:bodyPr wrap="square" lIns="0" tIns="0" rIns="0" bIns="0" rtlCol="0" anchor="t"/>
          <a:lstStyle/>
          <a:p>
            <a:pPr>
              <a:lnSpc>
                <a:spcPct val="98000"/>
              </a:lnSpc>
            </a:pPr>
            <a:r>
              <a:rPr lang="en-US" sz="1307" dirty="0">
                <a:solidFill>
                  <a:srgbClr val="27313F"/>
                </a:solidFill>
                <a:latin typeface="Calibri" pitchFamily="34" charset="0"/>
                <a:ea typeface="Calibri" pitchFamily="34" charset="-122"/>
                <a:cs typeface="Calibri" pitchFamily="34" charset="-120"/>
              </a:rPr>
              <a:t>Tout le SI de la TPE : postes, serveurs, supports amovibles, locaux et intervenants.</a:t>
            </a:r>
            <a:endParaRPr lang="en-US" sz="1307" dirty="0"/>
          </a:p>
        </p:txBody>
      </p:sp>
      <p:sp>
        <p:nvSpPr>
          <p:cNvPr id="22" name="Text 20"/>
          <p:cNvSpPr/>
          <p:nvPr/>
        </p:nvSpPr>
        <p:spPr>
          <a:xfrm>
            <a:off x="3517392" y="4815840"/>
            <a:ext cx="2456688" cy="292608"/>
          </a:xfrm>
          <a:prstGeom prst="rect">
            <a:avLst/>
          </a:prstGeom>
          <a:noFill/>
          <a:ln/>
        </p:spPr>
        <p:txBody>
          <a:bodyPr wrap="square" lIns="0" tIns="0" rIns="0" bIns="0" rtlCol="0" anchor="ctr"/>
          <a:lstStyle/>
          <a:p>
            <a:r>
              <a:rPr lang="en-US" sz="1267" b="1" kern="0" spc="133" dirty="0">
                <a:solidFill>
                  <a:srgbClr val="D97A28"/>
                </a:solidFill>
                <a:latin typeface="Calibri" pitchFamily="34" charset="0"/>
                <a:ea typeface="Calibri" pitchFamily="34" charset="-122"/>
                <a:cs typeface="Calibri" pitchFamily="34" charset="-120"/>
              </a:rPr>
              <a:t>OBJECTIF</a:t>
            </a:r>
            <a:endParaRPr lang="en-US" sz="1267" dirty="0"/>
          </a:p>
        </p:txBody>
      </p:sp>
      <p:sp>
        <p:nvSpPr>
          <p:cNvPr id="23" name="Text 21"/>
          <p:cNvSpPr/>
          <p:nvPr/>
        </p:nvSpPr>
        <p:spPr>
          <a:xfrm>
            <a:off x="3517392" y="5096256"/>
            <a:ext cx="2432304" cy="804672"/>
          </a:xfrm>
          <a:prstGeom prst="rect">
            <a:avLst/>
          </a:prstGeom>
          <a:noFill/>
          <a:ln/>
        </p:spPr>
        <p:txBody>
          <a:bodyPr wrap="square" lIns="0" tIns="0" rIns="0" bIns="0" rtlCol="0" anchor="t"/>
          <a:lstStyle/>
          <a:p>
            <a:pPr>
              <a:lnSpc>
                <a:spcPct val="98000"/>
              </a:lnSpc>
            </a:pPr>
            <a:r>
              <a:rPr lang="en-US" sz="1307" dirty="0">
                <a:solidFill>
                  <a:srgbClr val="27313F"/>
                </a:solidFill>
                <a:latin typeface="Calibri" pitchFamily="34" charset="0"/>
                <a:ea typeface="Calibri" pitchFamily="34" charset="-122"/>
                <a:cs typeface="Calibri" pitchFamily="34" charset="-120"/>
              </a:rPr>
              <a:t>Objectiver les 2 risques craints et livrer un plan d'actions proportionné.</a:t>
            </a:r>
            <a:endParaRPr lang="en-US" sz="1307" dirty="0"/>
          </a:p>
        </p:txBody>
      </p:sp>
      <p:sp>
        <p:nvSpPr>
          <p:cNvPr id="24" name="Text 22"/>
          <p:cNvSpPr/>
          <p:nvPr/>
        </p:nvSpPr>
        <p:spPr>
          <a:xfrm>
            <a:off x="6096000" y="4815840"/>
            <a:ext cx="2456688" cy="292608"/>
          </a:xfrm>
          <a:prstGeom prst="rect">
            <a:avLst/>
          </a:prstGeom>
          <a:noFill/>
          <a:ln/>
        </p:spPr>
        <p:txBody>
          <a:bodyPr wrap="square" lIns="0" tIns="0" rIns="0" bIns="0" rtlCol="0" anchor="ctr"/>
          <a:lstStyle/>
          <a:p>
            <a:r>
              <a:rPr lang="en-US" sz="1267" b="1" kern="0" spc="133" dirty="0">
                <a:solidFill>
                  <a:srgbClr val="D97A28"/>
                </a:solidFill>
                <a:latin typeface="Calibri" pitchFamily="34" charset="0"/>
                <a:ea typeface="Calibri" pitchFamily="34" charset="-122"/>
                <a:cs typeface="Calibri" pitchFamily="34" charset="-120"/>
              </a:rPr>
              <a:t>CONTRAINTES</a:t>
            </a:r>
            <a:endParaRPr lang="en-US" sz="1267" dirty="0"/>
          </a:p>
        </p:txBody>
      </p:sp>
      <p:sp>
        <p:nvSpPr>
          <p:cNvPr id="25" name="Text 23"/>
          <p:cNvSpPr/>
          <p:nvPr/>
        </p:nvSpPr>
        <p:spPr>
          <a:xfrm>
            <a:off x="6096000" y="5096256"/>
            <a:ext cx="2432304" cy="804672"/>
          </a:xfrm>
          <a:prstGeom prst="rect">
            <a:avLst/>
          </a:prstGeom>
          <a:noFill/>
          <a:ln/>
        </p:spPr>
        <p:txBody>
          <a:bodyPr wrap="square" lIns="0" tIns="0" rIns="0" bIns="0" rtlCol="0" anchor="t"/>
          <a:lstStyle/>
          <a:p>
            <a:pPr>
              <a:lnSpc>
                <a:spcPct val="98000"/>
              </a:lnSpc>
            </a:pPr>
            <a:r>
              <a:rPr lang="en-US" sz="1307" dirty="0">
                <a:solidFill>
                  <a:srgbClr val="27313F"/>
                </a:solidFill>
                <a:latin typeface="Calibri" pitchFamily="34" charset="0"/>
                <a:ea typeface="Calibri" pitchFamily="34" charset="-122"/>
                <a:cs typeface="Calibri" pitchFamily="34" charset="-120"/>
              </a:rPr>
              <a:t>TPE sans RSSI, budget limité, primauté de l'excellence technique.</a:t>
            </a:r>
            <a:endParaRPr lang="en-US" sz="1307" dirty="0"/>
          </a:p>
        </p:txBody>
      </p:sp>
      <p:sp>
        <p:nvSpPr>
          <p:cNvPr id="26" name="Text 24"/>
          <p:cNvSpPr/>
          <p:nvPr/>
        </p:nvSpPr>
        <p:spPr>
          <a:xfrm>
            <a:off x="8674608" y="4815840"/>
            <a:ext cx="2456688" cy="292608"/>
          </a:xfrm>
          <a:prstGeom prst="rect">
            <a:avLst/>
          </a:prstGeom>
          <a:noFill/>
          <a:ln/>
        </p:spPr>
        <p:txBody>
          <a:bodyPr wrap="square" lIns="0" tIns="0" rIns="0" bIns="0" rtlCol="0" anchor="ctr"/>
          <a:lstStyle/>
          <a:p>
            <a:r>
              <a:rPr lang="en-US" sz="1267" b="1" kern="0" spc="133" dirty="0">
                <a:solidFill>
                  <a:srgbClr val="D97A28"/>
                </a:solidFill>
                <a:latin typeface="Calibri" pitchFamily="34" charset="0"/>
                <a:ea typeface="Calibri" pitchFamily="34" charset="-122"/>
                <a:cs typeface="Calibri" pitchFamily="34" charset="-120"/>
              </a:rPr>
              <a:t>AMBITION</a:t>
            </a:r>
            <a:endParaRPr lang="en-US" sz="1267" dirty="0"/>
          </a:p>
        </p:txBody>
      </p:sp>
      <p:sp>
        <p:nvSpPr>
          <p:cNvPr id="27" name="Text 25"/>
          <p:cNvSpPr/>
          <p:nvPr/>
        </p:nvSpPr>
        <p:spPr>
          <a:xfrm>
            <a:off x="8674608" y="5096256"/>
            <a:ext cx="2432304" cy="804672"/>
          </a:xfrm>
          <a:prstGeom prst="rect">
            <a:avLst/>
          </a:prstGeom>
          <a:noFill/>
          <a:ln/>
        </p:spPr>
        <p:txBody>
          <a:bodyPr wrap="square" lIns="0" tIns="0" rIns="0" bIns="0" rtlCol="0" anchor="t"/>
          <a:lstStyle/>
          <a:p>
            <a:pPr>
              <a:lnSpc>
                <a:spcPct val="98000"/>
              </a:lnSpc>
            </a:pPr>
            <a:r>
              <a:rPr lang="en-US" sz="1307" dirty="0">
                <a:solidFill>
                  <a:srgbClr val="27313F"/>
                </a:solidFill>
                <a:latin typeface="Calibri" pitchFamily="34" charset="0"/>
                <a:ea typeface="Calibri" pitchFamily="34" charset="-122"/>
                <a:cs typeface="Calibri" pitchFamily="34" charset="-120"/>
              </a:rPr>
              <a:t>Étude générale d'abord ; EBIOS complet + audit ensuite.</a:t>
            </a:r>
            <a:endParaRPr lang="en-US" sz="1307" dirty="0"/>
          </a:p>
        </p:txBody>
      </p:sp>
      <p:sp>
        <p:nvSpPr>
          <p:cNvPr id="28" name="Shape 26"/>
          <p:cNvSpPr/>
          <p:nvPr/>
        </p:nvSpPr>
        <p:spPr>
          <a:xfrm>
            <a:off x="670560" y="6315456"/>
            <a:ext cx="10850880" cy="0"/>
          </a:xfrm>
          <a:prstGeom prst="line">
            <a:avLst/>
          </a:prstGeom>
          <a:noFill/>
          <a:ln w="12700">
            <a:solidFill>
              <a:srgbClr val="D7DEE8"/>
            </a:solidFill>
            <a:prstDash val="solid"/>
          </a:ln>
        </p:spPr>
      </p:sp>
      <p:sp>
        <p:nvSpPr>
          <p:cNvPr id="29" name="Text 27"/>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30" name="Text 28"/>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3</a:t>
            </a:r>
            <a:endParaRPr lang="en-US" sz="113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0E166A2-12AB-383F-7E0E-0029E1432F41}"/>
              </a:ext>
            </a:extLst>
          </p:cNvPr>
          <p:cNvPicPr>
            <a:picLocks noChangeAspect="1"/>
          </p:cNvPicPr>
          <p:nvPr/>
        </p:nvPicPr>
        <p:blipFill>
          <a:blip r:embed="rId3"/>
          <a:srcRect l="6136" t="7941" r="4766" b="16737"/>
          <a:stretch>
            <a:fillRect/>
          </a:stretch>
        </p:blipFill>
        <p:spPr>
          <a:xfrm>
            <a:off x="2126615" y="1731264"/>
            <a:ext cx="7938769" cy="3743581"/>
          </a:xfrm>
          <a:prstGeom prst="rect">
            <a:avLst/>
          </a:prstGeom>
        </p:spPr>
      </p:pic>
      <p:sp>
        <p:nvSpPr>
          <p:cNvPr id="3" name="Shape 33"/>
          <p:cNvSpPr/>
          <p:nvPr/>
        </p:nvSpPr>
        <p:spPr>
          <a:xfrm>
            <a:off x="670560" y="5821680"/>
            <a:ext cx="10850880" cy="414528"/>
          </a:xfrm>
          <a:prstGeom prst="rect">
            <a:avLst/>
          </a:prstGeom>
          <a:solidFill>
            <a:srgbClr val="1E2B45"/>
          </a:solidFill>
          <a:ln/>
        </p:spPr>
      </p:sp>
      <p:sp>
        <p:nvSpPr>
          <p:cNvPr id="4"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MODULE 1 · ÉTUDE DU CONTEXTE</a:t>
            </a:r>
            <a:endParaRPr lang="en-US" sz="1467" dirty="0"/>
          </a:p>
        </p:txBody>
      </p:sp>
      <p:sp>
        <p:nvSpPr>
          <p:cNvPr id="6" name="Text 2"/>
          <p:cNvSpPr/>
          <p:nvPr/>
        </p:nvSpPr>
        <p:spPr>
          <a:xfrm>
            <a:off x="670560" y="829056"/>
            <a:ext cx="10850880" cy="853440"/>
          </a:xfrm>
          <a:prstGeom prst="rect">
            <a:avLst/>
          </a:prstGeom>
          <a:noFill/>
          <a:ln/>
        </p:spPr>
        <p:txBody>
          <a:bodyPr wrap="square" lIns="0" tIns="0" rIns="0" bIns="0" rtlCol="0" anchor="ctr"/>
          <a:lstStyle/>
          <a:p>
            <a:r>
              <a:rPr lang="en-US" sz="3200" b="1" dirty="0">
                <a:solidFill>
                  <a:srgbClr val="1E2B45"/>
                </a:solidFill>
                <a:latin typeface="Georgia" pitchFamily="34" charset="0"/>
                <a:ea typeface="Georgia" pitchFamily="34" charset="-122"/>
                <a:cs typeface="Georgia" pitchFamily="34" charset="-120"/>
              </a:rPr>
              <a:t>Deux zones, un pont : où se situe l'exposition réelle</a:t>
            </a:r>
            <a:endParaRPr lang="en-US" sz="3200" dirty="0"/>
          </a:p>
        </p:txBody>
      </p:sp>
      <p:sp>
        <p:nvSpPr>
          <p:cNvPr id="7" name="Text 34"/>
          <p:cNvSpPr/>
          <p:nvPr/>
        </p:nvSpPr>
        <p:spPr>
          <a:xfrm>
            <a:off x="914399" y="5821680"/>
            <a:ext cx="10363200" cy="414528"/>
          </a:xfrm>
          <a:prstGeom prst="rect">
            <a:avLst/>
          </a:prstGeom>
          <a:noFill/>
          <a:ln/>
        </p:spPr>
        <p:txBody>
          <a:bodyPr wrap="square" lIns="0" tIns="0" rIns="0" bIns="0" rtlCol="0" anchor="ctr"/>
          <a:lstStyle/>
          <a:p>
            <a:r>
              <a:rPr lang="en-US" sz="1400" b="1" dirty="0">
                <a:solidFill>
                  <a:srgbClr val="D97A28"/>
                </a:solidFill>
                <a:latin typeface="Calibri" pitchFamily="34" charset="0"/>
                <a:ea typeface="Calibri" pitchFamily="34" charset="-122"/>
                <a:cs typeface="Calibri" pitchFamily="34" charset="-120"/>
              </a:rPr>
              <a:t>Le constat clé : </a:t>
            </a:r>
            <a:r>
              <a:rPr lang="en-US" sz="1400" dirty="0">
                <a:solidFill>
                  <a:srgbClr val="FFFFFF"/>
                </a:solidFill>
                <a:latin typeface="Calibri" pitchFamily="34" charset="0"/>
                <a:ea typeface="Calibri" pitchFamily="34" charset="-122"/>
                <a:cs typeface="Calibri" pitchFamily="34" charset="-120"/>
              </a:rPr>
              <a:t>l'isolement réseau (air-gap) est contourné par les clés USB et l'accès physique. C'est là, et non sur les serveurs, que se joue le </a:t>
            </a:r>
            <a:r>
              <a:rPr lang="en-US" sz="1400" dirty="0" err="1">
                <a:solidFill>
                  <a:srgbClr val="FFFFFF"/>
                </a:solidFill>
                <a:latin typeface="Calibri" pitchFamily="34" charset="0"/>
                <a:ea typeface="Calibri" pitchFamily="34" charset="-122"/>
                <a:cs typeface="Calibri" pitchFamily="34" charset="-120"/>
              </a:rPr>
              <a:t>risque</a:t>
            </a: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36"/>
          <p:cNvSpPr/>
          <p:nvPr/>
        </p:nvSpPr>
        <p:spPr>
          <a:xfrm>
            <a:off x="670560" y="6388608"/>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10" name="Text 37"/>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4</a:t>
            </a:r>
            <a:endParaRPr lang="en-US" sz="1133" dirty="0"/>
          </a:p>
        </p:txBody>
      </p:sp>
      <p:sp>
        <p:nvSpPr>
          <p:cNvPr id="11" name="Shape 26">
            <a:extLst>
              <a:ext uri="{FF2B5EF4-FFF2-40B4-BE49-F238E27FC236}">
                <a16:creationId xmlns:a16="http://schemas.microsoft.com/office/drawing/2014/main" id="{D13D58AD-13AC-5192-075F-4B858F85C07F}"/>
              </a:ext>
            </a:extLst>
          </p:cNvPr>
          <p:cNvSpPr/>
          <p:nvPr/>
        </p:nvSpPr>
        <p:spPr>
          <a:xfrm>
            <a:off x="670560" y="6315456"/>
            <a:ext cx="10850880" cy="0"/>
          </a:xfrm>
          <a:prstGeom prst="line">
            <a:avLst/>
          </a:prstGeom>
          <a:noFill/>
          <a:ln w="12700">
            <a:solidFill>
              <a:srgbClr val="D7DEE8"/>
            </a:solidFill>
            <a:prstDash val="solid"/>
          </a:ln>
        </p:spPr>
      </p:sp>
    </p:spTree>
    <p:extLst>
      <p:ext uri="{BB962C8B-B14F-4D97-AF65-F5344CB8AC3E}">
        <p14:creationId xmlns:p14="http://schemas.microsoft.com/office/powerpoint/2010/main" val="2345135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200" b="1" kern="0" spc="300" dirty="0">
                <a:solidFill>
                  <a:srgbClr val="E07B16"/>
                </a:solidFill>
                <a:latin typeface="Calibri" pitchFamily="34" charset="0"/>
                <a:ea typeface="Calibri" pitchFamily="34" charset="-122"/>
                <a:cs typeface="Calibri" pitchFamily="34" charset="-120"/>
              </a:rPr>
              <a:t>MODULE 1 · BIENS ESSENTIELS</a:t>
            </a:r>
            <a:endParaRPr lang="en-US" sz="1200" dirty="0"/>
          </a:p>
        </p:txBody>
      </p:sp>
      <p:sp>
        <p:nvSpPr>
          <p:cNvPr id="3" name="Text 1"/>
          <p:cNvSpPr/>
          <p:nvPr/>
        </p:nvSpPr>
        <p:spPr>
          <a:xfrm>
            <a:off x="640080" y="640080"/>
            <a:ext cx="10972800" cy="685800"/>
          </a:xfrm>
          <a:prstGeom prst="rect">
            <a:avLst/>
          </a:prstGeom>
          <a:noFill/>
          <a:ln/>
        </p:spPr>
        <p:txBody>
          <a:bodyPr wrap="square" lIns="0" tIns="0" rIns="0" bIns="0" rtlCol="0" anchor="ctr"/>
          <a:lstStyle/>
          <a:p>
            <a:pPr marL="0" indent="0">
              <a:buNone/>
            </a:pPr>
            <a:r>
              <a:rPr lang="en-US" sz="3000" b="1" dirty="0">
                <a:solidFill>
                  <a:srgbClr val="1F2A44"/>
                </a:solidFill>
                <a:latin typeface="Cambria" pitchFamily="34" charset="0"/>
                <a:ea typeface="Cambria" pitchFamily="34" charset="-122"/>
                <a:cs typeface="Cambria" pitchFamily="34" charset="-120"/>
              </a:rPr>
              <a:t>Cartographie des biens essentiels et besoins C / I / D</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2837338138"/>
              </p:ext>
            </p:extLst>
          </p:nvPr>
        </p:nvGraphicFramePr>
        <p:xfrm>
          <a:off x="640080" y="1737360"/>
          <a:ext cx="10972800" cy="3474720"/>
        </p:xfrm>
        <a:graphic>
          <a:graphicData uri="http://schemas.openxmlformats.org/drawingml/2006/table">
            <a:tbl>
              <a:tblPr/>
              <a:tblGrid>
                <a:gridCol w="27432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309360">
                  <a:extLst>
                    <a:ext uri="{9D8B030D-6E8A-4147-A177-3AD203B41FA5}">
                      <a16:colId xmlns:a16="http://schemas.microsoft.com/office/drawing/2014/main" val="20004"/>
                    </a:ext>
                  </a:extLst>
                </a:gridCol>
              </a:tblGrid>
              <a:tr h="41148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Bien essentiel</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Justification du besoin</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68680">
                <a:tc>
                  <a:txBody>
                    <a:bodyPr/>
                    <a:lstStyle/>
                    <a:p>
                      <a:pPr marL="0" indent="0" algn="l">
                        <a:buNone/>
                      </a:pPr>
                      <a:r>
                        <a:rPr lang="en-US" sz="1400" b="1" dirty="0">
                          <a:solidFill>
                            <a:srgbClr val="1F2A44"/>
                          </a:solidFill>
                          <a:latin typeface="Calibri" pitchFamily="34" charset="0"/>
                          <a:ea typeface="Calibri" pitchFamily="34" charset="-122"/>
                          <a:cs typeface="Calibri" pitchFamily="34" charset="-120"/>
                        </a:rPr>
                        <a:t>BE1 — Études techniques</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C0392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C0392B"/>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E07B16"/>
                    </a:solidFill>
                  </a:tcPr>
                </a:tc>
                <a:tc>
                  <a:txBody>
                    <a:bodyPr/>
                    <a:lstStyle/>
                    <a:p>
                      <a:pPr marL="0" indent="0" algn="l">
                        <a:buNone/>
                      </a:pPr>
                      <a:r>
                        <a:rPr lang="en-US" sz="1400" dirty="0">
                          <a:solidFill>
                            <a:srgbClr val="30384A"/>
                          </a:solidFill>
                          <a:latin typeface="Calibri" pitchFamily="34" charset="0"/>
                          <a:ea typeface="Calibri" pitchFamily="34" charset="-122"/>
                          <a:cs typeface="Calibri" pitchFamily="34" charset="-120"/>
                        </a:rPr>
                        <a:t>Espionnage du savoir-faire (C) ; </a:t>
                      </a:r>
                    </a:p>
                    <a:p>
                      <a:pPr marL="0" indent="0" algn="l">
                        <a:buNone/>
                      </a:pPr>
                      <a:r>
                        <a:rPr lang="en-US" sz="1400" dirty="0" err="1">
                          <a:solidFill>
                            <a:srgbClr val="30384A"/>
                          </a:solidFill>
                          <a:latin typeface="Calibri" pitchFamily="34" charset="0"/>
                          <a:ea typeface="Calibri" pitchFamily="34" charset="-122"/>
                          <a:cs typeface="Calibri" pitchFamily="34" charset="-120"/>
                        </a:rPr>
                        <a:t>Intégrité</a:t>
                      </a:r>
                      <a:r>
                        <a:rPr lang="en-US" sz="1400" dirty="0">
                          <a:solidFill>
                            <a:srgbClr val="30384A"/>
                          </a:solidFill>
                          <a:latin typeface="Calibri" pitchFamily="34" charset="0"/>
                          <a:ea typeface="Calibri" pitchFamily="34" charset="-122"/>
                          <a:cs typeface="Calibri" pitchFamily="34" charset="-120"/>
                        </a:rPr>
                        <a:t> = responsabilité pénale et vies humaines (I) ; </a:t>
                      </a:r>
                    </a:p>
                    <a:p>
                      <a:pPr marL="0" indent="0" algn="l">
                        <a:buNone/>
                      </a:pPr>
                      <a:r>
                        <a:rPr lang="en-US" sz="1400" dirty="0">
                          <a:solidFill>
                            <a:srgbClr val="30384A"/>
                          </a:solidFill>
                          <a:latin typeface="Calibri" pitchFamily="34" charset="0"/>
                          <a:ea typeface="Calibri" pitchFamily="34" charset="-122"/>
                          <a:cs typeface="Calibri" pitchFamily="34" charset="-120"/>
                        </a:rPr>
                        <a:t>Conservation illimitée (D).</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lgn="l">
                        <a:buNone/>
                      </a:pPr>
                      <a:r>
                        <a:rPr lang="en-US" sz="1400" b="1" dirty="0">
                          <a:solidFill>
                            <a:srgbClr val="1F2A44"/>
                          </a:solidFill>
                          <a:latin typeface="Calibri" pitchFamily="34" charset="0"/>
                          <a:ea typeface="Calibri" pitchFamily="34" charset="-122"/>
                          <a:cs typeface="Calibri" pitchFamily="34" charset="-120"/>
                        </a:rPr>
                        <a:t>BE2 — Données commerciales</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C0392B"/>
                    </a:solidFill>
                  </a:tcPr>
                </a:tc>
                <a:tc>
                  <a:txBody>
                    <a:bodyPr/>
                    <a:lstStyle/>
                    <a:p>
                      <a:pPr marL="0" indent="0" algn="ctr">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F2C014"/>
                    </a:solidFill>
                  </a:tcPr>
                </a:tc>
                <a:tc>
                  <a:txBody>
                    <a:bodyPr/>
                    <a:lstStyle/>
                    <a:p>
                      <a:pPr marL="0" indent="0" algn="ctr">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F2C014"/>
                    </a:solidFill>
                  </a:tcPr>
                </a:tc>
                <a:tc>
                  <a:txBody>
                    <a:bodyPr/>
                    <a:lstStyle/>
                    <a:p>
                      <a:pPr marL="0" indent="0" algn="l">
                        <a:buNone/>
                      </a:pPr>
                      <a:r>
                        <a:rPr lang="en-US" sz="1400" dirty="0">
                          <a:solidFill>
                            <a:srgbClr val="30384A"/>
                          </a:solidFill>
                          <a:latin typeface="Calibri" pitchFamily="34" charset="0"/>
                          <a:ea typeface="Calibri" pitchFamily="34" charset="-122"/>
                          <a:cs typeface="Calibri" pitchFamily="34" charset="-120"/>
                        </a:rPr>
                        <a:t>La fuite des prix entraîne directement la perte </a:t>
                      </a:r>
                      <a:r>
                        <a:rPr lang="en-US" sz="1400" dirty="0" err="1">
                          <a:solidFill>
                            <a:srgbClr val="30384A"/>
                          </a:solidFill>
                          <a:latin typeface="Calibri" pitchFamily="34" charset="0"/>
                          <a:ea typeface="Calibri" pitchFamily="34" charset="-122"/>
                          <a:cs typeface="Calibri" pitchFamily="34" charset="-120"/>
                        </a:rPr>
                        <a:t>d'appels</a:t>
                      </a:r>
                      <a:r>
                        <a:rPr lang="en-US" sz="1400" dirty="0">
                          <a:solidFill>
                            <a:srgbClr val="30384A"/>
                          </a:solidFill>
                          <a:latin typeface="Calibri" pitchFamily="34" charset="0"/>
                          <a:ea typeface="Calibri" pitchFamily="34" charset="-122"/>
                          <a:cs typeface="Calibri" pitchFamily="34" charset="-120"/>
                        </a:rPr>
                        <a:t> </a:t>
                      </a:r>
                      <a:r>
                        <a:rPr lang="en-US" sz="1400" dirty="0" err="1">
                          <a:solidFill>
                            <a:srgbClr val="30384A"/>
                          </a:solidFill>
                          <a:latin typeface="Calibri" pitchFamily="34" charset="0"/>
                          <a:ea typeface="Calibri" pitchFamily="34" charset="-122"/>
                          <a:cs typeface="Calibri" pitchFamily="34" charset="-120"/>
                        </a:rPr>
                        <a:t>d'offres</a:t>
                      </a:r>
                      <a:r>
                        <a:rPr lang="en-US" sz="1400" dirty="0">
                          <a:solidFill>
                            <a:srgbClr val="30384A"/>
                          </a:solidFill>
                          <a:latin typeface="Calibri" pitchFamily="34" charset="0"/>
                          <a:ea typeface="Calibri" pitchFamily="34" charset="-122"/>
                          <a:cs typeface="Calibri" pitchFamily="34" charset="-120"/>
                        </a:rPr>
                        <a:t> (</a:t>
                      </a:r>
                      <a:r>
                        <a:rPr lang="en-US" sz="1400" dirty="0" err="1">
                          <a:solidFill>
                            <a:srgbClr val="30384A"/>
                          </a:solidFill>
                          <a:latin typeface="Calibri" pitchFamily="34" charset="0"/>
                          <a:ea typeface="Calibri" pitchFamily="34" charset="-122"/>
                          <a:cs typeface="Calibri" pitchFamily="34" charset="-120"/>
                        </a:rPr>
                        <a:t>cœur</a:t>
                      </a:r>
                      <a:r>
                        <a:rPr lang="en-US" sz="1400" dirty="0">
                          <a:solidFill>
                            <a:srgbClr val="30384A"/>
                          </a:solidFill>
                          <a:latin typeface="Calibri" pitchFamily="34" charset="0"/>
                          <a:ea typeface="Calibri" pitchFamily="34" charset="-122"/>
                          <a:cs typeface="Calibri" pitchFamily="34" charset="-120"/>
                        </a:rPr>
                        <a:t> du </a:t>
                      </a:r>
                      <a:r>
                        <a:rPr lang="en-US" sz="1400" dirty="0" err="1">
                          <a:solidFill>
                            <a:srgbClr val="30384A"/>
                          </a:solidFill>
                          <a:latin typeface="Calibri" pitchFamily="34" charset="0"/>
                          <a:ea typeface="Calibri" pitchFamily="34" charset="-122"/>
                          <a:cs typeface="Calibri" pitchFamily="34" charset="-120"/>
                        </a:rPr>
                        <a:t>déclencheur</a:t>
                      </a:r>
                      <a:r>
                        <a:rPr lang="en-US" sz="1400" dirty="0">
                          <a:solidFill>
                            <a:srgbClr val="30384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lgn="l">
                        <a:buNone/>
                      </a:pPr>
                      <a:r>
                        <a:rPr lang="en-US" sz="1400" b="1" dirty="0">
                          <a:solidFill>
                            <a:srgbClr val="1F2A44"/>
                          </a:solidFill>
                          <a:latin typeface="Calibri" pitchFamily="34" charset="0"/>
                          <a:ea typeface="Calibri" pitchFamily="34" charset="-122"/>
                          <a:cs typeface="Calibri" pitchFamily="34" charset="-120"/>
                        </a:rPr>
                        <a:t>BE3 — Messages / correspondance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E07B16"/>
                    </a:solidFill>
                  </a:tcPr>
                </a:tc>
                <a:tc>
                  <a:txBody>
                    <a:bodyPr/>
                    <a:lstStyle/>
                    <a:p>
                      <a:pPr marL="0" indent="0" algn="ctr">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F2C01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E07B16"/>
                    </a:solidFill>
                  </a:tcPr>
                </a:tc>
                <a:tc>
                  <a:txBody>
                    <a:bodyPr/>
                    <a:lstStyle/>
                    <a:p>
                      <a:pPr marL="0" indent="0" algn="l">
                        <a:buNone/>
                      </a:pPr>
                      <a:r>
                        <a:rPr lang="en-US" sz="1400" dirty="0">
                          <a:solidFill>
                            <a:srgbClr val="30384A"/>
                          </a:solidFill>
                          <a:latin typeface="Calibri" pitchFamily="34" charset="0"/>
                          <a:ea typeface="Calibri" pitchFamily="34" charset="-122"/>
                          <a:cs typeface="Calibri" pitchFamily="34" charset="-120"/>
                        </a:rPr>
                        <a:t>Échanges sensibles internes/externes ; continuité de l'activité.</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marL="0" indent="0" algn="l">
                        <a:buNone/>
                      </a:pPr>
                      <a:r>
                        <a:rPr lang="en-US" sz="1400" b="1" dirty="0">
                          <a:solidFill>
                            <a:srgbClr val="1F2A44"/>
                          </a:solidFill>
                          <a:latin typeface="Calibri" pitchFamily="34" charset="0"/>
                          <a:ea typeface="Calibri" pitchFamily="34" charset="-122"/>
                          <a:cs typeface="Calibri" pitchFamily="34" charset="-120"/>
                        </a:rPr>
                        <a:t>BE4 — Données admin. &amp; RH</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E07B16"/>
                    </a:solidFill>
                  </a:tcPr>
                </a:tc>
                <a:tc>
                  <a:txBody>
                    <a:bodyPr/>
                    <a:lstStyle/>
                    <a:p>
                      <a:pPr marL="0" indent="0" algn="ctr">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F2C014"/>
                    </a:solidFill>
                  </a:tcPr>
                </a:tc>
                <a:tc>
                  <a:txBody>
                    <a:bodyPr/>
                    <a:lstStyle/>
                    <a:p>
                      <a:pPr marL="0" indent="0" algn="ctr">
                        <a:buNone/>
                      </a:pPr>
                      <a:r>
                        <a:rPr lang="en-US" sz="1400" b="1"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EEF1F6"/>
                    </a:solidFill>
                  </a:tcPr>
                </a:tc>
                <a:tc>
                  <a:txBody>
                    <a:bodyPr/>
                    <a:lstStyle/>
                    <a:p>
                      <a:pPr marL="0" indent="0" algn="l">
                        <a:buNone/>
                      </a:pPr>
                      <a:r>
                        <a:rPr lang="en-US" sz="1400" dirty="0">
                          <a:solidFill>
                            <a:srgbClr val="30384A"/>
                          </a:solidFill>
                          <a:latin typeface="Calibri" pitchFamily="34" charset="0"/>
                          <a:ea typeface="Calibri" pitchFamily="34" charset="-122"/>
                          <a:cs typeface="Calibri" pitchFamily="34" charset="-120"/>
                        </a:rPr>
                        <a:t>Données nominatives soumises au RGPD.</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2"/>
          <p:cNvSpPr/>
          <p:nvPr/>
        </p:nvSpPr>
        <p:spPr>
          <a:xfrm>
            <a:off x="640080" y="5646420"/>
            <a:ext cx="10972800" cy="274320"/>
          </a:xfrm>
          <a:prstGeom prst="rect">
            <a:avLst/>
          </a:prstGeom>
          <a:noFill/>
          <a:ln/>
        </p:spPr>
        <p:txBody>
          <a:bodyPr wrap="square" lIns="0" tIns="0" rIns="0" bIns="0" rtlCol="0" anchor="ctr"/>
          <a:lstStyle/>
          <a:p>
            <a:pPr marL="0" indent="0">
              <a:buNone/>
            </a:pPr>
            <a:r>
              <a:rPr lang="en-US" sz="1200" b="1" i="1" dirty="0">
                <a:solidFill>
                  <a:srgbClr val="5B6B82"/>
                </a:solidFill>
                <a:latin typeface="Calibri" pitchFamily="34" charset="0"/>
                <a:ea typeface="Calibri" pitchFamily="34" charset="-122"/>
                <a:cs typeface="Calibri" pitchFamily="34" charset="-120"/>
              </a:rPr>
              <a:t>Échelle : 1 négligeable · 2 limité · 3 fort · 4 critique     —     C Confidentialité · I Intégrité · D Disponibilité</a:t>
            </a:r>
            <a:endParaRPr lang="en-US" sz="1200" b="1" dirty="0"/>
          </a:p>
        </p:txBody>
      </p:sp>
      <p:sp>
        <p:nvSpPr>
          <p:cNvPr id="7" name="Text 4"/>
          <p:cNvSpPr/>
          <p:nvPr/>
        </p:nvSpPr>
        <p:spPr>
          <a:xfrm>
            <a:off x="11091672" y="6473952"/>
            <a:ext cx="4572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5</a:t>
            </a:r>
            <a:endParaRPr lang="en-US" sz="900" dirty="0"/>
          </a:p>
        </p:txBody>
      </p:sp>
      <p:sp>
        <p:nvSpPr>
          <p:cNvPr id="10" name="Shape 13">
            <a:extLst>
              <a:ext uri="{FF2B5EF4-FFF2-40B4-BE49-F238E27FC236}">
                <a16:creationId xmlns:a16="http://schemas.microsoft.com/office/drawing/2014/main" id="{2C557388-6251-2F84-2AE0-55101EC5349D}"/>
              </a:ext>
            </a:extLst>
          </p:cNvPr>
          <p:cNvSpPr/>
          <p:nvPr/>
        </p:nvSpPr>
        <p:spPr>
          <a:xfrm>
            <a:off x="670560" y="6315456"/>
            <a:ext cx="10850880" cy="0"/>
          </a:xfrm>
          <a:prstGeom prst="line">
            <a:avLst/>
          </a:prstGeom>
          <a:noFill/>
          <a:ln w="12700">
            <a:solidFill>
              <a:srgbClr val="D7DEE8"/>
            </a:solidFill>
            <a:prstDash val="solid"/>
          </a:ln>
        </p:spPr>
      </p:sp>
      <p:sp>
        <p:nvSpPr>
          <p:cNvPr id="11" name="Text 14">
            <a:extLst>
              <a:ext uri="{FF2B5EF4-FFF2-40B4-BE49-F238E27FC236}">
                <a16:creationId xmlns:a16="http://schemas.microsoft.com/office/drawing/2014/main" id="{8F906A59-49C2-90BC-4A51-7352C24F2D3B}"/>
              </a:ext>
            </a:extLst>
          </p:cNvPr>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MODULE 1 · BIENS SUPPORTS</a:t>
            </a:r>
            <a:endParaRPr lang="en-US" sz="1467" dirty="0"/>
          </a:p>
        </p:txBody>
      </p:sp>
      <p:sp>
        <p:nvSpPr>
          <p:cNvPr id="4" name="Text 2"/>
          <p:cNvSpPr/>
          <p:nvPr/>
        </p:nvSpPr>
        <p:spPr>
          <a:xfrm>
            <a:off x="670560" y="829056"/>
            <a:ext cx="10850880" cy="853440"/>
          </a:xfrm>
          <a:prstGeom prst="rect">
            <a:avLst/>
          </a:prstGeom>
          <a:noFill/>
          <a:ln/>
        </p:spPr>
        <p:txBody>
          <a:bodyPr wrap="square" lIns="0" tIns="0" rIns="0" bIns="0" rtlCol="0" anchor="ctr"/>
          <a:lstStyle/>
          <a:p>
            <a:r>
              <a:rPr lang="en-US" sz="3200" b="1" dirty="0">
                <a:solidFill>
                  <a:srgbClr val="1E2B45"/>
                </a:solidFill>
                <a:latin typeface="Georgia" pitchFamily="34" charset="0"/>
                <a:ea typeface="Georgia" pitchFamily="34" charset="-122"/>
                <a:cs typeface="Georgia" pitchFamily="34" charset="-120"/>
              </a:rPr>
              <a:t>Biens supports et relations avec les biens essentiels</a:t>
            </a:r>
            <a:endParaRPr lang="en-US" sz="3200" dirty="0"/>
          </a:p>
        </p:txBody>
      </p:sp>
      <p:sp>
        <p:nvSpPr>
          <p:cNvPr id="5" name="Shape 3"/>
          <p:cNvSpPr/>
          <p:nvPr/>
        </p:nvSpPr>
        <p:spPr>
          <a:xfrm>
            <a:off x="670560" y="1828800"/>
            <a:ext cx="4267200" cy="408432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6" name="Shape 4"/>
          <p:cNvSpPr/>
          <p:nvPr/>
        </p:nvSpPr>
        <p:spPr>
          <a:xfrm>
            <a:off x="670560" y="1828800"/>
            <a:ext cx="4267200" cy="85344"/>
          </a:xfrm>
          <a:prstGeom prst="rect">
            <a:avLst/>
          </a:prstGeom>
          <a:solidFill>
            <a:srgbClr val="2B3F63"/>
          </a:solidFill>
          <a:ln/>
        </p:spPr>
      </p:sp>
      <p:sp>
        <p:nvSpPr>
          <p:cNvPr id="7" name="Text 5"/>
          <p:cNvSpPr/>
          <p:nvPr/>
        </p:nvSpPr>
        <p:spPr>
          <a:xfrm>
            <a:off x="914400" y="1975104"/>
            <a:ext cx="3779520" cy="365760"/>
          </a:xfrm>
          <a:prstGeom prst="rect">
            <a:avLst/>
          </a:prstGeom>
          <a:noFill/>
          <a:ln/>
        </p:spPr>
        <p:txBody>
          <a:bodyPr wrap="square" lIns="0" tIns="0" rIns="0" bIns="0" rtlCol="0" anchor="ctr"/>
          <a:lstStyle/>
          <a:p>
            <a:r>
              <a:rPr lang="en-US" b="1" dirty="0">
                <a:solidFill>
                  <a:srgbClr val="1E2B45"/>
                </a:solidFill>
                <a:latin typeface="Georgia" pitchFamily="34" charset="0"/>
                <a:ea typeface="Georgia" pitchFamily="34" charset="-122"/>
                <a:cs typeface="Georgia" pitchFamily="34" charset="-120"/>
              </a:rPr>
              <a:t>Par catégorie</a:t>
            </a:r>
            <a:endParaRPr lang="en-US" dirty="0"/>
          </a:p>
        </p:txBody>
      </p:sp>
      <p:sp>
        <p:nvSpPr>
          <p:cNvPr id="8" name="Text 6"/>
          <p:cNvSpPr/>
          <p:nvPr/>
        </p:nvSpPr>
        <p:spPr>
          <a:xfrm>
            <a:off x="914400" y="2414016"/>
            <a:ext cx="3803904" cy="548640"/>
          </a:xfrm>
          <a:prstGeom prst="rect">
            <a:avLst/>
          </a:prstGeom>
          <a:noFill/>
          <a:ln/>
        </p:spPr>
        <p:txBody>
          <a:bodyPr wrap="square" lIns="0" tIns="0" rIns="0" bIns="0" rtlCol="0" anchor="t"/>
          <a:lstStyle/>
          <a:p>
            <a:pPr>
              <a:lnSpc>
                <a:spcPct val="95000"/>
              </a:lnSpc>
            </a:pPr>
            <a:r>
              <a:rPr lang="en-US" sz="1400" b="1" dirty="0">
                <a:solidFill>
                  <a:srgbClr val="D97A28"/>
                </a:solidFill>
                <a:latin typeface="Calibri" pitchFamily="34" charset="0"/>
                <a:ea typeface="Calibri" pitchFamily="34" charset="-122"/>
                <a:cs typeface="Calibri" pitchFamily="34" charset="-120"/>
              </a:rPr>
              <a:t>Matériel : </a:t>
            </a:r>
            <a:r>
              <a:rPr lang="en-US" sz="1400" dirty="0">
                <a:solidFill>
                  <a:srgbClr val="27313F"/>
                </a:solidFill>
                <a:latin typeface="Calibri" pitchFamily="34" charset="0"/>
                <a:ea typeface="Calibri" pitchFamily="34" charset="-122"/>
                <a:cs typeface="Calibri" pitchFamily="34" charset="-120"/>
              </a:rPr>
              <a:t>PC fixes (USB ouverts), 2 portables, 2 consoles, imprimante</a:t>
            </a:r>
            <a:endParaRPr lang="en-US" sz="1400" dirty="0"/>
          </a:p>
        </p:txBody>
      </p:sp>
      <p:sp>
        <p:nvSpPr>
          <p:cNvPr id="9" name="Text 7"/>
          <p:cNvSpPr/>
          <p:nvPr/>
        </p:nvSpPr>
        <p:spPr>
          <a:xfrm>
            <a:off x="914400" y="2993136"/>
            <a:ext cx="3803904" cy="548640"/>
          </a:xfrm>
          <a:prstGeom prst="rect">
            <a:avLst/>
          </a:prstGeom>
          <a:noFill/>
          <a:ln/>
        </p:spPr>
        <p:txBody>
          <a:bodyPr wrap="square" lIns="0" tIns="0" rIns="0" bIns="0" rtlCol="0" anchor="t"/>
          <a:lstStyle/>
          <a:p>
            <a:pPr>
              <a:lnSpc>
                <a:spcPct val="95000"/>
              </a:lnSpc>
            </a:pPr>
            <a:r>
              <a:rPr lang="en-US" sz="1400" b="1" dirty="0">
                <a:solidFill>
                  <a:srgbClr val="D97A28"/>
                </a:solidFill>
                <a:latin typeface="Calibri" pitchFamily="34" charset="0"/>
                <a:ea typeface="Calibri" pitchFamily="34" charset="-122"/>
                <a:cs typeface="Calibri" pitchFamily="34" charset="-120"/>
              </a:rPr>
              <a:t>Serveurs : </a:t>
            </a:r>
            <a:r>
              <a:rPr lang="en-US" sz="1400" dirty="0">
                <a:solidFill>
                  <a:srgbClr val="27313F"/>
                </a:solidFill>
                <a:latin typeface="Calibri" pitchFamily="34" charset="0"/>
                <a:ea typeface="Calibri" pitchFamily="34" charset="-122"/>
                <a:cs typeface="Calibri" pitchFamily="34" charset="-120"/>
              </a:rPr>
              <a:t>logiciels métier, messagerie interne, sauvegarde RAID + miroir</a:t>
            </a:r>
            <a:endParaRPr lang="en-US" sz="1400" dirty="0"/>
          </a:p>
        </p:txBody>
      </p:sp>
      <p:sp>
        <p:nvSpPr>
          <p:cNvPr id="10" name="Text 8"/>
          <p:cNvSpPr/>
          <p:nvPr/>
        </p:nvSpPr>
        <p:spPr>
          <a:xfrm>
            <a:off x="914400" y="3572256"/>
            <a:ext cx="3803904" cy="548640"/>
          </a:xfrm>
          <a:prstGeom prst="rect">
            <a:avLst/>
          </a:prstGeom>
          <a:noFill/>
          <a:ln/>
        </p:spPr>
        <p:txBody>
          <a:bodyPr wrap="square" lIns="0" tIns="0" rIns="0" bIns="0" rtlCol="0" anchor="t"/>
          <a:lstStyle/>
          <a:p>
            <a:pPr>
              <a:lnSpc>
                <a:spcPct val="95000"/>
              </a:lnSpc>
            </a:pPr>
            <a:r>
              <a:rPr lang="en-US" sz="1400" b="1" dirty="0">
                <a:solidFill>
                  <a:srgbClr val="D97A28"/>
                </a:solidFill>
                <a:latin typeface="Calibri" pitchFamily="34" charset="0"/>
                <a:ea typeface="Calibri" pitchFamily="34" charset="-122"/>
                <a:cs typeface="Calibri" pitchFamily="34" charset="-120"/>
              </a:rPr>
              <a:t>Amovibles : </a:t>
            </a:r>
            <a:r>
              <a:rPr lang="en-US" sz="1400" dirty="0">
                <a:solidFill>
                  <a:srgbClr val="27313F"/>
                </a:solidFill>
                <a:latin typeface="Calibri" pitchFamily="34" charset="0"/>
                <a:ea typeface="Calibri" pitchFamily="34" charset="-122"/>
                <a:cs typeface="Calibri" pitchFamily="34" charset="-120"/>
              </a:rPr>
              <a:t>clés USB, DVD</a:t>
            </a:r>
            <a:endParaRPr lang="en-US" sz="1400" dirty="0"/>
          </a:p>
        </p:txBody>
      </p:sp>
      <p:sp>
        <p:nvSpPr>
          <p:cNvPr id="11" name="Text 9"/>
          <p:cNvSpPr/>
          <p:nvPr/>
        </p:nvSpPr>
        <p:spPr>
          <a:xfrm>
            <a:off x="914400" y="4151376"/>
            <a:ext cx="3803904" cy="548640"/>
          </a:xfrm>
          <a:prstGeom prst="rect">
            <a:avLst/>
          </a:prstGeom>
          <a:noFill/>
          <a:ln/>
        </p:spPr>
        <p:txBody>
          <a:bodyPr wrap="square" lIns="0" tIns="0" rIns="0" bIns="0" rtlCol="0" anchor="t"/>
          <a:lstStyle/>
          <a:p>
            <a:pPr>
              <a:lnSpc>
                <a:spcPct val="95000"/>
              </a:lnSpc>
            </a:pPr>
            <a:r>
              <a:rPr lang="en-US" sz="1400" b="1" dirty="0">
                <a:solidFill>
                  <a:srgbClr val="D97A28"/>
                </a:solidFill>
                <a:latin typeface="Calibri" pitchFamily="34" charset="0"/>
                <a:ea typeface="Calibri" pitchFamily="34" charset="-122"/>
                <a:cs typeface="Calibri" pitchFamily="34" charset="-120"/>
              </a:rPr>
              <a:t>Réseau : </a:t>
            </a:r>
            <a:r>
              <a:rPr lang="en-US" sz="1400" dirty="0">
                <a:solidFill>
                  <a:srgbClr val="27313F"/>
                </a:solidFill>
                <a:latin typeface="Calibri" pitchFamily="34" charset="0"/>
                <a:ea typeface="Calibri" pitchFamily="34" charset="-122"/>
                <a:cs typeface="Calibri" pitchFamily="34" charset="-120"/>
              </a:rPr>
              <a:t>LAN câblé isolé ; lien Internet externe</a:t>
            </a:r>
            <a:endParaRPr lang="en-US" sz="1400" dirty="0"/>
          </a:p>
        </p:txBody>
      </p:sp>
      <p:sp>
        <p:nvSpPr>
          <p:cNvPr id="12" name="Text 10"/>
          <p:cNvSpPr/>
          <p:nvPr/>
        </p:nvSpPr>
        <p:spPr>
          <a:xfrm>
            <a:off x="914400" y="4730496"/>
            <a:ext cx="3803904" cy="548640"/>
          </a:xfrm>
          <a:prstGeom prst="rect">
            <a:avLst/>
          </a:prstGeom>
          <a:noFill/>
          <a:ln/>
        </p:spPr>
        <p:txBody>
          <a:bodyPr wrap="square" lIns="0" tIns="0" rIns="0" bIns="0" rtlCol="0" anchor="t"/>
          <a:lstStyle/>
          <a:p>
            <a:pPr>
              <a:lnSpc>
                <a:spcPct val="95000"/>
              </a:lnSpc>
            </a:pPr>
            <a:r>
              <a:rPr lang="en-US" sz="1400" b="1" dirty="0">
                <a:solidFill>
                  <a:srgbClr val="D97A28"/>
                </a:solidFill>
                <a:latin typeface="Calibri" pitchFamily="34" charset="0"/>
                <a:ea typeface="Calibri" pitchFamily="34" charset="-122"/>
                <a:cs typeface="Calibri" pitchFamily="34" charset="-120"/>
              </a:rPr>
              <a:t>Locaux : </a:t>
            </a:r>
            <a:r>
              <a:rPr lang="en-US" sz="1400" dirty="0">
                <a:solidFill>
                  <a:srgbClr val="27313F"/>
                </a:solidFill>
                <a:latin typeface="Calibri" pitchFamily="34" charset="0"/>
                <a:ea typeface="Calibri" pitchFamily="34" charset="-122"/>
                <a:cs typeface="Calibri" pitchFamily="34" charset="-120"/>
              </a:rPr>
              <a:t>bureaux/armoires (clé), salle serveurs (clé)</a:t>
            </a:r>
            <a:endParaRPr lang="en-US" sz="1400" dirty="0"/>
          </a:p>
        </p:txBody>
      </p:sp>
      <p:sp>
        <p:nvSpPr>
          <p:cNvPr id="13" name="Text 11"/>
          <p:cNvSpPr/>
          <p:nvPr/>
        </p:nvSpPr>
        <p:spPr>
          <a:xfrm>
            <a:off x="914400" y="5309616"/>
            <a:ext cx="3803904" cy="548640"/>
          </a:xfrm>
          <a:prstGeom prst="rect">
            <a:avLst/>
          </a:prstGeom>
          <a:noFill/>
          <a:ln/>
        </p:spPr>
        <p:txBody>
          <a:bodyPr wrap="square" lIns="0" tIns="0" rIns="0" bIns="0" rtlCol="0" anchor="t"/>
          <a:lstStyle/>
          <a:p>
            <a:pPr>
              <a:lnSpc>
                <a:spcPct val="95000"/>
              </a:lnSpc>
            </a:pPr>
            <a:r>
              <a:rPr lang="en-US" sz="1400" b="1" dirty="0">
                <a:solidFill>
                  <a:srgbClr val="D97A28"/>
                </a:solidFill>
                <a:latin typeface="Calibri" pitchFamily="34" charset="0"/>
                <a:ea typeface="Calibri" pitchFamily="34" charset="-122"/>
                <a:cs typeface="Calibri" pitchFamily="34" charset="-120"/>
              </a:rPr>
              <a:t>Humains : </a:t>
            </a:r>
            <a:r>
              <a:rPr lang="en-US" sz="1400" dirty="0">
                <a:solidFill>
                  <a:srgbClr val="27313F"/>
                </a:solidFill>
                <a:latin typeface="Calibri" pitchFamily="34" charset="0"/>
                <a:ea typeface="Calibri" pitchFamily="34" charset="-122"/>
                <a:cs typeface="Calibri" pitchFamily="34" charset="-120"/>
              </a:rPr>
              <a:t>ingénieurs, commercial, DAF, PDG, ménage, visiteurs/faux clients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2566133974"/>
              </p:ext>
            </p:extLst>
          </p:nvPr>
        </p:nvGraphicFramePr>
        <p:xfrm>
          <a:off x="5181600" y="1828800"/>
          <a:ext cx="6339840" cy="3633216"/>
        </p:xfrm>
        <a:graphic>
          <a:graphicData uri="http://schemas.openxmlformats.org/drawingml/2006/table">
            <a:tbl>
              <a:tblPr/>
              <a:tblGrid>
                <a:gridCol w="2926080">
                  <a:extLst>
                    <a:ext uri="{9D8B030D-6E8A-4147-A177-3AD203B41FA5}">
                      <a16:colId xmlns:a16="http://schemas.microsoft.com/office/drawing/2014/main" val="20000"/>
                    </a:ext>
                  </a:extLst>
                </a:gridCol>
                <a:gridCol w="853440">
                  <a:extLst>
                    <a:ext uri="{9D8B030D-6E8A-4147-A177-3AD203B41FA5}">
                      <a16:colId xmlns:a16="http://schemas.microsoft.com/office/drawing/2014/main" val="20001"/>
                    </a:ext>
                  </a:extLst>
                </a:gridCol>
                <a:gridCol w="853440">
                  <a:extLst>
                    <a:ext uri="{9D8B030D-6E8A-4147-A177-3AD203B41FA5}">
                      <a16:colId xmlns:a16="http://schemas.microsoft.com/office/drawing/2014/main" val="20002"/>
                    </a:ext>
                  </a:extLst>
                </a:gridCol>
                <a:gridCol w="853440">
                  <a:extLst>
                    <a:ext uri="{9D8B030D-6E8A-4147-A177-3AD203B41FA5}">
                      <a16:colId xmlns:a16="http://schemas.microsoft.com/office/drawing/2014/main" val="20003"/>
                    </a:ext>
                  </a:extLst>
                </a:gridCol>
                <a:gridCol w="853440">
                  <a:extLst>
                    <a:ext uri="{9D8B030D-6E8A-4147-A177-3AD203B41FA5}">
                      <a16:colId xmlns:a16="http://schemas.microsoft.com/office/drawing/2014/main" val="20004"/>
                    </a:ext>
                  </a:extLst>
                </a:gridCol>
              </a:tblGrid>
              <a:tr h="560832">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Bien support</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1E2B45"/>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BE1</a:t>
                      </a:r>
                      <a:endParaRPr lang="en-US" sz="1400" dirty="0">
                        <a:latin typeface="Calibri" charset="0"/>
                        <a:ea typeface="Calibri" charset="0"/>
                        <a:cs typeface="Calibri" charset="0"/>
                      </a:endParaRPr>
                    </a:p>
                    <a:p>
                      <a:pPr marL="0" indent="0" algn="ctr">
                        <a:buNone/>
                      </a:pPr>
                      <a:r>
                        <a:rPr lang="en-US" sz="1400" b="1" dirty="0">
                          <a:solidFill>
                            <a:srgbClr val="FFFFFF"/>
                          </a:solidFill>
                          <a:latin typeface="Calibri" pitchFamily="34" charset="0"/>
                          <a:ea typeface="Calibri" pitchFamily="34" charset="-122"/>
                          <a:cs typeface="Calibri" pitchFamily="34" charset="-120"/>
                        </a:rPr>
                        <a:t>Études</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1E2B45"/>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BE2</a:t>
                      </a:r>
                      <a:endParaRPr lang="en-US" sz="1400" dirty="0">
                        <a:latin typeface="Calibri" charset="0"/>
                        <a:ea typeface="Calibri" charset="0"/>
                        <a:cs typeface="Calibri" charset="0"/>
                      </a:endParaRPr>
                    </a:p>
                    <a:p>
                      <a:pPr marL="0" indent="0" algn="ctr">
                        <a:buNone/>
                      </a:pPr>
                      <a:r>
                        <a:rPr lang="en-US" sz="1400" b="1" dirty="0">
                          <a:solidFill>
                            <a:srgbClr val="FFFFFF"/>
                          </a:solidFill>
                          <a:latin typeface="Calibri" pitchFamily="34" charset="0"/>
                          <a:ea typeface="Calibri" pitchFamily="34" charset="-122"/>
                          <a:cs typeface="Calibri" pitchFamily="34" charset="-120"/>
                        </a:rPr>
                        <a:t>Comm.</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1E2B45"/>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BE3</a:t>
                      </a:r>
                      <a:endParaRPr lang="en-US" sz="1400" dirty="0">
                        <a:latin typeface="Calibri" charset="0"/>
                        <a:ea typeface="Calibri" charset="0"/>
                        <a:cs typeface="Calibri" charset="0"/>
                      </a:endParaRPr>
                    </a:p>
                    <a:p>
                      <a:pPr marL="0" indent="0" algn="ctr">
                        <a:buNone/>
                      </a:pPr>
                      <a:r>
                        <a:rPr lang="en-US" sz="1400" b="1" dirty="0">
                          <a:solidFill>
                            <a:srgbClr val="FFFFFF"/>
                          </a:solidFill>
                          <a:latin typeface="Calibri" pitchFamily="34" charset="0"/>
                          <a:ea typeface="Calibri" pitchFamily="34" charset="-122"/>
                          <a:cs typeface="Calibri" pitchFamily="34" charset="-120"/>
                        </a:rPr>
                        <a:t>Msg</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1E2B45"/>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BE4</a:t>
                      </a:r>
                      <a:endParaRPr lang="en-US" sz="1400" dirty="0">
                        <a:latin typeface="Calibri" charset="0"/>
                        <a:ea typeface="Calibri" charset="0"/>
                        <a:cs typeface="Calibri" charset="0"/>
                      </a:endParaRPr>
                    </a:p>
                    <a:p>
                      <a:pPr marL="0" indent="0" algn="ctr">
                        <a:buNone/>
                      </a:pPr>
                      <a:r>
                        <a:rPr lang="en-US" sz="1400" b="1" dirty="0">
                          <a:solidFill>
                            <a:srgbClr val="FFFFFF"/>
                          </a:solidFill>
                          <a:latin typeface="Calibri" pitchFamily="34" charset="0"/>
                          <a:ea typeface="Calibri" pitchFamily="34" charset="-122"/>
                          <a:cs typeface="Calibri" pitchFamily="34" charset="-120"/>
                        </a:rPr>
                        <a:t>Admin</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1E2B45"/>
                    </a:solidFill>
                  </a:tcPr>
                </a:tc>
                <a:extLst>
                  <a:ext uri="{0D108BD9-81ED-4DB2-BD59-A6C34878D82A}">
                    <a16:rowId xmlns:a16="http://schemas.microsoft.com/office/drawing/2014/main" val="10000"/>
                  </a:ext>
                </a:extLst>
              </a:tr>
              <a:tr h="438912">
                <a:tc>
                  <a:txBody>
                    <a:bodyPr/>
                    <a:lstStyle/>
                    <a:p>
                      <a:pPr marL="0" indent="0">
                        <a:buNone/>
                      </a:pPr>
                      <a:r>
                        <a:rPr lang="en-US" sz="1400" b="1" dirty="0">
                          <a:solidFill>
                            <a:srgbClr val="1E2B45"/>
                          </a:solidFill>
                          <a:latin typeface="Calibri" pitchFamily="34" charset="0"/>
                          <a:ea typeface="Calibri" pitchFamily="34" charset="-122"/>
                          <a:cs typeface="Calibri" pitchFamily="34" charset="-120"/>
                        </a:rPr>
                        <a:t>Serveur sauvegarde + miroir</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dirty="0">
                          <a:solidFill>
                            <a:srgbClr val="27313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400" b="1" dirty="0">
                          <a:solidFill>
                            <a:srgbClr val="1E2B45"/>
                          </a:solidFill>
                          <a:latin typeface="Calibri" pitchFamily="34" charset="0"/>
                          <a:ea typeface="Calibri" pitchFamily="34" charset="-122"/>
                          <a:cs typeface="Calibri" pitchFamily="34" charset="-120"/>
                        </a:rPr>
                        <a:t>Serveur logiciels métier</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buNone/>
                      </a:pP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buNone/>
                      </a:pP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buNone/>
                      </a:pP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400" b="1" dirty="0">
                          <a:solidFill>
                            <a:srgbClr val="1E2B45"/>
                          </a:solidFill>
                          <a:latin typeface="Calibri" pitchFamily="34" charset="0"/>
                          <a:ea typeface="Calibri" pitchFamily="34" charset="-122"/>
                          <a:cs typeface="Calibri" pitchFamily="34" charset="-120"/>
                        </a:rPr>
                        <a:t>PC fixes ingénieurs</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buNone/>
                      </a:pP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dirty="0">
                          <a:solidFill>
                            <a:srgbClr val="27313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dirty="0">
                          <a:solidFill>
                            <a:srgbClr val="27313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400" b="1" dirty="0">
                          <a:solidFill>
                            <a:srgbClr val="1E2B45"/>
                          </a:solidFill>
                          <a:latin typeface="Calibri" pitchFamily="34" charset="0"/>
                          <a:ea typeface="Calibri" pitchFamily="34" charset="-122"/>
                          <a:cs typeface="Calibri" pitchFamily="34" charset="-120"/>
                        </a:rPr>
                        <a:t>Portable commercial</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buNone/>
                      </a:pP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buNone/>
                      </a:pP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1400" b="1" dirty="0">
                          <a:solidFill>
                            <a:srgbClr val="1E2B45"/>
                          </a:solidFill>
                          <a:latin typeface="Calibri" pitchFamily="34" charset="0"/>
                          <a:ea typeface="Calibri" pitchFamily="34" charset="-122"/>
                          <a:cs typeface="Calibri" pitchFamily="34" charset="-120"/>
                        </a:rPr>
                        <a:t>Consoles Internet / imprimante</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dirty="0">
                          <a:solidFill>
                            <a:srgbClr val="27313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dirty="0">
                          <a:solidFill>
                            <a:srgbClr val="27313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dirty="0">
                          <a:solidFill>
                            <a:srgbClr val="27313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buNone/>
                      </a:pPr>
                      <a:r>
                        <a:rPr lang="en-US" sz="1400" b="1" dirty="0">
                          <a:solidFill>
                            <a:srgbClr val="1E2B45"/>
                          </a:solidFill>
                          <a:latin typeface="Calibri" pitchFamily="34" charset="0"/>
                          <a:ea typeface="Calibri" pitchFamily="34" charset="-122"/>
                          <a:cs typeface="Calibri" pitchFamily="34" charset="-120"/>
                        </a:rPr>
                        <a:t>Clés USB / DVD</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dirty="0">
                          <a:solidFill>
                            <a:srgbClr val="27313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dirty="0">
                          <a:solidFill>
                            <a:srgbClr val="27313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dirty="0">
                          <a:solidFill>
                            <a:srgbClr val="27313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extLst>
                  <a:ext uri="{0D108BD9-81ED-4DB2-BD59-A6C34878D82A}">
                    <a16:rowId xmlns:a16="http://schemas.microsoft.com/office/drawing/2014/main" val="10006"/>
                  </a:ext>
                </a:extLst>
              </a:tr>
              <a:tr h="438912">
                <a:tc>
                  <a:txBody>
                    <a:bodyPr/>
                    <a:lstStyle/>
                    <a:p>
                      <a:pPr marL="0" indent="0">
                        <a:buNone/>
                      </a:pPr>
                      <a:r>
                        <a:rPr lang="en-US" sz="1400" b="1" dirty="0">
                          <a:solidFill>
                            <a:srgbClr val="1E2B45"/>
                          </a:solidFill>
                          <a:latin typeface="Calibri" pitchFamily="34" charset="0"/>
                          <a:ea typeface="Calibri" pitchFamily="34" charset="-122"/>
                          <a:cs typeface="Calibri" pitchFamily="34" charset="-120"/>
                        </a:rPr>
                        <a:t>Locaux &amp; intervenants</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dirty="0">
                          <a:solidFill>
                            <a:srgbClr val="27313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tc>
                  <a:txBody>
                    <a:bodyPr/>
                    <a:lstStyle/>
                    <a:p>
                      <a:pPr marL="0" indent="0" algn="ctr">
                        <a:buNone/>
                      </a:pPr>
                      <a:r>
                        <a:rPr lang="en-US" sz="1400" b="1" dirty="0">
                          <a:solidFill>
                            <a:srgbClr val="B23A2E"/>
                          </a:solidFill>
                          <a:latin typeface="Calibri" pitchFamily="34" charset="0"/>
                          <a:ea typeface="Calibri" pitchFamily="34" charset="-122"/>
                          <a:cs typeface="Calibri" pitchFamily="34" charset="-120"/>
                        </a:rPr>
                        <a:t>xx</a:t>
                      </a:r>
                      <a:endParaRPr lang="en-US" sz="1400" dirty="0">
                        <a:latin typeface="Calibri" charset="0"/>
                        <a:ea typeface="Calibri" charset="0"/>
                        <a:cs typeface="Calibri" charset="0"/>
                      </a:endParaRPr>
                    </a:p>
                  </a:txBody>
                  <a:tcPr marL="121920" marR="121920" marT="60960" marB="6096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5" name="Text 12"/>
          <p:cNvSpPr/>
          <p:nvPr/>
        </p:nvSpPr>
        <p:spPr>
          <a:xfrm>
            <a:off x="5181600" y="5632704"/>
            <a:ext cx="6339840" cy="487680"/>
          </a:xfrm>
          <a:prstGeom prst="rect">
            <a:avLst/>
          </a:prstGeom>
          <a:noFill/>
          <a:ln/>
        </p:spPr>
        <p:txBody>
          <a:bodyPr wrap="square" lIns="0" tIns="0" rIns="0" bIns="0" rtlCol="0" anchor="ctr"/>
          <a:lstStyle/>
          <a:p>
            <a:r>
              <a:rPr lang="en-US" sz="1200" b="1" dirty="0">
                <a:solidFill>
                  <a:srgbClr val="6B7787"/>
                </a:solidFill>
                <a:latin typeface="Calibri" pitchFamily="34" charset="0"/>
                <a:ea typeface="Calibri" pitchFamily="34" charset="-122"/>
                <a:cs typeface="Calibri" pitchFamily="34" charset="-120"/>
              </a:rPr>
              <a:t>Légende :  x </a:t>
            </a:r>
            <a:r>
              <a:rPr lang="en-US" sz="1200" dirty="0">
                <a:solidFill>
                  <a:srgbClr val="6B7787"/>
                </a:solidFill>
                <a:latin typeface="Calibri" pitchFamily="34" charset="0"/>
                <a:ea typeface="Calibri" pitchFamily="34" charset="-122"/>
                <a:cs typeface="Calibri" pitchFamily="34" charset="-120"/>
              </a:rPr>
              <a:t>relation   ·   </a:t>
            </a:r>
            <a:r>
              <a:rPr lang="en-US" sz="1200" b="1" dirty="0">
                <a:solidFill>
                  <a:srgbClr val="B23A2E"/>
                </a:solidFill>
                <a:latin typeface="Calibri" pitchFamily="34" charset="0"/>
                <a:ea typeface="Calibri" pitchFamily="34" charset="-122"/>
                <a:cs typeface="Calibri" pitchFamily="34" charset="-120"/>
              </a:rPr>
              <a:t>xx </a:t>
            </a:r>
            <a:r>
              <a:rPr lang="en-US" sz="1200" i="1" dirty="0">
                <a:solidFill>
                  <a:srgbClr val="6B7787"/>
                </a:solidFill>
                <a:latin typeface="Calibri" pitchFamily="34" charset="0"/>
                <a:ea typeface="Calibri" pitchFamily="34" charset="-122"/>
                <a:cs typeface="Calibri" pitchFamily="34" charset="-120"/>
              </a:rPr>
              <a:t>relation persistante. Le ménage et les visiteurs/faux clients sont traités comme biens supports humains.</a:t>
            </a:r>
            <a:endParaRPr lang="en-US" sz="1200" dirty="0"/>
          </a:p>
        </p:txBody>
      </p:sp>
      <p:sp>
        <p:nvSpPr>
          <p:cNvPr id="16" name="Shape 13"/>
          <p:cNvSpPr/>
          <p:nvPr/>
        </p:nvSpPr>
        <p:spPr>
          <a:xfrm>
            <a:off x="670560" y="6315456"/>
            <a:ext cx="10850880" cy="0"/>
          </a:xfrm>
          <a:prstGeom prst="line">
            <a:avLst/>
          </a:prstGeom>
          <a:noFill/>
          <a:ln w="12700">
            <a:solidFill>
              <a:srgbClr val="D7DEE8"/>
            </a:solidFill>
            <a:prstDash val="solid"/>
          </a:ln>
        </p:spPr>
      </p:sp>
      <p:sp>
        <p:nvSpPr>
          <p:cNvPr id="17" name="Text 14"/>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18" name="Text 15"/>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6</a:t>
            </a:r>
            <a:endParaRPr lang="en-US" sz="113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MODULE 2 · ÉVÉNEMENTS REDOUTÉS</a:t>
            </a:r>
            <a:endParaRPr lang="en-US" sz="1467" dirty="0"/>
          </a:p>
        </p:txBody>
      </p:sp>
      <p:sp>
        <p:nvSpPr>
          <p:cNvPr id="4" name="Text 2"/>
          <p:cNvSpPr/>
          <p:nvPr/>
        </p:nvSpPr>
        <p:spPr>
          <a:xfrm>
            <a:off x="670560" y="829056"/>
            <a:ext cx="10850880" cy="853440"/>
          </a:xfrm>
          <a:prstGeom prst="rect">
            <a:avLst/>
          </a:prstGeom>
          <a:noFill/>
          <a:ln/>
        </p:spPr>
        <p:txBody>
          <a:bodyPr wrap="square" lIns="0" tIns="0" rIns="0" bIns="0" rtlCol="0" anchor="ctr"/>
          <a:lstStyle/>
          <a:p>
            <a:r>
              <a:rPr lang="en-US" sz="3200" b="1" dirty="0">
                <a:solidFill>
                  <a:srgbClr val="1E2B45"/>
                </a:solidFill>
                <a:latin typeface="Georgia" pitchFamily="34" charset="0"/>
                <a:ea typeface="Georgia" pitchFamily="34" charset="-122"/>
                <a:cs typeface="Georgia" pitchFamily="34" charset="-120"/>
              </a:rPr>
              <a:t>Les deux événements réellement redoutés par M. Belhome</a:t>
            </a:r>
            <a:endParaRPr lang="en-US" sz="3200" dirty="0"/>
          </a:p>
        </p:txBody>
      </p:sp>
      <p:sp>
        <p:nvSpPr>
          <p:cNvPr id="5" name="Shape 3"/>
          <p:cNvSpPr/>
          <p:nvPr/>
        </p:nvSpPr>
        <p:spPr>
          <a:xfrm>
            <a:off x="670560" y="1828800"/>
            <a:ext cx="5205984" cy="402336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6" name="Shape 4"/>
          <p:cNvSpPr/>
          <p:nvPr/>
        </p:nvSpPr>
        <p:spPr>
          <a:xfrm>
            <a:off x="670560" y="1828800"/>
            <a:ext cx="5205984" cy="85344"/>
          </a:xfrm>
          <a:prstGeom prst="rect">
            <a:avLst/>
          </a:prstGeom>
          <a:solidFill>
            <a:srgbClr val="D97A28"/>
          </a:solidFill>
          <a:ln/>
        </p:spPr>
      </p:sp>
      <p:sp>
        <p:nvSpPr>
          <p:cNvPr id="7" name="Text 5"/>
          <p:cNvSpPr/>
          <p:nvPr/>
        </p:nvSpPr>
        <p:spPr>
          <a:xfrm>
            <a:off x="975360" y="2072640"/>
            <a:ext cx="4632960" cy="341376"/>
          </a:xfrm>
          <a:prstGeom prst="rect">
            <a:avLst/>
          </a:prstGeom>
          <a:noFill/>
          <a:ln/>
        </p:spPr>
        <p:txBody>
          <a:bodyPr wrap="square" lIns="0" tIns="0" rIns="0" bIns="0" rtlCol="0" anchor="ctr"/>
          <a:lstStyle/>
          <a:p>
            <a:r>
              <a:rPr lang="en-US" sz="1467" b="1" kern="0" spc="133" dirty="0">
                <a:solidFill>
                  <a:srgbClr val="D97A28"/>
                </a:solidFill>
                <a:latin typeface="Calibri" pitchFamily="34" charset="0"/>
                <a:ea typeface="Calibri" pitchFamily="34" charset="-122"/>
                <a:cs typeface="Calibri" pitchFamily="34" charset="-120"/>
              </a:rPr>
              <a:t>ER1  —  PRIORITÉ 2</a:t>
            </a:r>
            <a:endParaRPr lang="en-US" sz="1467" dirty="0"/>
          </a:p>
        </p:txBody>
      </p:sp>
      <p:sp>
        <p:nvSpPr>
          <p:cNvPr id="8" name="Text 6"/>
          <p:cNvSpPr/>
          <p:nvPr/>
        </p:nvSpPr>
        <p:spPr>
          <a:xfrm>
            <a:off x="975360" y="2438400"/>
            <a:ext cx="4632960" cy="731520"/>
          </a:xfrm>
          <a:prstGeom prst="rect">
            <a:avLst/>
          </a:prstGeom>
          <a:noFill/>
          <a:ln/>
        </p:spPr>
        <p:txBody>
          <a:bodyPr wrap="square" lIns="0" tIns="0" rIns="0" bIns="0" rtlCol="0" anchor="t"/>
          <a:lstStyle/>
          <a:p>
            <a:r>
              <a:rPr lang="en-US" sz="2133" b="1" dirty="0">
                <a:solidFill>
                  <a:srgbClr val="1E2B45"/>
                </a:solidFill>
                <a:latin typeface="Georgia" pitchFamily="34" charset="0"/>
                <a:ea typeface="Georgia" pitchFamily="34" charset="-122"/>
                <a:cs typeface="Georgia" pitchFamily="34" charset="-120"/>
              </a:rPr>
              <a:t>Fuite des données commerciales</a:t>
            </a:r>
            <a:endParaRPr lang="en-US" sz="2133" dirty="0"/>
          </a:p>
        </p:txBody>
      </p:sp>
      <p:sp>
        <p:nvSpPr>
          <p:cNvPr id="9" name="Text 7"/>
          <p:cNvSpPr/>
          <p:nvPr/>
        </p:nvSpPr>
        <p:spPr>
          <a:xfrm>
            <a:off x="975360" y="3194304"/>
            <a:ext cx="4632960" cy="1767840"/>
          </a:xfrm>
          <a:prstGeom prst="rect">
            <a:avLst/>
          </a:prstGeom>
          <a:noFill/>
          <a:ln/>
        </p:spPr>
        <p:txBody>
          <a:bodyPr wrap="square" lIns="0" tIns="0" rIns="0" bIns="0" rtlCol="0" anchor="t"/>
          <a:lstStyle/>
          <a:p>
            <a:pPr>
              <a:lnSpc>
                <a:spcPct val="105000"/>
              </a:lnSpc>
              <a:spcAft>
                <a:spcPts val="800"/>
              </a:spcAft>
            </a:pPr>
            <a:r>
              <a:rPr lang="en-US" sz="1440" b="1" dirty="0">
                <a:solidFill>
                  <a:srgbClr val="1E2B45"/>
                </a:solidFill>
                <a:latin typeface="Calibri" pitchFamily="34" charset="0"/>
                <a:ea typeface="Calibri" pitchFamily="34" charset="-122"/>
                <a:cs typeface="Calibri" pitchFamily="34" charset="-120"/>
              </a:rPr>
              <a:t>Bien essentiel : </a:t>
            </a:r>
            <a:r>
              <a:rPr lang="en-US" sz="1440" dirty="0">
                <a:solidFill>
                  <a:srgbClr val="27313F"/>
                </a:solidFill>
                <a:latin typeface="Calibri" pitchFamily="34" charset="0"/>
                <a:ea typeface="Calibri" pitchFamily="34" charset="-122"/>
                <a:cs typeface="Calibri" pitchFamily="34" charset="-120"/>
              </a:rPr>
              <a:t>BE2 — Données commerciales
</a:t>
            </a:r>
            <a:endParaRPr lang="en-US" sz="1440" dirty="0"/>
          </a:p>
          <a:p>
            <a:pPr>
              <a:lnSpc>
                <a:spcPct val="105000"/>
              </a:lnSpc>
              <a:spcAft>
                <a:spcPts val="800"/>
              </a:spcAft>
            </a:pPr>
            <a:r>
              <a:rPr lang="en-US" sz="1440" b="1" dirty="0">
                <a:solidFill>
                  <a:srgbClr val="1E2B45"/>
                </a:solidFill>
                <a:latin typeface="Calibri" pitchFamily="34" charset="0"/>
                <a:ea typeface="Calibri" pitchFamily="34" charset="-122"/>
                <a:cs typeface="Calibri" pitchFamily="34" charset="-120"/>
              </a:rPr>
              <a:t>Critères touchés : </a:t>
            </a:r>
            <a:r>
              <a:rPr lang="en-US" sz="1440" dirty="0">
                <a:solidFill>
                  <a:srgbClr val="27313F"/>
                </a:solidFill>
                <a:latin typeface="Calibri" pitchFamily="34" charset="0"/>
                <a:ea typeface="Calibri" pitchFamily="34" charset="-122"/>
                <a:cs typeface="Calibri" pitchFamily="34" charset="-120"/>
              </a:rPr>
              <a:t>Confidentialité
</a:t>
            </a:r>
            <a:endParaRPr lang="en-US" sz="1440" dirty="0"/>
          </a:p>
          <a:p>
            <a:pPr>
              <a:lnSpc>
                <a:spcPct val="105000"/>
              </a:lnSpc>
              <a:spcAft>
                <a:spcPts val="800"/>
              </a:spcAft>
            </a:pPr>
            <a:r>
              <a:rPr lang="en-US" sz="1440" b="1" dirty="0">
                <a:solidFill>
                  <a:srgbClr val="1E2B45"/>
                </a:solidFill>
                <a:latin typeface="Calibri" pitchFamily="34" charset="0"/>
                <a:ea typeface="Calibri" pitchFamily="34" charset="-122"/>
                <a:cs typeface="Calibri" pitchFamily="34" charset="-120"/>
              </a:rPr>
              <a:t>Impacts : </a:t>
            </a:r>
            <a:r>
              <a:rPr lang="en-US" sz="1440" dirty="0">
                <a:solidFill>
                  <a:srgbClr val="27313F"/>
                </a:solidFill>
                <a:latin typeface="Calibri" pitchFamily="34" charset="0"/>
                <a:ea typeface="Calibri" pitchFamily="34" charset="-122"/>
                <a:cs typeface="Calibri" pitchFamily="34" charset="-120"/>
              </a:rPr>
              <a:t>Perte répétée d'appels d'offres, érosion de la marge et de la position concurrentielle.</a:t>
            </a:r>
            <a:endParaRPr lang="en-US" sz="1440" dirty="0"/>
          </a:p>
        </p:txBody>
      </p:sp>
      <p:sp>
        <p:nvSpPr>
          <p:cNvPr id="10" name="Shape 8"/>
          <p:cNvSpPr/>
          <p:nvPr/>
        </p:nvSpPr>
        <p:spPr>
          <a:xfrm>
            <a:off x="975360" y="5071872"/>
            <a:ext cx="4596384" cy="548640"/>
          </a:xfrm>
          <a:prstGeom prst="rect">
            <a:avLst/>
          </a:prstGeom>
          <a:solidFill>
            <a:srgbClr val="D97A28"/>
          </a:solidFill>
          <a:ln/>
        </p:spPr>
      </p:sp>
      <p:sp>
        <p:nvSpPr>
          <p:cNvPr id="11" name="Text 9"/>
          <p:cNvSpPr/>
          <p:nvPr/>
        </p:nvSpPr>
        <p:spPr>
          <a:xfrm>
            <a:off x="975360" y="5071872"/>
            <a:ext cx="4596384" cy="548640"/>
          </a:xfrm>
          <a:prstGeom prst="rect">
            <a:avLst/>
          </a:prstGeom>
          <a:noFill/>
          <a:ln/>
        </p:spPr>
        <p:txBody>
          <a:bodyPr wrap="square" lIns="0" tIns="0" rIns="0" bIns="0" rtlCol="0" anchor="ctr"/>
          <a:lstStyle/>
          <a:p>
            <a:pPr algn="ctr"/>
            <a:r>
              <a:rPr lang="en-US" sz="1667" b="1" dirty="0">
                <a:solidFill>
                  <a:srgbClr val="FFFFFF"/>
                </a:solidFill>
                <a:latin typeface="Calibri" pitchFamily="34" charset="0"/>
                <a:ea typeface="Calibri" pitchFamily="34" charset="-122"/>
                <a:cs typeface="Calibri" pitchFamily="34" charset="-120"/>
              </a:rPr>
              <a:t>Niveau d'impact : 3 / 4 — grave</a:t>
            </a:r>
            <a:endParaRPr lang="en-US" sz="1667" dirty="0"/>
          </a:p>
        </p:txBody>
      </p:sp>
      <p:sp>
        <p:nvSpPr>
          <p:cNvPr id="12" name="Shape 10"/>
          <p:cNvSpPr/>
          <p:nvPr/>
        </p:nvSpPr>
        <p:spPr>
          <a:xfrm>
            <a:off x="6315456" y="1828800"/>
            <a:ext cx="5205984" cy="402336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13" name="Shape 11"/>
          <p:cNvSpPr/>
          <p:nvPr/>
        </p:nvSpPr>
        <p:spPr>
          <a:xfrm>
            <a:off x="6315456" y="1828800"/>
            <a:ext cx="5205984" cy="85344"/>
          </a:xfrm>
          <a:prstGeom prst="rect">
            <a:avLst/>
          </a:prstGeom>
          <a:solidFill>
            <a:srgbClr val="B23A2E"/>
          </a:solidFill>
          <a:ln/>
        </p:spPr>
      </p:sp>
      <p:sp>
        <p:nvSpPr>
          <p:cNvPr id="14" name="Text 12"/>
          <p:cNvSpPr/>
          <p:nvPr/>
        </p:nvSpPr>
        <p:spPr>
          <a:xfrm>
            <a:off x="6620256" y="2072640"/>
            <a:ext cx="4632960" cy="341376"/>
          </a:xfrm>
          <a:prstGeom prst="rect">
            <a:avLst/>
          </a:prstGeom>
          <a:noFill/>
          <a:ln/>
        </p:spPr>
        <p:txBody>
          <a:bodyPr wrap="square" lIns="0" tIns="0" rIns="0" bIns="0" rtlCol="0" anchor="ctr"/>
          <a:lstStyle/>
          <a:p>
            <a:r>
              <a:rPr lang="en-US" sz="1467" b="1" kern="0" spc="133" dirty="0">
                <a:solidFill>
                  <a:srgbClr val="B23A2E"/>
                </a:solidFill>
                <a:latin typeface="Calibri" pitchFamily="34" charset="0"/>
                <a:ea typeface="Calibri" pitchFamily="34" charset="-122"/>
                <a:cs typeface="Calibri" pitchFamily="34" charset="-120"/>
              </a:rPr>
              <a:t>ER2  —  PRIORITÉ 1</a:t>
            </a:r>
            <a:endParaRPr lang="en-US" sz="1467" dirty="0"/>
          </a:p>
        </p:txBody>
      </p:sp>
      <p:sp>
        <p:nvSpPr>
          <p:cNvPr id="15" name="Text 13"/>
          <p:cNvSpPr/>
          <p:nvPr/>
        </p:nvSpPr>
        <p:spPr>
          <a:xfrm>
            <a:off x="6620256" y="2438400"/>
            <a:ext cx="4632960" cy="731520"/>
          </a:xfrm>
          <a:prstGeom prst="rect">
            <a:avLst/>
          </a:prstGeom>
          <a:noFill/>
          <a:ln/>
        </p:spPr>
        <p:txBody>
          <a:bodyPr wrap="square" lIns="0" tIns="0" rIns="0" bIns="0" rtlCol="0" anchor="t"/>
          <a:lstStyle/>
          <a:p>
            <a:r>
              <a:rPr lang="en-US" sz="2133" b="1" dirty="0">
                <a:solidFill>
                  <a:srgbClr val="1E2B45"/>
                </a:solidFill>
                <a:latin typeface="Georgia" pitchFamily="34" charset="0"/>
                <a:ea typeface="Georgia" pitchFamily="34" charset="-122"/>
                <a:cs typeface="Georgia" pitchFamily="34" charset="-120"/>
              </a:rPr>
              <a:t>Compromission des études techniques</a:t>
            </a:r>
            <a:endParaRPr lang="en-US" sz="2133" dirty="0"/>
          </a:p>
        </p:txBody>
      </p:sp>
      <p:sp>
        <p:nvSpPr>
          <p:cNvPr id="16" name="Text 14"/>
          <p:cNvSpPr/>
          <p:nvPr/>
        </p:nvSpPr>
        <p:spPr>
          <a:xfrm>
            <a:off x="6620256" y="3194304"/>
            <a:ext cx="4632960" cy="1767840"/>
          </a:xfrm>
          <a:prstGeom prst="rect">
            <a:avLst/>
          </a:prstGeom>
          <a:noFill/>
          <a:ln/>
        </p:spPr>
        <p:txBody>
          <a:bodyPr wrap="square" lIns="0" tIns="0" rIns="0" bIns="0" rtlCol="0" anchor="t"/>
          <a:lstStyle/>
          <a:p>
            <a:pPr>
              <a:lnSpc>
                <a:spcPct val="105000"/>
              </a:lnSpc>
              <a:spcAft>
                <a:spcPts val="800"/>
              </a:spcAft>
            </a:pPr>
            <a:r>
              <a:rPr lang="en-US" sz="1440" b="1" dirty="0">
                <a:solidFill>
                  <a:srgbClr val="1E2B45"/>
                </a:solidFill>
                <a:latin typeface="Calibri" pitchFamily="34" charset="0"/>
                <a:ea typeface="Calibri" pitchFamily="34" charset="-122"/>
                <a:cs typeface="Calibri" pitchFamily="34" charset="-120"/>
              </a:rPr>
              <a:t>Bien essentiel : </a:t>
            </a:r>
            <a:r>
              <a:rPr lang="en-US" sz="1440" dirty="0">
                <a:solidFill>
                  <a:srgbClr val="27313F"/>
                </a:solidFill>
                <a:latin typeface="Calibri" pitchFamily="34" charset="0"/>
                <a:ea typeface="Calibri" pitchFamily="34" charset="-122"/>
                <a:cs typeface="Calibri" pitchFamily="34" charset="-120"/>
              </a:rPr>
              <a:t>BE1 — Études techniques
</a:t>
            </a:r>
            <a:endParaRPr lang="en-US" sz="1440" dirty="0"/>
          </a:p>
          <a:p>
            <a:pPr>
              <a:lnSpc>
                <a:spcPct val="105000"/>
              </a:lnSpc>
              <a:spcAft>
                <a:spcPts val="800"/>
              </a:spcAft>
            </a:pPr>
            <a:r>
              <a:rPr lang="en-US" sz="1440" b="1" dirty="0">
                <a:solidFill>
                  <a:srgbClr val="1E2B45"/>
                </a:solidFill>
                <a:latin typeface="Calibri" pitchFamily="34" charset="0"/>
                <a:ea typeface="Calibri" pitchFamily="34" charset="-122"/>
                <a:cs typeface="Calibri" pitchFamily="34" charset="-120"/>
              </a:rPr>
              <a:t>Critères touchés : </a:t>
            </a:r>
            <a:r>
              <a:rPr lang="en-US" sz="1440" dirty="0">
                <a:solidFill>
                  <a:srgbClr val="27313F"/>
                </a:solidFill>
                <a:latin typeface="Calibri" pitchFamily="34" charset="0"/>
                <a:ea typeface="Calibri" pitchFamily="34" charset="-122"/>
                <a:cs typeface="Calibri" pitchFamily="34" charset="-120"/>
              </a:rPr>
              <a:t>Confidentialité + Intégrité
</a:t>
            </a:r>
            <a:endParaRPr lang="en-US" sz="1440" dirty="0"/>
          </a:p>
          <a:p>
            <a:pPr>
              <a:lnSpc>
                <a:spcPct val="105000"/>
              </a:lnSpc>
              <a:spcAft>
                <a:spcPts val="800"/>
              </a:spcAft>
            </a:pPr>
            <a:r>
              <a:rPr lang="en-US" sz="1440" b="1" dirty="0">
                <a:solidFill>
                  <a:srgbClr val="1E2B45"/>
                </a:solidFill>
                <a:latin typeface="Calibri" pitchFamily="34" charset="0"/>
                <a:ea typeface="Calibri" pitchFamily="34" charset="-122"/>
                <a:cs typeface="Calibri" pitchFamily="34" charset="-120"/>
              </a:rPr>
              <a:t>Impacts : </a:t>
            </a:r>
            <a:r>
              <a:rPr lang="en-US" sz="1440" dirty="0">
                <a:solidFill>
                  <a:srgbClr val="27313F"/>
                </a:solidFill>
                <a:latin typeface="Calibri" pitchFamily="34" charset="0"/>
                <a:ea typeface="Calibri" pitchFamily="34" charset="-122"/>
                <a:cs typeface="Calibri" pitchFamily="34" charset="-120"/>
              </a:rPr>
              <a:t>Perte de savoir-faire et de réputation ; au pire, altération → responsabilité pénale, effondrement, victimes.</a:t>
            </a:r>
            <a:endParaRPr lang="en-US" sz="1440" dirty="0"/>
          </a:p>
        </p:txBody>
      </p:sp>
      <p:sp>
        <p:nvSpPr>
          <p:cNvPr id="17" name="Shape 15"/>
          <p:cNvSpPr/>
          <p:nvPr/>
        </p:nvSpPr>
        <p:spPr>
          <a:xfrm>
            <a:off x="6620256" y="5071872"/>
            <a:ext cx="4596384" cy="548640"/>
          </a:xfrm>
          <a:prstGeom prst="rect">
            <a:avLst/>
          </a:prstGeom>
          <a:solidFill>
            <a:srgbClr val="B23A2E"/>
          </a:solidFill>
          <a:ln/>
        </p:spPr>
      </p:sp>
      <p:sp>
        <p:nvSpPr>
          <p:cNvPr id="18" name="Text 16"/>
          <p:cNvSpPr/>
          <p:nvPr/>
        </p:nvSpPr>
        <p:spPr>
          <a:xfrm>
            <a:off x="6620256" y="5071872"/>
            <a:ext cx="4596384" cy="548640"/>
          </a:xfrm>
          <a:prstGeom prst="rect">
            <a:avLst/>
          </a:prstGeom>
          <a:noFill/>
          <a:ln/>
        </p:spPr>
        <p:txBody>
          <a:bodyPr wrap="square" lIns="0" tIns="0" rIns="0" bIns="0" rtlCol="0" anchor="ctr"/>
          <a:lstStyle/>
          <a:p>
            <a:pPr algn="ctr"/>
            <a:r>
              <a:rPr lang="en-US" sz="1667" b="1" dirty="0">
                <a:solidFill>
                  <a:srgbClr val="FFFFFF"/>
                </a:solidFill>
                <a:latin typeface="Calibri" pitchFamily="34" charset="0"/>
                <a:ea typeface="Calibri" pitchFamily="34" charset="-122"/>
                <a:cs typeface="Calibri" pitchFamily="34" charset="-120"/>
              </a:rPr>
              <a:t>Niveau d'impact : 4 / 4 — critique</a:t>
            </a:r>
            <a:endParaRPr lang="en-US" sz="1667" dirty="0"/>
          </a:p>
        </p:txBody>
      </p:sp>
      <p:sp>
        <p:nvSpPr>
          <p:cNvPr id="19" name="Shape 17"/>
          <p:cNvSpPr/>
          <p:nvPr/>
        </p:nvSpPr>
        <p:spPr>
          <a:xfrm>
            <a:off x="670560" y="6315456"/>
            <a:ext cx="10850880" cy="0"/>
          </a:xfrm>
          <a:prstGeom prst="line">
            <a:avLst/>
          </a:prstGeom>
          <a:noFill/>
          <a:ln w="12700">
            <a:solidFill>
              <a:srgbClr val="D7DEE8"/>
            </a:solidFill>
            <a:prstDash val="solid"/>
          </a:ln>
        </p:spPr>
      </p:sp>
      <p:sp>
        <p:nvSpPr>
          <p:cNvPr id="20" name="Text 18"/>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21" name="Text 19"/>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7</a:t>
            </a:r>
            <a:endParaRPr lang="en-US" sz="113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F1132F8A-841C-AABC-23A4-A2A8E4680EC1}"/>
              </a:ext>
            </a:extLst>
          </p:cNvPr>
          <p:cNvPicPr>
            <a:picLocks noChangeAspect="1"/>
          </p:cNvPicPr>
          <p:nvPr/>
        </p:nvPicPr>
        <p:blipFill>
          <a:blip r:embed="rId3"/>
          <a:srcRect l="5031" t="26362" r="3667" b="9839"/>
          <a:stretch>
            <a:fillRect/>
          </a:stretch>
        </p:blipFill>
        <p:spPr>
          <a:xfrm>
            <a:off x="1536350" y="1828799"/>
            <a:ext cx="9168067" cy="3573496"/>
          </a:xfrm>
          <a:prstGeom prst="rect">
            <a:avLst/>
          </a:prstGeom>
        </p:spPr>
      </p:pic>
      <p:sp>
        <p:nvSpPr>
          <p:cNvPr id="9"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MODULE 3 · SCÉNARIO DE MENACE · R1</a:t>
            </a:r>
            <a:endParaRPr lang="en-US" sz="1467" dirty="0"/>
          </a:p>
        </p:txBody>
      </p:sp>
      <p:sp>
        <p:nvSpPr>
          <p:cNvPr id="10" name="Text 2"/>
          <p:cNvSpPr/>
          <p:nvPr/>
        </p:nvSpPr>
        <p:spPr>
          <a:xfrm>
            <a:off x="670560" y="804672"/>
            <a:ext cx="10850880" cy="853440"/>
          </a:xfrm>
          <a:prstGeom prst="rect">
            <a:avLst/>
          </a:prstGeom>
          <a:noFill/>
          <a:ln/>
        </p:spPr>
        <p:txBody>
          <a:bodyPr wrap="square" lIns="0" tIns="0" rIns="0" bIns="0" rtlCol="0" anchor="ctr"/>
          <a:lstStyle/>
          <a:p>
            <a:r>
              <a:rPr lang="en-US" sz="2800" b="1" dirty="0">
                <a:solidFill>
                  <a:srgbClr val="1E2B45"/>
                </a:solidFill>
                <a:latin typeface="Georgia" pitchFamily="34" charset="0"/>
                <a:ea typeface="Georgia" pitchFamily="34" charset="-122"/>
                <a:cs typeface="Georgia" pitchFamily="34" charset="-120"/>
              </a:rPr>
              <a:t>Scénario R1 — fuite des données commerciales</a:t>
            </a:r>
            <a:endParaRPr lang="en-US" sz="2800" dirty="0"/>
          </a:p>
        </p:txBody>
      </p:sp>
      <p:sp>
        <p:nvSpPr>
          <p:cNvPr id="11" name="Text 3"/>
          <p:cNvSpPr/>
          <p:nvPr/>
        </p:nvSpPr>
        <p:spPr>
          <a:xfrm>
            <a:off x="670560" y="1414272"/>
            <a:ext cx="10850880" cy="365760"/>
          </a:xfrm>
          <a:prstGeom prst="rect">
            <a:avLst/>
          </a:prstGeom>
          <a:noFill/>
          <a:ln/>
        </p:spPr>
        <p:txBody>
          <a:bodyPr wrap="square" lIns="0" tIns="0" rIns="0" bIns="0" rtlCol="0" anchor="ctr"/>
          <a:lstStyle/>
          <a:p>
            <a:r>
              <a:rPr lang="en-US" sz="1600" i="1" dirty="0">
                <a:solidFill>
                  <a:srgbClr val="6B7787"/>
                </a:solidFill>
                <a:latin typeface="Calibri" pitchFamily="34" charset="0"/>
                <a:ea typeface="Calibri" pitchFamily="34" charset="-122"/>
                <a:cs typeface="Calibri" pitchFamily="34" charset="-120"/>
              </a:rPr>
              <a:t>Source → vulnérabilité → mode opératoire → impact</a:t>
            </a:r>
            <a:endParaRPr lang="en-US" sz="1600" dirty="0"/>
          </a:p>
        </p:txBody>
      </p:sp>
      <p:sp>
        <p:nvSpPr>
          <p:cNvPr id="34" name="Shape 32"/>
          <p:cNvSpPr/>
          <p:nvPr/>
        </p:nvSpPr>
        <p:spPr>
          <a:xfrm>
            <a:off x="670560" y="5632704"/>
            <a:ext cx="10850880" cy="512064"/>
          </a:xfrm>
          <a:prstGeom prst="rect">
            <a:avLst/>
          </a:prstGeom>
          <a:solidFill>
            <a:srgbClr val="1E2B45"/>
          </a:solidFill>
          <a:ln/>
        </p:spPr>
      </p:sp>
      <p:sp>
        <p:nvSpPr>
          <p:cNvPr id="35" name="Text 33"/>
          <p:cNvSpPr/>
          <p:nvPr/>
        </p:nvSpPr>
        <p:spPr>
          <a:xfrm>
            <a:off x="938784" y="5632704"/>
            <a:ext cx="10363200" cy="512064"/>
          </a:xfrm>
          <a:prstGeom prst="rect">
            <a:avLst/>
          </a:prstGeom>
          <a:noFill/>
          <a:ln/>
        </p:spPr>
        <p:txBody>
          <a:bodyPr wrap="square" lIns="0" tIns="0" rIns="0" bIns="0" rtlCol="0" anchor="ctr"/>
          <a:lstStyle/>
          <a:p>
            <a:r>
              <a:rPr lang="en-US" sz="1467" b="1" dirty="0">
                <a:solidFill>
                  <a:srgbClr val="D97A28"/>
                </a:solidFill>
                <a:latin typeface="Calibri" pitchFamily="34" charset="0"/>
                <a:ea typeface="Calibri" pitchFamily="34" charset="-122"/>
                <a:cs typeface="Calibri" pitchFamily="34" charset="-120"/>
              </a:rPr>
              <a:t>Vraisemblance : </a:t>
            </a:r>
            <a:r>
              <a:rPr lang="en-US" sz="1467" dirty="0">
                <a:solidFill>
                  <a:srgbClr val="FFFFFF"/>
                </a:solidFill>
                <a:latin typeface="Calibri" pitchFamily="34" charset="0"/>
                <a:ea typeface="Calibri" pitchFamily="34" charset="-122"/>
                <a:cs typeface="Calibri" pitchFamily="34" charset="-120"/>
              </a:rPr>
              <a:t>3 / 4 — importante (vecteurs simples, usages courants)        </a:t>
            </a:r>
            <a:r>
              <a:rPr lang="en-US" sz="1467" b="1" dirty="0">
                <a:solidFill>
                  <a:srgbClr val="D97A28"/>
                </a:solidFill>
                <a:latin typeface="Calibri" pitchFamily="34" charset="0"/>
                <a:ea typeface="Calibri" pitchFamily="34" charset="-122"/>
                <a:cs typeface="Calibri" pitchFamily="34" charset="-120"/>
              </a:rPr>
              <a:t>Gravité : </a:t>
            </a:r>
            <a:r>
              <a:rPr lang="en-US" sz="1467" dirty="0">
                <a:solidFill>
                  <a:srgbClr val="FFFFFF"/>
                </a:solidFill>
                <a:latin typeface="Calibri" pitchFamily="34" charset="0"/>
                <a:ea typeface="Calibri" pitchFamily="34" charset="-122"/>
                <a:cs typeface="Calibri" pitchFamily="34" charset="-120"/>
              </a:rPr>
              <a:t>3 / 4 — grave</a:t>
            </a:r>
            <a:endParaRPr lang="en-US" sz="1467" dirty="0"/>
          </a:p>
        </p:txBody>
      </p:sp>
      <p:sp>
        <p:nvSpPr>
          <p:cNvPr id="36" name="Shape 34"/>
          <p:cNvSpPr/>
          <p:nvPr/>
        </p:nvSpPr>
        <p:spPr>
          <a:xfrm>
            <a:off x="670560" y="6315456"/>
            <a:ext cx="10850880" cy="0"/>
          </a:xfrm>
          <a:prstGeom prst="line">
            <a:avLst/>
          </a:prstGeom>
          <a:noFill/>
          <a:ln w="12700">
            <a:solidFill>
              <a:srgbClr val="D7DEE8"/>
            </a:solidFill>
            <a:prstDash val="solid"/>
          </a:ln>
        </p:spPr>
      </p:sp>
      <p:sp>
        <p:nvSpPr>
          <p:cNvPr id="37" name="Text 35"/>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38" name="Text 36"/>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8</a:t>
            </a:r>
            <a:endParaRPr lang="en-US" sz="1133" dirty="0"/>
          </a:p>
        </p:txBody>
      </p:sp>
    </p:spTree>
    <p:extLst>
      <p:ext uri="{BB962C8B-B14F-4D97-AF65-F5344CB8AC3E}">
        <p14:creationId xmlns:p14="http://schemas.microsoft.com/office/powerpoint/2010/main" val="1076995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8B6F1F3-6E63-FF62-0A98-945918E9B4DA}"/>
              </a:ext>
            </a:extLst>
          </p:cNvPr>
          <p:cNvPicPr>
            <a:picLocks noChangeAspect="1"/>
          </p:cNvPicPr>
          <p:nvPr/>
        </p:nvPicPr>
        <p:blipFill>
          <a:blip r:embed="rId3"/>
          <a:srcRect l="5757" t="24273" r="5441" b="13407"/>
          <a:stretch>
            <a:fillRect/>
          </a:stretch>
        </p:blipFill>
        <p:spPr>
          <a:xfrm>
            <a:off x="1416567" y="1828799"/>
            <a:ext cx="9358865" cy="3663696"/>
          </a:xfrm>
          <a:prstGeom prst="rect">
            <a:avLst/>
          </a:prstGeom>
        </p:spPr>
      </p:pic>
      <p:sp>
        <p:nvSpPr>
          <p:cNvPr id="3"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MODULE 3 · SCÉNARIO DE MENACE · R2</a:t>
            </a:r>
            <a:endParaRPr lang="en-US" sz="1467" dirty="0"/>
          </a:p>
        </p:txBody>
      </p:sp>
      <p:sp>
        <p:nvSpPr>
          <p:cNvPr id="4" name="Text 2"/>
          <p:cNvSpPr/>
          <p:nvPr/>
        </p:nvSpPr>
        <p:spPr>
          <a:xfrm>
            <a:off x="670560" y="804672"/>
            <a:ext cx="10850880" cy="853440"/>
          </a:xfrm>
          <a:prstGeom prst="rect">
            <a:avLst/>
          </a:prstGeom>
          <a:noFill/>
          <a:ln/>
        </p:spPr>
        <p:txBody>
          <a:bodyPr wrap="square" lIns="0" tIns="0" rIns="0" bIns="0" rtlCol="0" anchor="ctr"/>
          <a:lstStyle/>
          <a:p>
            <a:r>
              <a:rPr lang="en-US" sz="2800" b="1" dirty="0">
                <a:solidFill>
                  <a:srgbClr val="1E2B45"/>
                </a:solidFill>
                <a:latin typeface="Georgia" pitchFamily="34" charset="0"/>
                <a:ea typeface="Georgia" pitchFamily="34" charset="-122"/>
                <a:cs typeface="Georgia" pitchFamily="34" charset="-120"/>
              </a:rPr>
              <a:t>Scénario R2 — compromission des études</a:t>
            </a:r>
            <a:endParaRPr lang="en-US" sz="2800" dirty="0"/>
          </a:p>
        </p:txBody>
      </p:sp>
      <p:sp>
        <p:nvSpPr>
          <p:cNvPr id="5" name="Text 3"/>
          <p:cNvSpPr/>
          <p:nvPr/>
        </p:nvSpPr>
        <p:spPr>
          <a:xfrm>
            <a:off x="670560" y="1414272"/>
            <a:ext cx="10850880" cy="365760"/>
          </a:xfrm>
          <a:prstGeom prst="rect">
            <a:avLst/>
          </a:prstGeom>
          <a:noFill/>
          <a:ln/>
        </p:spPr>
        <p:txBody>
          <a:bodyPr wrap="square" lIns="0" tIns="0" rIns="0" bIns="0" rtlCol="0" anchor="ctr"/>
          <a:lstStyle/>
          <a:p>
            <a:r>
              <a:rPr lang="en-US" sz="1600" i="1" dirty="0">
                <a:solidFill>
                  <a:srgbClr val="6B7787"/>
                </a:solidFill>
                <a:latin typeface="Calibri" pitchFamily="34" charset="0"/>
                <a:ea typeface="Calibri" pitchFamily="34" charset="-122"/>
                <a:cs typeface="Calibri" pitchFamily="34" charset="-120"/>
              </a:rPr>
              <a:t>Le « pont invisible » qui franchit l'air-gap</a:t>
            </a:r>
            <a:endParaRPr lang="en-US" sz="1600" dirty="0"/>
          </a:p>
        </p:txBody>
      </p:sp>
      <p:sp>
        <p:nvSpPr>
          <p:cNvPr id="34" name="Shape 32"/>
          <p:cNvSpPr/>
          <p:nvPr/>
        </p:nvSpPr>
        <p:spPr>
          <a:xfrm>
            <a:off x="670560" y="5632704"/>
            <a:ext cx="10850880" cy="512064"/>
          </a:xfrm>
          <a:prstGeom prst="rect">
            <a:avLst/>
          </a:prstGeom>
          <a:solidFill>
            <a:srgbClr val="1E2B45"/>
          </a:solidFill>
          <a:ln/>
        </p:spPr>
      </p:sp>
      <p:sp>
        <p:nvSpPr>
          <p:cNvPr id="35" name="Text 33"/>
          <p:cNvSpPr/>
          <p:nvPr/>
        </p:nvSpPr>
        <p:spPr>
          <a:xfrm>
            <a:off x="938784" y="5632704"/>
            <a:ext cx="10363200" cy="512064"/>
          </a:xfrm>
          <a:prstGeom prst="rect">
            <a:avLst/>
          </a:prstGeom>
          <a:noFill/>
          <a:ln/>
        </p:spPr>
        <p:txBody>
          <a:bodyPr wrap="square" lIns="0" tIns="0" rIns="0" bIns="0" rtlCol="0" anchor="ctr"/>
          <a:lstStyle/>
          <a:p>
            <a:r>
              <a:rPr lang="en-US" sz="1467" b="1" dirty="0">
                <a:solidFill>
                  <a:srgbClr val="D97A28"/>
                </a:solidFill>
                <a:latin typeface="Calibri" pitchFamily="34" charset="0"/>
                <a:ea typeface="Calibri" pitchFamily="34" charset="-122"/>
                <a:cs typeface="Calibri" pitchFamily="34" charset="-120"/>
              </a:rPr>
              <a:t>Vraisemblance : </a:t>
            </a:r>
            <a:r>
              <a:rPr lang="en-US" sz="1467" dirty="0">
                <a:solidFill>
                  <a:srgbClr val="FFFFFF"/>
                </a:solidFill>
                <a:latin typeface="Calibri" pitchFamily="34" charset="0"/>
                <a:ea typeface="Calibri" pitchFamily="34" charset="-122"/>
                <a:cs typeface="Calibri" pitchFamily="34" charset="-120"/>
              </a:rPr>
              <a:t>3 / 4 — importante (la clé USB est un usage quotidien, antivirus sporadique)        </a:t>
            </a:r>
            <a:r>
              <a:rPr lang="en-US" sz="1467" b="1" dirty="0">
                <a:solidFill>
                  <a:srgbClr val="D97A28"/>
                </a:solidFill>
                <a:latin typeface="Calibri" pitchFamily="34" charset="0"/>
                <a:ea typeface="Calibri" pitchFamily="34" charset="-122"/>
                <a:cs typeface="Calibri" pitchFamily="34" charset="-120"/>
              </a:rPr>
              <a:t>Gravité : </a:t>
            </a:r>
            <a:r>
              <a:rPr lang="en-US" sz="1467" dirty="0">
                <a:solidFill>
                  <a:srgbClr val="FFFFFF"/>
                </a:solidFill>
                <a:latin typeface="Calibri" pitchFamily="34" charset="0"/>
                <a:ea typeface="Calibri" pitchFamily="34" charset="-122"/>
                <a:cs typeface="Calibri" pitchFamily="34" charset="-120"/>
              </a:rPr>
              <a:t>4 / 4 — critique</a:t>
            </a:r>
            <a:endParaRPr lang="en-US" sz="1467" dirty="0"/>
          </a:p>
        </p:txBody>
      </p:sp>
      <p:sp>
        <p:nvSpPr>
          <p:cNvPr id="36" name="Shape 34"/>
          <p:cNvSpPr/>
          <p:nvPr/>
        </p:nvSpPr>
        <p:spPr>
          <a:xfrm>
            <a:off x="670560" y="6315456"/>
            <a:ext cx="10850880" cy="0"/>
          </a:xfrm>
          <a:prstGeom prst="line">
            <a:avLst/>
          </a:prstGeom>
          <a:noFill/>
          <a:ln w="12700">
            <a:solidFill>
              <a:srgbClr val="D7DEE8"/>
            </a:solidFill>
            <a:prstDash val="solid"/>
          </a:ln>
        </p:spPr>
      </p:sp>
      <p:sp>
        <p:nvSpPr>
          <p:cNvPr id="37" name="Text 35"/>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38" name="Text 36"/>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9</a:t>
            </a:r>
            <a:endParaRPr lang="en-US" sz="1133" dirty="0"/>
          </a:p>
        </p:txBody>
      </p:sp>
    </p:spTree>
    <p:extLst>
      <p:ext uri="{BB962C8B-B14F-4D97-AF65-F5344CB8AC3E}">
        <p14:creationId xmlns:p14="http://schemas.microsoft.com/office/powerpoint/2010/main" val="3749996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8023408" y="1572768"/>
            <a:ext cx="4572000" cy="320040"/>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Gravité × Vraisemblance (avant traitement)</a:t>
            </a:r>
            <a:endParaRPr lang="en-US" sz="1500" dirty="0"/>
          </a:p>
        </p:txBody>
      </p:sp>
      <p:sp>
        <p:nvSpPr>
          <p:cNvPr id="6" name="Text 4"/>
          <p:cNvSpPr/>
          <p:nvPr/>
        </p:nvSpPr>
        <p:spPr>
          <a:xfrm rot="16200000">
            <a:off x="6971848" y="1984248"/>
            <a:ext cx="1463040" cy="3474720"/>
          </a:xfrm>
          <a:prstGeom prst="rect">
            <a:avLst/>
          </a:prstGeom>
          <a:noFill/>
          <a:ln/>
        </p:spPr>
        <p:txBody>
          <a:bodyPr wrap="square" lIns="0" tIns="0" rIns="0" bIns="0" rtlCol="0" anchor="ctr"/>
          <a:lstStyle/>
          <a:p>
            <a:pPr marL="0" indent="0" algn="ctr">
              <a:buNone/>
            </a:pPr>
            <a:r>
              <a:rPr lang="en-US" sz="1100" b="1" dirty="0">
                <a:solidFill>
                  <a:srgbClr val="5B6B82"/>
                </a:solidFill>
                <a:latin typeface="Calibri" pitchFamily="34" charset="0"/>
                <a:ea typeface="Calibri" pitchFamily="34" charset="-122"/>
                <a:cs typeface="Calibri" pitchFamily="34" charset="-120"/>
              </a:rPr>
              <a:t>Gravité</a:t>
            </a:r>
            <a:endParaRPr lang="en-US" sz="1100" dirty="0"/>
          </a:p>
        </p:txBody>
      </p:sp>
      <p:sp>
        <p:nvSpPr>
          <p:cNvPr id="7" name="Text 5"/>
          <p:cNvSpPr/>
          <p:nvPr/>
        </p:nvSpPr>
        <p:spPr>
          <a:xfrm>
            <a:off x="7182160" y="1984248"/>
            <a:ext cx="777240" cy="86868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Critique</a:t>
            </a:r>
            <a:endParaRPr lang="en-US" sz="900" dirty="0"/>
          </a:p>
        </p:txBody>
      </p:sp>
      <p:sp>
        <p:nvSpPr>
          <p:cNvPr id="8" name="Shape 6"/>
          <p:cNvSpPr/>
          <p:nvPr/>
        </p:nvSpPr>
        <p:spPr>
          <a:xfrm>
            <a:off x="8023408" y="1984248"/>
            <a:ext cx="868680" cy="868680"/>
          </a:xfrm>
          <a:prstGeom prst="rect">
            <a:avLst/>
          </a:prstGeom>
          <a:solidFill>
            <a:srgbClr val="E07B16"/>
          </a:solidFill>
          <a:ln w="19050">
            <a:solidFill>
              <a:srgbClr val="FFFFFF"/>
            </a:solidFill>
            <a:prstDash val="solid"/>
          </a:ln>
        </p:spPr>
      </p:sp>
      <p:sp>
        <p:nvSpPr>
          <p:cNvPr id="9" name="Shape 7"/>
          <p:cNvSpPr/>
          <p:nvPr/>
        </p:nvSpPr>
        <p:spPr>
          <a:xfrm>
            <a:off x="8892088" y="1984248"/>
            <a:ext cx="868680" cy="868680"/>
          </a:xfrm>
          <a:prstGeom prst="rect">
            <a:avLst/>
          </a:prstGeom>
          <a:solidFill>
            <a:srgbClr val="C0392B"/>
          </a:solidFill>
          <a:ln w="19050">
            <a:solidFill>
              <a:srgbClr val="FFFFFF"/>
            </a:solidFill>
            <a:prstDash val="solid"/>
          </a:ln>
        </p:spPr>
      </p:sp>
      <p:sp>
        <p:nvSpPr>
          <p:cNvPr id="10" name="Shape 8"/>
          <p:cNvSpPr/>
          <p:nvPr/>
        </p:nvSpPr>
        <p:spPr>
          <a:xfrm>
            <a:off x="9760768" y="1984248"/>
            <a:ext cx="868680" cy="868680"/>
          </a:xfrm>
          <a:prstGeom prst="rect">
            <a:avLst/>
          </a:prstGeom>
          <a:solidFill>
            <a:srgbClr val="C0392B"/>
          </a:solidFill>
          <a:ln w="19050">
            <a:solidFill>
              <a:srgbClr val="FFFFFF"/>
            </a:solidFill>
            <a:prstDash val="solid"/>
          </a:ln>
        </p:spPr>
      </p:sp>
      <p:sp>
        <p:nvSpPr>
          <p:cNvPr id="11" name="Shape 9"/>
          <p:cNvSpPr/>
          <p:nvPr/>
        </p:nvSpPr>
        <p:spPr>
          <a:xfrm>
            <a:off x="10629448" y="1984248"/>
            <a:ext cx="868680" cy="868680"/>
          </a:xfrm>
          <a:prstGeom prst="rect">
            <a:avLst/>
          </a:prstGeom>
          <a:solidFill>
            <a:srgbClr val="C0392B"/>
          </a:solidFill>
          <a:ln w="19050">
            <a:solidFill>
              <a:srgbClr val="FFFFFF"/>
            </a:solidFill>
            <a:prstDash val="solid"/>
          </a:ln>
        </p:spPr>
      </p:sp>
      <p:sp>
        <p:nvSpPr>
          <p:cNvPr id="12" name="Text 10"/>
          <p:cNvSpPr/>
          <p:nvPr/>
        </p:nvSpPr>
        <p:spPr>
          <a:xfrm>
            <a:off x="7182160" y="2852928"/>
            <a:ext cx="777240" cy="86868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Grave</a:t>
            </a:r>
            <a:endParaRPr lang="en-US" sz="900" dirty="0"/>
          </a:p>
        </p:txBody>
      </p:sp>
      <p:sp>
        <p:nvSpPr>
          <p:cNvPr id="13" name="Shape 11"/>
          <p:cNvSpPr/>
          <p:nvPr/>
        </p:nvSpPr>
        <p:spPr>
          <a:xfrm>
            <a:off x="8023408" y="2852928"/>
            <a:ext cx="868680" cy="868680"/>
          </a:xfrm>
          <a:prstGeom prst="rect">
            <a:avLst/>
          </a:prstGeom>
          <a:solidFill>
            <a:srgbClr val="F2C014"/>
          </a:solidFill>
          <a:ln w="19050">
            <a:solidFill>
              <a:srgbClr val="FFFFFF"/>
            </a:solidFill>
            <a:prstDash val="solid"/>
          </a:ln>
        </p:spPr>
      </p:sp>
      <p:sp>
        <p:nvSpPr>
          <p:cNvPr id="14" name="Shape 12"/>
          <p:cNvSpPr/>
          <p:nvPr/>
        </p:nvSpPr>
        <p:spPr>
          <a:xfrm>
            <a:off x="8892088" y="2852928"/>
            <a:ext cx="868680" cy="868680"/>
          </a:xfrm>
          <a:prstGeom prst="rect">
            <a:avLst/>
          </a:prstGeom>
          <a:solidFill>
            <a:srgbClr val="E07B16"/>
          </a:solidFill>
          <a:ln w="19050">
            <a:solidFill>
              <a:srgbClr val="FFFFFF"/>
            </a:solidFill>
            <a:prstDash val="solid"/>
          </a:ln>
        </p:spPr>
      </p:sp>
      <p:sp>
        <p:nvSpPr>
          <p:cNvPr id="15" name="Shape 13"/>
          <p:cNvSpPr/>
          <p:nvPr/>
        </p:nvSpPr>
        <p:spPr>
          <a:xfrm>
            <a:off x="9760768" y="2852928"/>
            <a:ext cx="868680" cy="868680"/>
          </a:xfrm>
          <a:prstGeom prst="rect">
            <a:avLst/>
          </a:prstGeom>
          <a:solidFill>
            <a:srgbClr val="C0392B"/>
          </a:solidFill>
          <a:ln w="19050">
            <a:solidFill>
              <a:srgbClr val="FFFFFF"/>
            </a:solidFill>
            <a:prstDash val="solid"/>
          </a:ln>
        </p:spPr>
      </p:sp>
      <p:sp>
        <p:nvSpPr>
          <p:cNvPr id="16" name="Shape 14"/>
          <p:cNvSpPr/>
          <p:nvPr/>
        </p:nvSpPr>
        <p:spPr>
          <a:xfrm>
            <a:off x="10629448" y="2852928"/>
            <a:ext cx="868680" cy="868680"/>
          </a:xfrm>
          <a:prstGeom prst="rect">
            <a:avLst/>
          </a:prstGeom>
          <a:solidFill>
            <a:srgbClr val="C0392B"/>
          </a:solidFill>
          <a:ln w="19050">
            <a:solidFill>
              <a:srgbClr val="FFFFFF"/>
            </a:solidFill>
            <a:prstDash val="solid"/>
          </a:ln>
        </p:spPr>
      </p:sp>
      <p:sp>
        <p:nvSpPr>
          <p:cNvPr id="17" name="Text 15"/>
          <p:cNvSpPr/>
          <p:nvPr/>
        </p:nvSpPr>
        <p:spPr>
          <a:xfrm>
            <a:off x="7182160" y="3721608"/>
            <a:ext cx="777240" cy="86868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Limité</a:t>
            </a:r>
            <a:endParaRPr lang="en-US" sz="900" dirty="0"/>
          </a:p>
        </p:txBody>
      </p:sp>
      <p:sp>
        <p:nvSpPr>
          <p:cNvPr id="18" name="Shape 16"/>
          <p:cNvSpPr/>
          <p:nvPr/>
        </p:nvSpPr>
        <p:spPr>
          <a:xfrm>
            <a:off x="8023408" y="3721608"/>
            <a:ext cx="868680" cy="868680"/>
          </a:xfrm>
          <a:prstGeom prst="rect">
            <a:avLst/>
          </a:prstGeom>
          <a:solidFill>
            <a:srgbClr val="2E7D32"/>
          </a:solidFill>
          <a:ln w="19050">
            <a:solidFill>
              <a:srgbClr val="FFFFFF"/>
            </a:solidFill>
            <a:prstDash val="solid"/>
          </a:ln>
        </p:spPr>
      </p:sp>
      <p:sp>
        <p:nvSpPr>
          <p:cNvPr id="19" name="Shape 17"/>
          <p:cNvSpPr/>
          <p:nvPr/>
        </p:nvSpPr>
        <p:spPr>
          <a:xfrm>
            <a:off x="8892088" y="3721608"/>
            <a:ext cx="868680" cy="868680"/>
          </a:xfrm>
          <a:prstGeom prst="rect">
            <a:avLst/>
          </a:prstGeom>
          <a:solidFill>
            <a:srgbClr val="F2C014"/>
          </a:solidFill>
          <a:ln w="19050">
            <a:solidFill>
              <a:srgbClr val="FFFFFF"/>
            </a:solidFill>
            <a:prstDash val="solid"/>
          </a:ln>
        </p:spPr>
      </p:sp>
      <p:sp>
        <p:nvSpPr>
          <p:cNvPr id="20" name="Shape 18"/>
          <p:cNvSpPr/>
          <p:nvPr/>
        </p:nvSpPr>
        <p:spPr>
          <a:xfrm>
            <a:off x="9760768" y="3721608"/>
            <a:ext cx="868680" cy="868680"/>
          </a:xfrm>
          <a:prstGeom prst="rect">
            <a:avLst/>
          </a:prstGeom>
          <a:solidFill>
            <a:srgbClr val="E07B16"/>
          </a:solidFill>
          <a:ln w="19050">
            <a:solidFill>
              <a:srgbClr val="FFFFFF"/>
            </a:solidFill>
            <a:prstDash val="solid"/>
          </a:ln>
        </p:spPr>
      </p:sp>
      <p:sp>
        <p:nvSpPr>
          <p:cNvPr id="21" name="Shape 19"/>
          <p:cNvSpPr/>
          <p:nvPr/>
        </p:nvSpPr>
        <p:spPr>
          <a:xfrm>
            <a:off x="10629448" y="3721608"/>
            <a:ext cx="868680" cy="868680"/>
          </a:xfrm>
          <a:prstGeom prst="rect">
            <a:avLst/>
          </a:prstGeom>
          <a:solidFill>
            <a:srgbClr val="E07B16"/>
          </a:solidFill>
          <a:ln w="19050">
            <a:solidFill>
              <a:srgbClr val="FFFFFF"/>
            </a:solidFill>
            <a:prstDash val="solid"/>
          </a:ln>
        </p:spPr>
      </p:sp>
      <p:sp>
        <p:nvSpPr>
          <p:cNvPr id="22" name="Text 20"/>
          <p:cNvSpPr/>
          <p:nvPr/>
        </p:nvSpPr>
        <p:spPr>
          <a:xfrm>
            <a:off x="7182160" y="4590288"/>
            <a:ext cx="777240" cy="86868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Néglig.</a:t>
            </a:r>
            <a:endParaRPr lang="en-US" sz="900" dirty="0"/>
          </a:p>
        </p:txBody>
      </p:sp>
      <p:sp>
        <p:nvSpPr>
          <p:cNvPr id="23" name="Shape 21"/>
          <p:cNvSpPr/>
          <p:nvPr/>
        </p:nvSpPr>
        <p:spPr>
          <a:xfrm>
            <a:off x="8023408" y="4590288"/>
            <a:ext cx="868680" cy="868680"/>
          </a:xfrm>
          <a:prstGeom prst="rect">
            <a:avLst/>
          </a:prstGeom>
          <a:solidFill>
            <a:srgbClr val="2E7D32"/>
          </a:solidFill>
          <a:ln w="19050">
            <a:solidFill>
              <a:srgbClr val="FFFFFF"/>
            </a:solidFill>
            <a:prstDash val="solid"/>
          </a:ln>
        </p:spPr>
      </p:sp>
      <p:sp>
        <p:nvSpPr>
          <p:cNvPr id="24" name="Shape 22"/>
          <p:cNvSpPr/>
          <p:nvPr/>
        </p:nvSpPr>
        <p:spPr>
          <a:xfrm>
            <a:off x="8892088" y="4590288"/>
            <a:ext cx="868680" cy="868680"/>
          </a:xfrm>
          <a:prstGeom prst="rect">
            <a:avLst/>
          </a:prstGeom>
          <a:solidFill>
            <a:srgbClr val="2E7D32"/>
          </a:solidFill>
          <a:ln w="19050">
            <a:solidFill>
              <a:srgbClr val="FFFFFF"/>
            </a:solidFill>
            <a:prstDash val="solid"/>
          </a:ln>
        </p:spPr>
      </p:sp>
      <p:sp>
        <p:nvSpPr>
          <p:cNvPr id="25" name="Shape 23"/>
          <p:cNvSpPr/>
          <p:nvPr/>
        </p:nvSpPr>
        <p:spPr>
          <a:xfrm>
            <a:off x="9760768" y="4590288"/>
            <a:ext cx="868680" cy="868680"/>
          </a:xfrm>
          <a:prstGeom prst="rect">
            <a:avLst/>
          </a:prstGeom>
          <a:solidFill>
            <a:srgbClr val="F2C014"/>
          </a:solidFill>
          <a:ln w="19050">
            <a:solidFill>
              <a:srgbClr val="FFFFFF"/>
            </a:solidFill>
            <a:prstDash val="solid"/>
          </a:ln>
        </p:spPr>
      </p:sp>
      <p:sp>
        <p:nvSpPr>
          <p:cNvPr id="26" name="Shape 24"/>
          <p:cNvSpPr/>
          <p:nvPr/>
        </p:nvSpPr>
        <p:spPr>
          <a:xfrm>
            <a:off x="10629448" y="4590288"/>
            <a:ext cx="868680" cy="868680"/>
          </a:xfrm>
          <a:prstGeom prst="rect">
            <a:avLst/>
          </a:prstGeom>
          <a:solidFill>
            <a:srgbClr val="F2C014"/>
          </a:solidFill>
          <a:ln w="19050">
            <a:solidFill>
              <a:srgbClr val="FFFFFF"/>
            </a:solidFill>
            <a:prstDash val="solid"/>
          </a:ln>
        </p:spPr>
      </p:sp>
      <p:sp>
        <p:nvSpPr>
          <p:cNvPr id="27" name="Text 25"/>
          <p:cNvSpPr/>
          <p:nvPr/>
        </p:nvSpPr>
        <p:spPr>
          <a:xfrm>
            <a:off x="8023408" y="5486400"/>
            <a:ext cx="868680" cy="237744"/>
          </a:xfrm>
          <a:prstGeom prst="rect">
            <a:avLst/>
          </a:prstGeom>
          <a:noFill/>
          <a:ln/>
        </p:spPr>
        <p:txBody>
          <a:bodyPr wrap="square" lIns="0" tIns="0" rIns="0" bIns="0" rtlCol="0" anchor="ctr"/>
          <a:lstStyle/>
          <a:p>
            <a:pPr marL="0" indent="0" algn="ctr">
              <a:buNone/>
            </a:pPr>
            <a:r>
              <a:rPr lang="en-US" sz="900" dirty="0">
                <a:solidFill>
                  <a:srgbClr val="5B6B82"/>
                </a:solidFill>
                <a:latin typeface="Calibri" pitchFamily="34" charset="0"/>
                <a:ea typeface="Calibri" pitchFamily="34" charset="-122"/>
                <a:cs typeface="Calibri" pitchFamily="34" charset="-120"/>
              </a:rPr>
              <a:t>Néglig.</a:t>
            </a:r>
            <a:endParaRPr lang="en-US" sz="900" dirty="0"/>
          </a:p>
        </p:txBody>
      </p:sp>
      <p:sp>
        <p:nvSpPr>
          <p:cNvPr id="28" name="Text 26"/>
          <p:cNvSpPr/>
          <p:nvPr/>
        </p:nvSpPr>
        <p:spPr>
          <a:xfrm>
            <a:off x="8892088" y="5486400"/>
            <a:ext cx="868680" cy="237744"/>
          </a:xfrm>
          <a:prstGeom prst="rect">
            <a:avLst/>
          </a:prstGeom>
          <a:noFill/>
          <a:ln/>
        </p:spPr>
        <p:txBody>
          <a:bodyPr wrap="square" lIns="0" tIns="0" rIns="0" bIns="0" rtlCol="0" anchor="ctr"/>
          <a:lstStyle/>
          <a:p>
            <a:pPr marL="0" indent="0" algn="ctr">
              <a:buNone/>
            </a:pPr>
            <a:r>
              <a:rPr lang="en-US" sz="900" dirty="0">
                <a:solidFill>
                  <a:srgbClr val="5B6B82"/>
                </a:solidFill>
                <a:latin typeface="Calibri" pitchFamily="34" charset="0"/>
                <a:ea typeface="Calibri" pitchFamily="34" charset="-122"/>
                <a:cs typeface="Calibri" pitchFamily="34" charset="-120"/>
              </a:rPr>
              <a:t>Limité</a:t>
            </a:r>
            <a:endParaRPr lang="en-US" sz="900" dirty="0"/>
          </a:p>
        </p:txBody>
      </p:sp>
      <p:sp>
        <p:nvSpPr>
          <p:cNvPr id="29" name="Text 27"/>
          <p:cNvSpPr/>
          <p:nvPr/>
        </p:nvSpPr>
        <p:spPr>
          <a:xfrm>
            <a:off x="9760768" y="5486400"/>
            <a:ext cx="868680" cy="237744"/>
          </a:xfrm>
          <a:prstGeom prst="rect">
            <a:avLst/>
          </a:prstGeom>
          <a:noFill/>
          <a:ln/>
        </p:spPr>
        <p:txBody>
          <a:bodyPr wrap="square" lIns="0" tIns="0" rIns="0" bIns="0" rtlCol="0" anchor="ctr"/>
          <a:lstStyle/>
          <a:p>
            <a:pPr marL="0" indent="0" algn="ctr">
              <a:buNone/>
            </a:pPr>
            <a:r>
              <a:rPr lang="en-US" sz="900" dirty="0">
                <a:solidFill>
                  <a:srgbClr val="5B6B82"/>
                </a:solidFill>
                <a:latin typeface="Calibri" pitchFamily="34" charset="0"/>
                <a:ea typeface="Calibri" pitchFamily="34" charset="-122"/>
                <a:cs typeface="Calibri" pitchFamily="34" charset="-120"/>
              </a:rPr>
              <a:t>Fort</a:t>
            </a:r>
            <a:endParaRPr lang="en-US" sz="900" dirty="0"/>
          </a:p>
        </p:txBody>
      </p:sp>
      <p:sp>
        <p:nvSpPr>
          <p:cNvPr id="30" name="Text 28"/>
          <p:cNvSpPr/>
          <p:nvPr/>
        </p:nvSpPr>
        <p:spPr>
          <a:xfrm>
            <a:off x="10629448" y="5486400"/>
            <a:ext cx="868680" cy="237744"/>
          </a:xfrm>
          <a:prstGeom prst="rect">
            <a:avLst/>
          </a:prstGeom>
          <a:noFill/>
          <a:ln/>
        </p:spPr>
        <p:txBody>
          <a:bodyPr wrap="square" lIns="0" tIns="0" rIns="0" bIns="0" rtlCol="0" anchor="ctr"/>
          <a:lstStyle/>
          <a:p>
            <a:pPr marL="0" indent="0" algn="ctr">
              <a:buNone/>
            </a:pPr>
            <a:r>
              <a:rPr lang="en-US" sz="900" dirty="0">
                <a:solidFill>
                  <a:srgbClr val="5B6B82"/>
                </a:solidFill>
                <a:latin typeface="Calibri" pitchFamily="34" charset="0"/>
                <a:ea typeface="Calibri" pitchFamily="34" charset="-122"/>
                <a:cs typeface="Calibri" pitchFamily="34" charset="-120"/>
              </a:rPr>
              <a:t>Maximal</a:t>
            </a:r>
            <a:endParaRPr lang="en-US" sz="900" dirty="0"/>
          </a:p>
        </p:txBody>
      </p:sp>
      <p:sp>
        <p:nvSpPr>
          <p:cNvPr id="31" name="Text 29"/>
          <p:cNvSpPr/>
          <p:nvPr/>
        </p:nvSpPr>
        <p:spPr>
          <a:xfrm>
            <a:off x="8023408" y="5715000"/>
            <a:ext cx="3474720" cy="237744"/>
          </a:xfrm>
          <a:prstGeom prst="rect">
            <a:avLst/>
          </a:prstGeom>
          <a:noFill/>
          <a:ln/>
        </p:spPr>
        <p:txBody>
          <a:bodyPr wrap="square" lIns="0" tIns="0" rIns="0" bIns="0" rtlCol="0" anchor="ctr"/>
          <a:lstStyle/>
          <a:p>
            <a:pPr marL="0" indent="0" algn="ctr">
              <a:buNone/>
            </a:pPr>
            <a:r>
              <a:rPr lang="en-US" sz="1100" b="1" dirty="0">
                <a:solidFill>
                  <a:srgbClr val="5B6B82"/>
                </a:solidFill>
                <a:latin typeface="Calibri" pitchFamily="34" charset="0"/>
                <a:ea typeface="Calibri" pitchFamily="34" charset="-122"/>
                <a:cs typeface="Calibri" pitchFamily="34" charset="-120"/>
              </a:rPr>
              <a:t>Vraisemblance</a:t>
            </a:r>
            <a:endParaRPr lang="en-US" sz="1100" dirty="0"/>
          </a:p>
        </p:txBody>
      </p:sp>
      <p:sp>
        <p:nvSpPr>
          <p:cNvPr id="32" name="Shape 30"/>
          <p:cNvSpPr/>
          <p:nvPr/>
        </p:nvSpPr>
        <p:spPr>
          <a:xfrm>
            <a:off x="9966508" y="2189988"/>
            <a:ext cx="457200" cy="457200"/>
          </a:xfrm>
          <a:prstGeom prst="ellipse">
            <a:avLst/>
          </a:prstGeom>
          <a:solidFill>
            <a:srgbClr val="1F2A44"/>
          </a:solidFill>
          <a:ln w="25400">
            <a:solidFill>
              <a:srgbClr val="FFFFFF"/>
            </a:solidFill>
            <a:prstDash val="solid"/>
          </a:ln>
        </p:spPr>
      </p:sp>
      <p:sp>
        <p:nvSpPr>
          <p:cNvPr id="33" name="Text 31"/>
          <p:cNvSpPr/>
          <p:nvPr/>
        </p:nvSpPr>
        <p:spPr>
          <a:xfrm>
            <a:off x="9966508" y="218998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R2</a:t>
            </a:r>
            <a:endParaRPr lang="en-US" sz="1100" dirty="0"/>
          </a:p>
        </p:txBody>
      </p:sp>
      <p:sp>
        <p:nvSpPr>
          <p:cNvPr id="34" name="Shape 32"/>
          <p:cNvSpPr/>
          <p:nvPr/>
        </p:nvSpPr>
        <p:spPr>
          <a:xfrm>
            <a:off x="9966508" y="3058668"/>
            <a:ext cx="457200" cy="457200"/>
          </a:xfrm>
          <a:prstGeom prst="ellipse">
            <a:avLst/>
          </a:prstGeom>
          <a:solidFill>
            <a:srgbClr val="1F2A44"/>
          </a:solidFill>
          <a:ln w="25400">
            <a:solidFill>
              <a:srgbClr val="FFFFFF"/>
            </a:solidFill>
            <a:prstDash val="solid"/>
          </a:ln>
        </p:spPr>
      </p:sp>
      <p:sp>
        <p:nvSpPr>
          <p:cNvPr id="35" name="Text 33"/>
          <p:cNvSpPr/>
          <p:nvPr/>
        </p:nvSpPr>
        <p:spPr>
          <a:xfrm>
            <a:off x="9966508" y="305866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R1</a:t>
            </a:r>
            <a:endParaRPr lang="en-US" sz="1100" dirty="0"/>
          </a:p>
        </p:txBody>
      </p:sp>
      <p:sp>
        <p:nvSpPr>
          <p:cNvPr id="36" name="Shape 34"/>
          <p:cNvSpPr/>
          <p:nvPr/>
        </p:nvSpPr>
        <p:spPr>
          <a:xfrm>
            <a:off x="9097828" y="3058668"/>
            <a:ext cx="457200" cy="457200"/>
          </a:xfrm>
          <a:prstGeom prst="ellipse">
            <a:avLst/>
          </a:prstGeom>
          <a:solidFill>
            <a:srgbClr val="1F2A44"/>
          </a:solidFill>
          <a:ln w="25400">
            <a:solidFill>
              <a:srgbClr val="FFFFFF"/>
            </a:solidFill>
            <a:prstDash val="solid"/>
          </a:ln>
        </p:spPr>
      </p:sp>
      <p:sp>
        <p:nvSpPr>
          <p:cNvPr id="37" name="Text 35"/>
          <p:cNvSpPr/>
          <p:nvPr/>
        </p:nvSpPr>
        <p:spPr>
          <a:xfrm>
            <a:off x="9097828" y="305866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R4</a:t>
            </a:r>
            <a:endParaRPr lang="en-US" sz="1100" dirty="0"/>
          </a:p>
        </p:txBody>
      </p:sp>
      <p:sp>
        <p:nvSpPr>
          <p:cNvPr id="38" name="Shape 36"/>
          <p:cNvSpPr/>
          <p:nvPr/>
        </p:nvSpPr>
        <p:spPr>
          <a:xfrm>
            <a:off x="9966508" y="3927348"/>
            <a:ext cx="457200" cy="457200"/>
          </a:xfrm>
          <a:prstGeom prst="ellipse">
            <a:avLst/>
          </a:prstGeom>
          <a:solidFill>
            <a:srgbClr val="1F2A44"/>
          </a:solidFill>
          <a:ln w="25400">
            <a:solidFill>
              <a:srgbClr val="FFFFFF"/>
            </a:solidFill>
            <a:prstDash val="solid"/>
          </a:ln>
        </p:spPr>
      </p:sp>
      <p:sp>
        <p:nvSpPr>
          <p:cNvPr id="39" name="Text 37"/>
          <p:cNvSpPr/>
          <p:nvPr/>
        </p:nvSpPr>
        <p:spPr>
          <a:xfrm>
            <a:off x="9966508" y="392734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R6</a:t>
            </a:r>
            <a:endParaRPr lang="en-US" sz="1100" dirty="0"/>
          </a:p>
        </p:txBody>
      </p:sp>
      <p:sp>
        <p:nvSpPr>
          <p:cNvPr id="40" name="Shape 38"/>
          <p:cNvSpPr/>
          <p:nvPr/>
        </p:nvSpPr>
        <p:spPr>
          <a:xfrm>
            <a:off x="9097828" y="3927348"/>
            <a:ext cx="457200" cy="457200"/>
          </a:xfrm>
          <a:prstGeom prst="ellipse">
            <a:avLst/>
          </a:prstGeom>
          <a:solidFill>
            <a:srgbClr val="1F2A44"/>
          </a:solidFill>
          <a:ln w="25400">
            <a:solidFill>
              <a:srgbClr val="FFFFFF"/>
            </a:solidFill>
            <a:prstDash val="solid"/>
          </a:ln>
        </p:spPr>
      </p:sp>
      <p:sp>
        <p:nvSpPr>
          <p:cNvPr id="41" name="Text 39"/>
          <p:cNvSpPr/>
          <p:nvPr/>
        </p:nvSpPr>
        <p:spPr>
          <a:xfrm>
            <a:off x="9097828" y="392734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R3</a:t>
            </a:r>
            <a:endParaRPr lang="en-US" sz="1100" dirty="0"/>
          </a:p>
        </p:txBody>
      </p:sp>
      <p:sp>
        <p:nvSpPr>
          <p:cNvPr id="42" name="Shape 40"/>
          <p:cNvSpPr/>
          <p:nvPr/>
        </p:nvSpPr>
        <p:spPr>
          <a:xfrm>
            <a:off x="8229148" y="3058668"/>
            <a:ext cx="457200" cy="457200"/>
          </a:xfrm>
          <a:prstGeom prst="ellipse">
            <a:avLst/>
          </a:prstGeom>
          <a:solidFill>
            <a:srgbClr val="1F2A44"/>
          </a:solidFill>
          <a:ln w="25400">
            <a:solidFill>
              <a:srgbClr val="FFFFFF"/>
            </a:solidFill>
            <a:prstDash val="solid"/>
          </a:ln>
        </p:spPr>
      </p:sp>
      <p:sp>
        <p:nvSpPr>
          <p:cNvPr id="43" name="Text 41"/>
          <p:cNvSpPr/>
          <p:nvPr/>
        </p:nvSpPr>
        <p:spPr>
          <a:xfrm>
            <a:off x="8229148" y="305866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R5</a:t>
            </a:r>
            <a:endParaRPr lang="en-US" sz="1100" dirty="0"/>
          </a:p>
        </p:txBody>
      </p:sp>
      <p:graphicFrame>
        <p:nvGraphicFramePr>
          <p:cNvPr id="49" name="Table 0"/>
          <p:cNvGraphicFramePr>
            <a:graphicFrameLocks noGrp="1"/>
          </p:cNvGraphicFramePr>
          <p:nvPr>
            <p:extLst>
              <p:ext uri="{D42A27DB-BD31-4B8C-83A1-F6EECF244321}">
                <p14:modId xmlns:p14="http://schemas.microsoft.com/office/powerpoint/2010/main" val="3166323996"/>
              </p:ext>
            </p:extLst>
          </p:nvPr>
        </p:nvGraphicFramePr>
        <p:xfrm>
          <a:off x="576072" y="1702159"/>
          <a:ext cx="6559232" cy="4038898"/>
        </p:xfrm>
        <a:graphic>
          <a:graphicData uri="http://schemas.openxmlformats.org/drawingml/2006/table">
            <a:tbl>
              <a:tblPr/>
              <a:tblGrid>
                <a:gridCol w="358963">
                  <a:extLst>
                    <a:ext uri="{9D8B030D-6E8A-4147-A177-3AD203B41FA5}">
                      <a16:colId xmlns:a16="http://schemas.microsoft.com/office/drawing/2014/main" val="20000"/>
                    </a:ext>
                  </a:extLst>
                </a:gridCol>
                <a:gridCol w="1175303">
                  <a:extLst>
                    <a:ext uri="{9D8B030D-6E8A-4147-A177-3AD203B41FA5}">
                      <a16:colId xmlns:a16="http://schemas.microsoft.com/office/drawing/2014/main" val="20001"/>
                    </a:ext>
                  </a:extLst>
                </a:gridCol>
                <a:gridCol w="5024966">
                  <a:extLst>
                    <a:ext uri="{9D8B030D-6E8A-4147-A177-3AD203B41FA5}">
                      <a16:colId xmlns:a16="http://schemas.microsoft.com/office/drawing/2014/main" val="20002"/>
                    </a:ext>
                  </a:extLst>
                </a:gridCol>
              </a:tblGrid>
              <a:tr h="32634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Risque</a:t>
                      </a:r>
                      <a:endParaRPr lang="en-US" sz="12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Scénario de risque  (source → mode opératoire → conséquence)</a:t>
                      </a:r>
                      <a:endParaRPr lang="en-US" sz="12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27586">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R2 — Espionnage des études</a:t>
                      </a:r>
                      <a:endParaRPr lang="en-US" sz="115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30384A"/>
                          </a:solidFill>
                          <a:latin typeface="Calibri" pitchFamily="34" charset="0"/>
                          <a:ea typeface="Calibri" pitchFamily="34" charset="-122"/>
                          <a:cs typeface="Calibri" pitchFamily="34" charset="-120"/>
                        </a:rPr>
                        <a:t>Concurrent/officine : clé USB infectée sur un PC fixe </a:t>
                      </a:r>
                      <a:r>
                        <a:rPr lang="en-US" sz="1000" dirty="0" err="1">
                          <a:solidFill>
                            <a:srgbClr val="30384A"/>
                          </a:solidFill>
                          <a:latin typeface="Calibri" pitchFamily="34" charset="0"/>
                          <a:ea typeface="Calibri" pitchFamily="34" charset="-122"/>
                          <a:cs typeface="Calibri" pitchFamily="34" charset="-120"/>
                        </a:rPr>
                        <a:t>ou</a:t>
                      </a:r>
                      <a:r>
                        <a:rPr lang="en-US" sz="1000" dirty="0">
                          <a:solidFill>
                            <a:srgbClr val="30384A"/>
                          </a:solidFill>
                          <a:latin typeface="Calibri" pitchFamily="34" charset="0"/>
                          <a:ea typeface="Calibri" pitchFamily="34" charset="-122"/>
                          <a:cs typeface="Calibri" pitchFamily="34" charset="-120"/>
                        </a:rPr>
                        <a:t> accès physique (faux client, ménage) → exfiltration ou altération des études → atteinte pénale, perte de réputation.</a:t>
                      </a:r>
                      <a:endParaRPr lang="en-US" sz="10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1"/>
                  </a:ext>
                </a:extLst>
              </a:tr>
              <a:tr h="67161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R1 — Fuite des prix</a:t>
                      </a:r>
                      <a:endParaRPr lang="en-US" sz="115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30384A"/>
                          </a:solidFill>
                          <a:latin typeface="Calibri" pitchFamily="34" charset="0"/>
                          <a:ea typeface="Calibri" pitchFamily="34" charset="-122"/>
                          <a:cs typeface="Calibri" pitchFamily="34" charset="-120"/>
                        </a:rPr>
                        <a:t>Concurrent : compromission du portable du commercial ou récupération de propositions via clé USB / impressions non rangées → divulgation des prix → perte répétée d'appels d'offres.</a:t>
                      </a:r>
                      <a:endParaRPr lang="en-US" sz="10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2"/>
                  </a:ext>
                </a:extLst>
              </a:tr>
              <a:tr h="61565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R4 — Fuite RGPD</a:t>
                      </a:r>
                      <a:endParaRPr lang="en-US" sz="115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30384A"/>
                          </a:solidFill>
                          <a:latin typeface="Calibri" pitchFamily="34" charset="0"/>
                          <a:ea typeface="Calibri" pitchFamily="34" charset="-122"/>
                          <a:cs typeface="Calibri" pitchFamily="34" charset="-120"/>
                        </a:rPr>
                        <a:t>Attaquant ou employé négligent : exfiltration de données nominatives (clients/RH) non chiffrées → sanction CNIL, atteinte à la confiance.</a:t>
                      </a:r>
                      <a:endParaRPr lang="en-US" sz="10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3"/>
                  </a:ext>
                </a:extLst>
              </a:tr>
              <a:tr h="57833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R6 — Perte de clé USB</a:t>
                      </a:r>
                      <a:endParaRPr lang="en-US" sz="115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30384A"/>
                          </a:solidFill>
                          <a:latin typeface="Calibri" pitchFamily="34" charset="0"/>
                          <a:ea typeface="Calibri" pitchFamily="34" charset="-122"/>
                          <a:cs typeface="Calibri" pitchFamily="34" charset="-120"/>
                        </a:rPr>
                        <a:t>Clé USB non chiffrée contenant une étude, égarée hors de l'armoire → divulgation d'une étude complète à un tiers.</a:t>
                      </a:r>
                      <a:endParaRPr lang="en-US" sz="10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4"/>
                  </a:ext>
                </a:extLst>
              </a:tr>
              <a:tr h="559682">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R3 — Indispo. messagerie</a:t>
                      </a:r>
                      <a:endParaRPr lang="en-US" sz="115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30384A"/>
                          </a:solidFill>
                          <a:latin typeface="Calibri" pitchFamily="34" charset="0"/>
                          <a:ea typeface="Calibri" pitchFamily="34" charset="-122"/>
                          <a:cs typeface="Calibri" pitchFamily="34" charset="-120"/>
                        </a:rPr>
                        <a:t>Panne ou saturation de la messagerie interne → indisponibilité et ralentissement des échanges opérationnels.</a:t>
                      </a:r>
                      <a:endParaRPr lang="en-US" sz="10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5"/>
                  </a:ext>
                </a:extLst>
              </a:tr>
              <a:tr h="559682">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R5 — Perte par panne</a:t>
                      </a:r>
                      <a:endParaRPr lang="en-US" sz="115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30384A"/>
                          </a:solidFill>
                          <a:latin typeface="Calibri" pitchFamily="34" charset="0"/>
                          <a:ea typeface="Calibri" pitchFamily="34" charset="-122"/>
                          <a:cs typeface="Calibri" pitchFamily="34" charset="-120"/>
                        </a:rPr>
                        <a:t>Panne matérielle sur les serveurs → perte de données ; fortement atténuée par le RAID + serveur miroir.</a:t>
                      </a:r>
                      <a:endParaRPr lang="en-US" sz="10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1" name="Text 3"/>
          <p:cNvSpPr/>
          <p:nvPr/>
        </p:nvSpPr>
        <p:spPr>
          <a:xfrm>
            <a:off x="576072" y="5925147"/>
            <a:ext cx="10972800" cy="274320"/>
          </a:xfrm>
          <a:prstGeom prst="rect">
            <a:avLst/>
          </a:prstGeom>
          <a:noFill/>
          <a:ln/>
        </p:spPr>
        <p:txBody>
          <a:bodyPr wrap="square" lIns="0" tIns="0" rIns="0" bIns="0" rtlCol="0" anchor="ctr"/>
          <a:lstStyle/>
          <a:p>
            <a:pPr marL="0" indent="0">
              <a:buNone/>
            </a:pPr>
            <a:r>
              <a:rPr lang="en-US" sz="1100" i="1" dirty="0">
                <a:solidFill>
                  <a:srgbClr val="5B6B82"/>
                </a:solidFill>
                <a:latin typeface="Calibri" pitchFamily="34" charset="0"/>
                <a:ea typeface="Calibri" pitchFamily="34" charset="-122"/>
                <a:cs typeface="Calibri" pitchFamily="34" charset="-120"/>
              </a:rPr>
              <a:t>Les deux premiers risques sont approfondis (traitement &amp; résiduels) ; les quatre suivants relèvent surtout des bonnes pratiques.</a:t>
            </a:r>
            <a:endParaRPr lang="en-US" sz="1100" dirty="0"/>
          </a:p>
        </p:txBody>
      </p:sp>
      <p:sp>
        <p:nvSpPr>
          <p:cNvPr id="44"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MODULE 4 · ÉTUDE DES RISQUES</a:t>
            </a:r>
            <a:endParaRPr lang="en-US" sz="1467" dirty="0"/>
          </a:p>
        </p:txBody>
      </p:sp>
      <p:sp>
        <p:nvSpPr>
          <p:cNvPr id="45" name="Text 2"/>
          <p:cNvSpPr/>
          <p:nvPr/>
        </p:nvSpPr>
        <p:spPr>
          <a:xfrm>
            <a:off x="670560" y="804672"/>
            <a:ext cx="10850880" cy="853440"/>
          </a:xfrm>
          <a:prstGeom prst="rect">
            <a:avLst/>
          </a:prstGeom>
          <a:noFill/>
          <a:ln/>
        </p:spPr>
        <p:txBody>
          <a:bodyPr wrap="square" lIns="0" tIns="0" rIns="0" bIns="0" rtlCol="0" anchor="ctr"/>
          <a:lstStyle/>
          <a:p>
            <a:r>
              <a:rPr lang="en-US" sz="3467" b="1" dirty="0">
                <a:solidFill>
                  <a:srgbClr val="1E2B45"/>
                </a:solidFill>
                <a:latin typeface="Georgia" pitchFamily="34" charset="0"/>
                <a:ea typeface="Georgia" pitchFamily="34" charset="-122"/>
                <a:cs typeface="Georgia" pitchFamily="34" charset="-120"/>
              </a:rPr>
              <a:t>Cartographie des risques bruts</a:t>
            </a:r>
            <a:endParaRPr lang="en-US" sz="3467" dirty="0"/>
          </a:p>
        </p:txBody>
      </p:sp>
      <p:sp>
        <p:nvSpPr>
          <p:cNvPr id="46" name="Shape 43"/>
          <p:cNvSpPr/>
          <p:nvPr/>
        </p:nvSpPr>
        <p:spPr>
          <a:xfrm>
            <a:off x="670560" y="6315456"/>
            <a:ext cx="10850880" cy="0"/>
          </a:xfrm>
          <a:prstGeom prst="line">
            <a:avLst/>
          </a:prstGeom>
          <a:noFill/>
          <a:ln w="12700">
            <a:solidFill>
              <a:srgbClr val="D7DEE8"/>
            </a:solidFill>
            <a:prstDash val="solid"/>
          </a:ln>
        </p:spPr>
      </p:sp>
      <p:sp>
        <p:nvSpPr>
          <p:cNvPr id="50" name="Text 44"/>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52" name="Text 45"/>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10</a:t>
            </a:r>
            <a:endParaRPr lang="en-US" sz="113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MODULE 4 · TRAITEMENT DU RISQUE</a:t>
            </a:r>
            <a:endParaRPr lang="en-US" sz="1467" dirty="0"/>
          </a:p>
        </p:txBody>
      </p:sp>
      <p:sp>
        <p:nvSpPr>
          <p:cNvPr id="4" name="Text 2"/>
          <p:cNvSpPr/>
          <p:nvPr/>
        </p:nvSpPr>
        <p:spPr>
          <a:xfrm>
            <a:off x="670560" y="829056"/>
            <a:ext cx="10850880" cy="853440"/>
          </a:xfrm>
          <a:prstGeom prst="rect">
            <a:avLst/>
          </a:prstGeom>
          <a:noFill/>
          <a:ln/>
        </p:spPr>
        <p:txBody>
          <a:bodyPr wrap="square" lIns="0" tIns="0" rIns="0" bIns="0" rtlCol="0" anchor="ctr"/>
          <a:lstStyle/>
          <a:p>
            <a:r>
              <a:rPr lang="en-US" sz="3200" b="1" dirty="0">
                <a:solidFill>
                  <a:srgbClr val="1E2B45"/>
                </a:solidFill>
                <a:latin typeface="Georgia" pitchFamily="34" charset="0"/>
                <a:ea typeface="Georgia" pitchFamily="34" charset="-122"/>
                <a:cs typeface="Georgia" pitchFamily="34" charset="-120"/>
              </a:rPr>
              <a:t>Traitement : combiner les quatre leviers EBIOS</a:t>
            </a:r>
            <a:endParaRPr lang="en-US" sz="3200" dirty="0"/>
          </a:p>
        </p:txBody>
      </p:sp>
      <p:sp>
        <p:nvSpPr>
          <p:cNvPr id="5" name="Shape 3"/>
          <p:cNvSpPr/>
          <p:nvPr/>
        </p:nvSpPr>
        <p:spPr>
          <a:xfrm>
            <a:off x="670560" y="1828800"/>
            <a:ext cx="5205984" cy="402336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6" name="Shape 4"/>
          <p:cNvSpPr/>
          <p:nvPr/>
        </p:nvSpPr>
        <p:spPr>
          <a:xfrm>
            <a:off x="670560" y="1828800"/>
            <a:ext cx="5205984" cy="85344"/>
          </a:xfrm>
          <a:prstGeom prst="rect">
            <a:avLst/>
          </a:prstGeom>
          <a:solidFill>
            <a:srgbClr val="B23A2E"/>
          </a:solidFill>
          <a:ln/>
        </p:spPr>
      </p:sp>
      <p:sp>
        <p:nvSpPr>
          <p:cNvPr id="7" name="Text 5"/>
          <p:cNvSpPr/>
          <p:nvPr/>
        </p:nvSpPr>
        <p:spPr>
          <a:xfrm>
            <a:off x="975360" y="2048256"/>
            <a:ext cx="4632960" cy="341376"/>
          </a:xfrm>
          <a:prstGeom prst="rect">
            <a:avLst/>
          </a:prstGeom>
          <a:noFill/>
          <a:ln/>
        </p:spPr>
        <p:txBody>
          <a:bodyPr wrap="square" lIns="0" tIns="0" rIns="0" bIns="0" rtlCol="0" anchor="ctr"/>
          <a:lstStyle/>
          <a:p>
            <a:r>
              <a:rPr lang="en-US" sz="1467" b="1" kern="0" spc="133" dirty="0">
                <a:solidFill>
                  <a:srgbClr val="B23A2E"/>
                </a:solidFill>
                <a:latin typeface="Calibri" pitchFamily="34" charset="0"/>
                <a:ea typeface="Calibri" pitchFamily="34" charset="-122"/>
                <a:cs typeface="Calibri" pitchFamily="34" charset="-120"/>
              </a:rPr>
              <a:t>R2 — PRIORITÉ 1 (critique)</a:t>
            </a:r>
            <a:endParaRPr lang="en-US" sz="1467" dirty="0"/>
          </a:p>
        </p:txBody>
      </p:sp>
      <p:sp>
        <p:nvSpPr>
          <p:cNvPr id="8" name="Text 6"/>
          <p:cNvSpPr/>
          <p:nvPr/>
        </p:nvSpPr>
        <p:spPr>
          <a:xfrm>
            <a:off x="975360" y="2414016"/>
            <a:ext cx="4632960" cy="487680"/>
          </a:xfrm>
          <a:prstGeom prst="rect">
            <a:avLst/>
          </a:prstGeom>
          <a:noFill/>
          <a:ln/>
        </p:spPr>
        <p:txBody>
          <a:bodyPr wrap="square" lIns="0" tIns="0" rIns="0" bIns="0" rtlCol="0" anchor="ctr"/>
          <a:lstStyle/>
          <a:p>
            <a:r>
              <a:rPr lang="en-US" sz="2000" b="1" dirty="0">
                <a:solidFill>
                  <a:srgbClr val="1E2B45"/>
                </a:solidFill>
                <a:latin typeface="Georgia" pitchFamily="34" charset="0"/>
                <a:ea typeface="Georgia" pitchFamily="34" charset="-122"/>
                <a:cs typeface="Georgia" pitchFamily="34" charset="-120"/>
              </a:rPr>
              <a:t>Compromission des études</a:t>
            </a:r>
            <a:endParaRPr lang="en-US" sz="2000" dirty="0"/>
          </a:p>
        </p:txBody>
      </p:sp>
      <p:sp>
        <p:nvSpPr>
          <p:cNvPr id="9" name="Text 7"/>
          <p:cNvSpPr/>
          <p:nvPr/>
        </p:nvSpPr>
        <p:spPr>
          <a:xfrm>
            <a:off x="975360" y="3108960"/>
            <a:ext cx="4632960" cy="670560"/>
          </a:xfrm>
          <a:prstGeom prst="rect">
            <a:avLst/>
          </a:prstGeom>
          <a:noFill/>
          <a:ln/>
        </p:spPr>
        <p:txBody>
          <a:bodyPr wrap="square" lIns="0" tIns="0" rIns="0" bIns="0" rtlCol="0" anchor="t"/>
          <a:lstStyle/>
          <a:p>
            <a:pPr>
              <a:lnSpc>
                <a:spcPct val="98000"/>
              </a:lnSpc>
            </a:pPr>
            <a:r>
              <a:rPr lang="en-US" sz="1373" b="1" dirty="0">
                <a:solidFill>
                  <a:srgbClr val="3C8C5A"/>
                </a:solidFill>
                <a:latin typeface="Calibri" pitchFamily="34" charset="0"/>
                <a:ea typeface="Calibri" pitchFamily="34" charset="-122"/>
                <a:cs typeface="Calibri" pitchFamily="34" charset="-120"/>
              </a:rPr>
              <a:t>Réduire (levier central) : </a:t>
            </a:r>
            <a:r>
              <a:rPr lang="en-US" sz="1373" dirty="0">
                <a:solidFill>
                  <a:srgbClr val="27313F"/>
                </a:solidFill>
                <a:latin typeface="Calibri" pitchFamily="34" charset="0"/>
                <a:ea typeface="Calibri" pitchFamily="34" charset="-122"/>
                <a:cs typeface="Calibri" pitchFamily="34" charset="-120"/>
              </a:rPr>
              <a:t>chiffrement au repos, durcissement de l'accès physique, MAJ antivirus, journalisation des accès.</a:t>
            </a:r>
            <a:endParaRPr lang="en-US" sz="1373" dirty="0"/>
          </a:p>
        </p:txBody>
      </p:sp>
      <p:sp>
        <p:nvSpPr>
          <p:cNvPr id="10" name="Text 8"/>
          <p:cNvSpPr/>
          <p:nvPr/>
        </p:nvSpPr>
        <p:spPr>
          <a:xfrm>
            <a:off x="975360" y="3785616"/>
            <a:ext cx="4632960" cy="670560"/>
          </a:xfrm>
          <a:prstGeom prst="rect">
            <a:avLst/>
          </a:prstGeom>
          <a:noFill/>
          <a:ln/>
        </p:spPr>
        <p:txBody>
          <a:bodyPr wrap="square" lIns="0" tIns="0" rIns="0" bIns="0" rtlCol="0" anchor="t"/>
          <a:lstStyle/>
          <a:p>
            <a:pPr>
              <a:lnSpc>
                <a:spcPct val="98000"/>
              </a:lnSpc>
            </a:pPr>
            <a:r>
              <a:rPr lang="en-US" sz="1373" b="1" dirty="0">
                <a:solidFill>
                  <a:srgbClr val="D97A28"/>
                </a:solidFill>
                <a:latin typeface="Calibri" pitchFamily="34" charset="0"/>
                <a:ea typeface="Calibri" pitchFamily="34" charset="-122"/>
                <a:cs typeface="Calibri" pitchFamily="34" charset="-120"/>
              </a:rPr>
              <a:t>Éviter (partiel) : </a:t>
            </a:r>
            <a:r>
              <a:rPr lang="en-US" sz="1373" dirty="0">
                <a:solidFill>
                  <a:srgbClr val="27313F"/>
                </a:solidFill>
                <a:latin typeface="Calibri" pitchFamily="34" charset="0"/>
                <a:ea typeface="Calibri" pitchFamily="34" charset="-122"/>
                <a:cs typeface="Calibri" pitchFamily="34" charset="-120"/>
              </a:rPr>
              <a:t>condamner les ports USB pour supprimer le vecteur principal.</a:t>
            </a:r>
            <a:endParaRPr lang="en-US" sz="1373" dirty="0"/>
          </a:p>
        </p:txBody>
      </p:sp>
      <p:sp>
        <p:nvSpPr>
          <p:cNvPr id="11" name="Text 9"/>
          <p:cNvSpPr/>
          <p:nvPr/>
        </p:nvSpPr>
        <p:spPr>
          <a:xfrm>
            <a:off x="975360" y="4462272"/>
            <a:ext cx="4632960" cy="670560"/>
          </a:xfrm>
          <a:prstGeom prst="rect">
            <a:avLst/>
          </a:prstGeom>
          <a:noFill/>
          <a:ln/>
        </p:spPr>
        <p:txBody>
          <a:bodyPr wrap="square" lIns="0" tIns="0" rIns="0" bIns="0" rtlCol="0" anchor="t"/>
          <a:lstStyle/>
          <a:p>
            <a:pPr>
              <a:lnSpc>
                <a:spcPct val="98000"/>
              </a:lnSpc>
            </a:pPr>
            <a:r>
              <a:rPr lang="en-US" sz="1373" b="1" dirty="0">
                <a:solidFill>
                  <a:srgbClr val="2B3F63"/>
                </a:solidFill>
                <a:latin typeface="Calibri" pitchFamily="34" charset="0"/>
                <a:ea typeface="Calibri" pitchFamily="34" charset="-122"/>
                <a:cs typeface="Calibri" pitchFamily="34" charset="-120"/>
              </a:rPr>
              <a:t>Transférer (partiel) : </a:t>
            </a:r>
            <a:r>
              <a:rPr lang="en-US" sz="1373" dirty="0">
                <a:solidFill>
                  <a:srgbClr val="27313F"/>
                </a:solidFill>
                <a:latin typeface="Calibri" pitchFamily="34" charset="0"/>
                <a:ea typeface="Calibri" pitchFamily="34" charset="-122"/>
                <a:cs typeface="Calibri" pitchFamily="34" charset="-120"/>
              </a:rPr>
              <a:t>assurance cyber pour le résiduel financier.</a:t>
            </a:r>
            <a:endParaRPr lang="en-US" sz="1373" dirty="0"/>
          </a:p>
        </p:txBody>
      </p:sp>
      <p:sp>
        <p:nvSpPr>
          <p:cNvPr id="12" name="Text 10"/>
          <p:cNvSpPr/>
          <p:nvPr/>
        </p:nvSpPr>
        <p:spPr>
          <a:xfrm>
            <a:off x="975360" y="5138928"/>
            <a:ext cx="4632960" cy="670560"/>
          </a:xfrm>
          <a:prstGeom prst="rect">
            <a:avLst/>
          </a:prstGeom>
          <a:noFill/>
          <a:ln/>
        </p:spPr>
        <p:txBody>
          <a:bodyPr wrap="square" lIns="0" tIns="0" rIns="0" bIns="0" rtlCol="0" anchor="t"/>
          <a:lstStyle/>
          <a:p>
            <a:pPr>
              <a:lnSpc>
                <a:spcPct val="98000"/>
              </a:lnSpc>
            </a:pPr>
            <a:r>
              <a:rPr lang="en-US" sz="1373" b="1" dirty="0">
                <a:solidFill>
                  <a:srgbClr val="B23A2E"/>
                </a:solidFill>
                <a:latin typeface="Calibri" pitchFamily="34" charset="0"/>
                <a:ea typeface="Calibri" pitchFamily="34" charset="-122"/>
                <a:cs typeface="Calibri" pitchFamily="34" charset="-120"/>
              </a:rPr>
              <a:t>Accepter : </a:t>
            </a:r>
            <a:r>
              <a:rPr lang="en-US" sz="1373" dirty="0">
                <a:solidFill>
                  <a:srgbClr val="27313F"/>
                </a:solidFill>
                <a:latin typeface="Calibri" pitchFamily="34" charset="0"/>
                <a:ea typeface="Calibri" pitchFamily="34" charset="-122"/>
                <a:cs typeface="Calibri" pitchFamily="34" charset="-120"/>
              </a:rPr>
              <a:t>exclu — risque pénal et humain inacceptable.</a:t>
            </a:r>
            <a:endParaRPr lang="en-US" sz="1373" dirty="0"/>
          </a:p>
        </p:txBody>
      </p:sp>
      <p:sp>
        <p:nvSpPr>
          <p:cNvPr id="13" name="Shape 11"/>
          <p:cNvSpPr/>
          <p:nvPr/>
        </p:nvSpPr>
        <p:spPr>
          <a:xfrm>
            <a:off x="6315456" y="1828800"/>
            <a:ext cx="5205984" cy="402336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14" name="Shape 12"/>
          <p:cNvSpPr/>
          <p:nvPr/>
        </p:nvSpPr>
        <p:spPr>
          <a:xfrm>
            <a:off x="6315456" y="1828800"/>
            <a:ext cx="5205984" cy="85344"/>
          </a:xfrm>
          <a:prstGeom prst="rect">
            <a:avLst/>
          </a:prstGeom>
          <a:solidFill>
            <a:srgbClr val="D97A28"/>
          </a:solidFill>
          <a:ln/>
        </p:spPr>
      </p:sp>
      <p:sp>
        <p:nvSpPr>
          <p:cNvPr id="15" name="Text 13"/>
          <p:cNvSpPr/>
          <p:nvPr/>
        </p:nvSpPr>
        <p:spPr>
          <a:xfrm>
            <a:off x="6620256" y="2048256"/>
            <a:ext cx="4632960" cy="341376"/>
          </a:xfrm>
          <a:prstGeom prst="rect">
            <a:avLst/>
          </a:prstGeom>
          <a:noFill/>
          <a:ln/>
        </p:spPr>
        <p:txBody>
          <a:bodyPr wrap="square" lIns="0" tIns="0" rIns="0" bIns="0" rtlCol="0" anchor="ctr"/>
          <a:lstStyle/>
          <a:p>
            <a:r>
              <a:rPr lang="en-US" sz="1467" b="1" kern="0" spc="133" dirty="0">
                <a:solidFill>
                  <a:srgbClr val="D97A28"/>
                </a:solidFill>
                <a:latin typeface="Calibri" pitchFamily="34" charset="0"/>
                <a:ea typeface="Calibri" pitchFamily="34" charset="-122"/>
                <a:cs typeface="Calibri" pitchFamily="34" charset="-120"/>
              </a:rPr>
              <a:t>R1 — PRIORITÉ 2 (fort)</a:t>
            </a:r>
            <a:endParaRPr lang="en-US" sz="1467" dirty="0"/>
          </a:p>
        </p:txBody>
      </p:sp>
      <p:sp>
        <p:nvSpPr>
          <p:cNvPr id="16" name="Text 14"/>
          <p:cNvSpPr/>
          <p:nvPr/>
        </p:nvSpPr>
        <p:spPr>
          <a:xfrm>
            <a:off x="6620256" y="2414016"/>
            <a:ext cx="4632960" cy="487680"/>
          </a:xfrm>
          <a:prstGeom prst="rect">
            <a:avLst/>
          </a:prstGeom>
          <a:noFill/>
          <a:ln/>
        </p:spPr>
        <p:txBody>
          <a:bodyPr wrap="square" lIns="0" tIns="0" rIns="0" bIns="0" rtlCol="0" anchor="ctr"/>
          <a:lstStyle/>
          <a:p>
            <a:r>
              <a:rPr lang="en-US" sz="2000" b="1" dirty="0">
                <a:solidFill>
                  <a:srgbClr val="1E2B45"/>
                </a:solidFill>
                <a:latin typeface="Georgia" pitchFamily="34" charset="0"/>
                <a:ea typeface="Georgia" pitchFamily="34" charset="-122"/>
                <a:cs typeface="Georgia" pitchFamily="34" charset="-120"/>
              </a:rPr>
              <a:t>Fuite des données commerciales</a:t>
            </a:r>
            <a:endParaRPr lang="en-US" sz="2000" dirty="0"/>
          </a:p>
        </p:txBody>
      </p:sp>
      <p:sp>
        <p:nvSpPr>
          <p:cNvPr id="17" name="Text 15"/>
          <p:cNvSpPr/>
          <p:nvPr/>
        </p:nvSpPr>
        <p:spPr>
          <a:xfrm>
            <a:off x="6620256" y="3108960"/>
            <a:ext cx="4632960" cy="670560"/>
          </a:xfrm>
          <a:prstGeom prst="rect">
            <a:avLst/>
          </a:prstGeom>
          <a:noFill/>
          <a:ln/>
        </p:spPr>
        <p:txBody>
          <a:bodyPr wrap="square" lIns="0" tIns="0" rIns="0" bIns="0" rtlCol="0" anchor="t"/>
          <a:lstStyle/>
          <a:p>
            <a:pPr>
              <a:lnSpc>
                <a:spcPct val="98000"/>
              </a:lnSpc>
            </a:pPr>
            <a:r>
              <a:rPr lang="en-US" sz="1373" b="1" dirty="0">
                <a:solidFill>
                  <a:srgbClr val="3C8C5A"/>
                </a:solidFill>
                <a:latin typeface="Calibri" pitchFamily="34" charset="0"/>
                <a:ea typeface="Calibri" pitchFamily="34" charset="-122"/>
                <a:cs typeface="Calibri" pitchFamily="34" charset="-120"/>
              </a:rPr>
              <a:t>Réduire (levier central) : </a:t>
            </a:r>
            <a:r>
              <a:rPr lang="en-US" sz="1373" dirty="0">
                <a:solidFill>
                  <a:srgbClr val="27313F"/>
                </a:solidFill>
                <a:latin typeface="Calibri" pitchFamily="34" charset="0"/>
                <a:ea typeface="Calibri" pitchFamily="34" charset="-122"/>
                <a:cs typeface="Calibri" pitchFamily="34" charset="-120"/>
              </a:rPr>
              <a:t>chiffrement des prix, EDR + VPN sur le portable, cloisonnement, clean printer, sensibilisation.</a:t>
            </a:r>
            <a:endParaRPr lang="en-US" sz="1373" dirty="0"/>
          </a:p>
        </p:txBody>
      </p:sp>
      <p:sp>
        <p:nvSpPr>
          <p:cNvPr id="18" name="Text 16"/>
          <p:cNvSpPr/>
          <p:nvPr/>
        </p:nvSpPr>
        <p:spPr>
          <a:xfrm>
            <a:off x="6620256" y="3785616"/>
            <a:ext cx="4632960" cy="670560"/>
          </a:xfrm>
          <a:prstGeom prst="rect">
            <a:avLst/>
          </a:prstGeom>
          <a:noFill/>
          <a:ln/>
        </p:spPr>
        <p:txBody>
          <a:bodyPr wrap="square" lIns="0" tIns="0" rIns="0" bIns="0" rtlCol="0" anchor="t"/>
          <a:lstStyle/>
          <a:p>
            <a:pPr>
              <a:lnSpc>
                <a:spcPct val="98000"/>
              </a:lnSpc>
            </a:pPr>
            <a:r>
              <a:rPr lang="en-US" sz="1373" b="1" dirty="0">
                <a:solidFill>
                  <a:srgbClr val="2B3F63"/>
                </a:solidFill>
                <a:latin typeface="Calibri" pitchFamily="34" charset="0"/>
                <a:ea typeface="Calibri" pitchFamily="34" charset="-122"/>
                <a:cs typeface="Calibri" pitchFamily="34" charset="-120"/>
              </a:rPr>
              <a:t>Transférer (partiel) : </a:t>
            </a:r>
            <a:r>
              <a:rPr lang="en-US" sz="1373" dirty="0">
                <a:solidFill>
                  <a:srgbClr val="27313F"/>
                </a:solidFill>
                <a:latin typeface="Calibri" pitchFamily="34" charset="0"/>
                <a:ea typeface="Calibri" pitchFamily="34" charset="-122"/>
                <a:cs typeface="Calibri" pitchFamily="34" charset="-120"/>
              </a:rPr>
              <a:t>assurance cyber pour le préjudice commercial.</a:t>
            </a:r>
            <a:endParaRPr lang="en-US" sz="1373" dirty="0"/>
          </a:p>
        </p:txBody>
      </p:sp>
      <p:sp>
        <p:nvSpPr>
          <p:cNvPr id="19" name="Text 17"/>
          <p:cNvSpPr/>
          <p:nvPr/>
        </p:nvSpPr>
        <p:spPr>
          <a:xfrm>
            <a:off x="6620256" y="4462272"/>
            <a:ext cx="4632960" cy="670560"/>
          </a:xfrm>
          <a:prstGeom prst="rect">
            <a:avLst/>
          </a:prstGeom>
          <a:noFill/>
          <a:ln/>
        </p:spPr>
        <p:txBody>
          <a:bodyPr wrap="square" lIns="0" tIns="0" rIns="0" bIns="0" rtlCol="0" anchor="t"/>
          <a:lstStyle/>
          <a:p>
            <a:pPr>
              <a:lnSpc>
                <a:spcPct val="98000"/>
              </a:lnSpc>
            </a:pPr>
            <a:r>
              <a:rPr lang="en-US" sz="1373" b="1" dirty="0">
                <a:solidFill>
                  <a:srgbClr val="E0A33A"/>
                </a:solidFill>
                <a:latin typeface="Calibri" pitchFamily="34" charset="0"/>
                <a:ea typeface="Calibri" pitchFamily="34" charset="-122"/>
                <a:cs typeface="Calibri" pitchFamily="34" charset="-120"/>
              </a:rPr>
              <a:t>Accepter (résiduel) : </a:t>
            </a:r>
            <a:r>
              <a:rPr lang="en-US" sz="1373" dirty="0">
                <a:solidFill>
                  <a:srgbClr val="27313F"/>
                </a:solidFill>
                <a:latin typeface="Calibri" pitchFamily="34" charset="0"/>
                <a:ea typeface="Calibri" pitchFamily="34" charset="-122"/>
                <a:cs typeface="Calibri" pitchFamily="34" charset="-120"/>
              </a:rPr>
              <a:t>le risque résiduel (jaune) est acceptable après réduction.</a:t>
            </a:r>
            <a:endParaRPr lang="en-US" sz="1373" dirty="0"/>
          </a:p>
        </p:txBody>
      </p:sp>
      <p:sp>
        <p:nvSpPr>
          <p:cNvPr id="20" name="Text 18"/>
          <p:cNvSpPr/>
          <p:nvPr/>
        </p:nvSpPr>
        <p:spPr>
          <a:xfrm>
            <a:off x="6620256" y="5138928"/>
            <a:ext cx="4632960" cy="670560"/>
          </a:xfrm>
          <a:prstGeom prst="rect">
            <a:avLst/>
          </a:prstGeom>
          <a:noFill/>
          <a:ln/>
        </p:spPr>
        <p:txBody>
          <a:bodyPr wrap="square" lIns="0" tIns="0" rIns="0" bIns="0" rtlCol="0" anchor="t"/>
          <a:lstStyle/>
          <a:p>
            <a:pPr>
              <a:lnSpc>
                <a:spcPct val="98000"/>
              </a:lnSpc>
            </a:pPr>
            <a:r>
              <a:rPr lang="en-US" sz="1373" b="1" dirty="0">
                <a:solidFill>
                  <a:srgbClr val="D97A28"/>
                </a:solidFill>
                <a:latin typeface="Calibri" pitchFamily="34" charset="0"/>
                <a:ea typeface="Calibri" pitchFamily="34" charset="-122"/>
                <a:cs typeface="Calibri" pitchFamily="34" charset="-120"/>
              </a:rPr>
              <a:t>Éviter : </a:t>
            </a:r>
            <a:r>
              <a:rPr lang="en-US" sz="1373" dirty="0">
                <a:solidFill>
                  <a:srgbClr val="27313F"/>
                </a:solidFill>
                <a:latin typeface="Calibri" pitchFamily="34" charset="0"/>
                <a:ea typeface="Calibri" pitchFamily="34" charset="-122"/>
                <a:cs typeface="Calibri" pitchFamily="34" charset="-120"/>
              </a:rPr>
              <a:t>non réaliste — le commercial manipule les prix au quotidien.</a:t>
            </a:r>
            <a:endParaRPr lang="en-US" sz="1373" dirty="0"/>
          </a:p>
        </p:txBody>
      </p:sp>
      <p:sp>
        <p:nvSpPr>
          <p:cNvPr id="21" name="Shape 19"/>
          <p:cNvSpPr/>
          <p:nvPr/>
        </p:nvSpPr>
        <p:spPr>
          <a:xfrm>
            <a:off x="670560" y="6315456"/>
            <a:ext cx="10850880" cy="0"/>
          </a:xfrm>
          <a:prstGeom prst="line">
            <a:avLst/>
          </a:prstGeom>
          <a:noFill/>
          <a:ln w="12700">
            <a:solidFill>
              <a:srgbClr val="D7DEE8"/>
            </a:solidFill>
            <a:prstDash val="solid"/>
          </a:ln>
        </p:spPr>
      </p:sp>
      <p:sp>
        <p:nvSpPr>
          <p:cNvPr id="22" name="Text 20"/>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23" name="Text 21"/>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11</a:t>
            </a:r>
            <a:endParaRPr lang="en-US" sz="113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36"/>
          <p:cNvSpPr/>
          <p:nvPr/>
        </p:nvSpPr>
        <p:spPr>
          <a:xfrm>
            <a:off x="6096000" y="1767840"/>
            <a:ext cx="5425440" cy="420624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51" name="Shape 37"/>
          <p:cNvSpPr/>
          <p:nvPr/>
        </p:nvSpPr>
        <p:spPr>
          <a:xfrm>
            <a:off x="6096000" y="1767840"/>
            <a:ext cx="5425440" cy="85344"/>
          </a:xfrm>
          <a:prstGeom prst="rect">
            <a:avLst/>
          </a:prstGeom>
          <a:solidFill>
            <a:srgbClr val="2B3F63"/>
          </a:solidFill>
          <a:ln/>
        </p:spPr>
      </p:sp>
      <p:sp>
        <p:nvSpPr>
          <p:cNvPr id="5" name="Text 3"/>
          <p:cNvSpPr/>
          <p:nvPr/>
        </p:nvSpPr>
        <p:spPr>
          <a:xfrm>
            <a:off x="1737360" y="1737360"/>
            <a:ext cx="4206240" cy="320040"/>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Risques résiduels</a:t>
            </a:r>
            <a:endParaRPr lang="en-US" sz="1500" dirty="0"/>
          </a:p>
        </p:txBody>
      </p:sp>
      <p:sp>
        <p:nvSpPr>
          <p:cNvPr id="6" name="Text 4"/>
          <p:cNvSpPr/>
          <p:nvPr/>
        </p:nvSpPr>
        <p:spPr>
          <a:xfrm rot="16200000">
            <a:off x="685800" y="2148840"/>
            <a:ext cx="1463040" cy="3108960"/>
          </a:xfrm>
          <a:prstGeom prst="rect">
            <a:avLst/>
          </a:prstGeom>
          <a:noFill/>
          <a:ln/>
        </p:spPr>
        <p:txBody>
          <a:bodyPr wrap="square" lIns="0" tIns="0" rIns="0" bIns="0" rtlCol="0" anchor="ctr"/>
          <a:lstStyle/>
          <a:p>
            <a:pPr marL="0" indent="0" algn="ctr">
              <a:buNone/>
            </a:pPr>
            <a:r>
              <a:rPr lang="en-US" sz="1100" b="1" dirty="0">
                <a:solidFill>
                  <a:srgbClr val="5B6B82"/>
                </a:solidFill>
                <a:latin typeface="Calibri" pitchFamily="34" charset="0"/>
                <a:ea typeface="Calibri" pitchFamily="34" charset="-122"/>
                <a:cs typeface="Calibri" pitchFamily="34" charset="-120"/>
              </a:rPr>
              <a:t>Gravité</a:t>
            </a:r>
            <a:endParaRPr lang="en-US" sz="1100" dirty="0"/>
          </a:p>
        </p:txBody>
      </p:sp>
      <p:sp>
        <p:nvSpPr>
          <p:cNvPr id="7" name="Text 5"/>
          <p:cNvSpPr/>
          <p:nvPr/>
        </p:nvSpPr>
        <p:spPr>
          <a:xfrm>
            <a:off x="896112" y="2148840"/>
            <a:ext cx="777240" cy="77724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Critique</a:t>
            </a:r>
            <a:endParaRPr lang="en-US" sz="900" dirty="0"/>
          </a:p>
        </p:txBody>
      </p:sp>
      <p:sp>
        <p:nvSpPr>
          <p:cNvPr id="8" name="Shape 6"/>
          <p:cNvSpPr/>
          <p:nvPr/>
        </p:nvSpPr>
        <p:spPr>
          <a:xfrm>
            <a:off x="1737360" y="2148840"/>
            <a:ext cx="777240" cy="777240"/>
          </a:xfrm>
          <a:prstGeom prst="rect">
            <a:avLst/>
          </a:prstGeom>
          <a:solidFill>
            <a:srgbClr val="E07B16"/>
          </a:solidFill>
          <a:ln w="19050">
            <a:solidFill>
              <a:srgbClr val="FFFFFF"/>
            </a:solidFill>
            <a:prstDash val="solid"/>
          </a:ln>
        </p:spPr>
      </p:sp>
      <p:sp>
        <p:nvSpPr>
          <p:cNvPr id="9" name="Shape 7"/>
          <p:cNvSpPr/>
          <p:nvPr/>
        </p:nvSpPr>
        <p:spPr>
          <a:xfrm>
            <a:off x="2514600" y="2148840"/>
            <a:ext cx="777240" cy="777240"/>
          </a:xfrm>
          <a:prstGeom prst="rect">
            <a:avLst/>
          </a:prstGeom>
          <a:solidFill>
            <a:srgbClr val="C0392B"/>
          </a:solidFill>
          <a:ln w="19050">
            <a:solidFill>
              <a:srgbClr val="FFFFFF"/>
            </a:solidFill>
            <a:prstDash val="solid"/>
          </a:ln>
        </p:spPr>
      </p:sp>
      <p:sp>
        <p:nvSpPr>
          <p:cNvPr id="10" name="Shape 8"/>
          <p:cNvSpPr/>
          <p:nvPr/>
        </p:nvSpPr>
        <p:spPr>
          <a:xfrm>
            <a:off x="3291840" y="2148840"/>
            <a:ext cx="777240" cy="777240"/>
          </a:xfrm>
          <a:prstGeom prst="rect">
            <a:avLst/>
          </a:prstGeom>
          <a:solidFill>
            <a:srgbClr val="C0392B"/>
          </a:solidFill>
          <a:ln w="19050">
            <a:solidFill>
              <a:srgbClr val="FFFFFF"/>
            </a:solidFill>
            <a:prstDash val="solid"/>
          </a:ln>
        </p:spPr>
      </p:sp>
      <p:sp>
        <p:nvSpPr>
          <p:cNvPr id="11" name="Shape 9"/>
          <p:cNvSpPr/>
          <p:nvPr/>
        </p:nvSpPr>
        <p:spPr>
          <a:xfrm>
            <a:off x="4069080" y="2148840"/>
            <a:ext cx="777240" cy="777240"/>
          </a:xfrm>
          <a:prstGeom prst="rect">
            <a:avLst/>
          </a:prstGeom>
          <a:solidFill>
            <a:srgbClr val="C0392B"/>
          </a:solidFill>
          <a:ln w="19050">
            <a:solidFill>
              <a:srgbClr val="FFFFFF"/>
            </a:solidFill>
            <a:prstDash val="solid"/>
          </a:ln>
        </p:spPr>
      </p:sp>
      <p:sp>
        <p:nvSpPr>
          <p:cNvPr id="12" name="Text 10"/>
          <p:cNvSpPr/>
          <p:nvPr/>
        </p:nvSpPr>
        <p:spPr>
          <a:xfrm>
            <a:off x="896112" y="2926080"/>
            <a:ext cx="777240" cy="77724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Grave</a:t>
            </a:r>
            <a:endParaRPr lang="en-US" sz="900" dirty="0"/>
          </a:p>
        </p:txBody>
      </p:sp>
      <p:sp>
        <p:nvSpPr>
          <p:cNvPr id="13" name="Shape 11"/>
          <p:cNvSpPr/>
          <p:nvPr/>
        </p:nvSpPr>
        <p:spPr>
          <a:xfrm>
            <a:off x="1737360" y="2926080"/>
            <a:ext cx="777240" cy="777240"/>
          </a:xfrm>
          <a:prstGeom prst="rect">
            <a:avLst/>
          </a:prstGeom>
          <a:solidFill>
            <a:srgbClr val="F2C014"/>
          </a:solidFill>
          <a:ln w="19050">
            <a:solidFill>
              <a:srgbClr val="FFFFFF"/>
            </a:solidFill>
            <a:prstDash val="solid"/>
          </a:ln>
        </p:spPr>
      </p:sp>
      <p:sp>
        <p:nvSpPr>
          <p:cNvPr id="14" name="Shape 12"/>
          <p:cNvSpPr/>
          <p:nvPr/>
        </p:nvSpPr>
        <p:spPr>
          <a:xfrm>
            <a:off x="2514600" y="2926080"/>
            <a:ext cx="777240" cy="777240"/>
          </a:xfrm>
          <a:prstGeom prst="rect">
            <a:avLst/>
          </a:prstGeom>
          <a:solidFill>
            <a:srgbClr val="E07B16"/>
          </a:solidFill>
          <a:ln w="19050">
            <a:solidFill>
              <a:srgbClr val="FFFFFF"/>
            </a:solidFill>
            <a:prstDash val="solid"/>
          </a:ln>
        </p:spPr>
      </p:sp>
      <p:sp>
        <p:nvSpPr>
          <p:cNvPr id="15" name="Shape 13"/>
          <p:cNvSpPr/>
          <p:nvPr/>
        </p:nvSpPr>
        <p:spPr>
          <a:xfrm>
            <a:off x="3291840" y="2926080"/>
            <a:ext cx="777240" cy="777240"/>
          </a:xfrm>
          <a:prstGeom prst="rect">
            <a:avLst/>
          </a:prstGeom>
          <a:solidFill>
            <a:srgbClr val="C0392B"/>
          </a:solidFill>
          <a:ln w="19050">
            <a:solidFill>
              <a:srgbClr val="FFFFFF"/>
            </a:solidFill>
            <a:prstDash val="solid"/>
          </a:ln>
        </p:spPr>
      </p:sp>
      <p:sp>
        <p:nvSpPr>
          <p:cNvPr id="16" name="Shape 14"/>
          <p:cNvSpPr/>
          <p:nvPr/>
        </p:nvSpPr>
        <p:spPr>
          <a:xfrm>
            <a:off x="4069080" y="2926080"/>
            <a:ext cx="777240" cy="777240"/>
          </a:xfrm>
          <a:prstGeom prst="rect">
            <a:avLst/>
          </a:prstGeom>
          <a:solidFill>
            <a:srgbClr val="C0392B"/>
          </a:solidFill>
          <a:ln w="19050">
            <a:solidFill>
              <a:srgbClr val="FFFFFF"/>
            </a:solidFill>
            <a:prstDash val="solid"/>
          </a:ln>
        </p:spPr>
      </p:sp>
      <p:sp>
        <p:nvSpPr>
          <p:cNvPr id="17" name="Text 15"/>
          <p:cNvSpPr/>
          <p:nvPr/>
        </p:nvSpPr>
        <p:spPr>
          <a:xfrm>
            <a:off x="896112" y="3703320"/>
            <a:ext cx="777240" cy="77724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Limité</a:t>
            </a:r>
            <a:endParaRPr lang="en-US" sz="900" dirty="0"/>
          </a:p>
        </p:txBody>
      </p:sp>
      <p:sp>
        <p:nvSpPr>
          <p:cNvPr id="18" name="Shape 16"/>
          <p:cNvSpPr/>
          <p:nvPr/>
        </p:nvSpPr>
        <p:spPr>
          <a:xfrm>
            <a:off x="1737360" y="3703320"/>
            <a:ext cx="777240" cy="777240"/>
          </a:xfrm>
          <a:prstGeom prst="rect">
            <a:avLst/>
          </a:prstGeom>
          <a:solidFill>
            <a:srgbClr val="2E7D32"/>
          </a:solidFill>
          <a:ln w="19050">
            <a:solidFill>
              <a:srgbClr val="FFFFFF"/>
            </a:solidFill>
            <a:prstDash val="solid"/>
          </a:ln>
        </p:spPr>
      </p:sp>
      <p:sp>
        <p:nvSpPr>
          <p:cNvPr id="19" name="Shape 17"/>
          <p:cNvSpPr/>
          <p:nvPr/>
        </p:nvSpPr>
        <p:spPr>
          <a:xfrm>
            <a:off x="2514600" y="3703320"/>
            <a:ext cx="777240" cy="777240"/>
          </a:xfrm>
          <a:prstGeom prst="rect">
            <a:avLst/>
          </a:prstGeom>
          <a:solidFill>
            <a:srgbClr val="F2C014"/>
          </a:solidFill>
          <a:ln w="19050">
            <a:solidFill>
              <a:srgbClr val="FFFFFF"/>
            </a:solidFill>
            <a:prstDash val="solid"/>
          </a:ln>
        </p:spPr>
      </p:sp>
      <p:sp>
        <p:nvSpPr>
          <p:cNvPr id="20" name="Shape 18"/>
          <p:cNvSpPr/>
          <p:nvPr/>
        </p:nvSpPr>
        <p:spPr>
          <a:xfrm>
            <a:off x="3291840" y="3703320"/>
            <a:ext cx="777240" cy="777240"/>
          </a:xfrm>
          <a:prstGeom prst="rect">
            <a:avLst/>
          </a:prstGeom>
          <a:solidFill>
            <a:srgbClr val="E07B16"/>
          </a:solidFill>
          <a:ln w="19050">
            <a:solidFill>
              <a:srgbClr val="FFFFFF"/>
            </a:solidFill>
            <a:prstDash val="solid"/>
          </a:ln>
        </p:spPr>
      </p:sp>
      <p:sp>
        <p:nvSpPr>
          <p:cNvPr id="21" name="Shape 19"/>
          <p:cNvSpPr/>
          <p:nvPr/>
        </p:nvSpPr>
        <p:spPr>
          <a:xfrm>
            <a:off x="4069080" y="3703320"/>
            <a:ext cx="777240" cy="777240"/>
          </a:xfrm>
          <a:prstGeom prst="rect">
            <a:avLst/>
          </a:prstGeom>
          <a:solidFill>
            <a:srgbClr val="E07B16"/>
          </a:solidFill>
          <a:ln w="19050">
            <a:solidFill>
              <a:srgbClr val="FFFFFF"/>
            </a:solidFill>
            <a:prstDash val="solid"/>
          </a:ln>
        </p:spPr>
      </p:sp>
      <p:sp>
        <p:nvSpPr>
          <p:cNvPr id="22" name="Text 20"/>
          <p:cNvSpPr/>
          <p:nvPr/>
        </p:nvSpPr>
        <p:spPr>
          <a:xfrm>
            <a:off x="896112" y="4480560"/>
            <a:ext cx="777240" cy="77724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Néglig.</a:t>
            </a:r>
            <a:endParaRPr lang="en-US" sz="900" dirty="0"/>
          </a:p>
        </p:txBody>
      </p:sp>
      <p:sp>
        <p:nvSpPr>
          <p:cNvPr id="23" name="Shape 21"/>
          <p:cNvSpPr/>
          <p:nvPr/>
        </p:nvSpPr>
        <p:spPr>
          <a:xfrm>
            <a:off x="1737360" y="4480560"/>
            <a:ext cx="777240" cy="777240"/>
          </a:xfrm>
          <a:prstGeom prst="rect">
            <a:avLst/>
          </a:prstGeom>
          <a:solidFill>
            <a:srgbClr val="2E7D32"/>
          </a:solidFill>
          <a:ln w="19050">
            <a:solidFill>
              <a:srgbClr val="FFFFFF"/>
            </a:solidFill>
            <a:prstDash val="solid"/>
          </a:ln>
        </p:spPr>
      </p:sp>
      <p:sp>
        <p:nvSpPr>
          <p:cNvPr id="24" name="Shape 22"/>
          <p:cNvSpPr/>
          <p:nvPr/>
        </p:nvSpPr>
        <p:spPr>
          <a:xfrm>
            <a:off x="2514600" y="4480560"/>
            <a:ext cx="777240" cy="777240"/>
          </a:xfrm>
          <a:prstGeom prst="rect">
            <a:avLst/>
          </a:prstGeom>
          <a:solidFill>
            <a:srgbClr val="2E7D32"/>
          </a:solidFill>
          <a:ln w="19050">
            <a:solidFill>
              <a:srgbClr val="FFFFFF"/>
            </a:solidFill>
            <a:prstDash val="solid"/>
          </a:ln>
        </p:spPr>
      </p:sp>
      <p:sp>
        <p:nvSpPr>
          <p:cNvPr id="25" name="Shape 23"/>
          <p:cNvSpPr/>
          <p:nvPr/>
        </p:nvSpPr>
        <p:spPr>
          <a:xfrm>
            <a:off x="3291840" y="4480560"/>
            <a:ext cx="777240" cy="777240"/>
          </a:xfrm>
          <a:prstGeom prst="rect">
            <a:avLst/>
          </a:prstGeom>
          <a:solidFill>
            <a:srgbClr val="F2C014"/>
          </a:solidFill>
          <a:ln w="19050">
            <a:solidFill>
              <a:srgbClr val="FFFFFF"/>
            </a:solidFill>
            <a:prstDash val="solid"/>
          </a:ln>
        </p:spPr>
      </p:sp>
      <p:sp>
        <p:nvSpPr>
          <p:cNvPr id="26" name="Shape 24"/>
          <p:cNvSpPr/>
          <p:nvPr/>
        </p:nvSpPr>
        <p:spPr>
          <a:xfrm>
            <a:off x="4069080" y="4480560"/>
            <a:ext cx="777240" cy="777240"/>
          </a:xfrm>
          <a:prstGeom prst="rect">
            <a:avLst/>
          </a:prstGeom>
          <a:solidFill>
            <a:srgbClr val="F2C014"/>
          </a:solidFill>
          <a:ln w="19050">
            <a:solidFill>
              <a:srgbClr val="FFFFFF"/>
            </a:solidFill>
            <a:prstDash val="solid"/>
          </a:ln>
        </p:spPr>
      </p:sp>
      <p:sp>
        <p:nvSpPr>
          <p:cNvPr id="27" name="Text 25"/>
          <p:cNvSpPr/>
          <p:nvPr/>
        </p:nvSpPr>
        <p:spPr>
          <a:xfrm>
            <a:off x="1737360" y="5285232"/>
            <a:ext cx="777240" cy="237744"/>
          </a:xfrm>
          <a:prstGeom prst="rect">
            <a:avLst/>
          </a:prstGeom>
          <a:noFill/>
          <a:ln/>
        </p:spPr>
        <p:txBody>
          <a:bodyPr wrap="square" lIns="0" tIns="0" rIns="0" bIns="0" rtlCol="0" anchor="ctr"/>
          <a:lstStyle/>
          <a:p>
            <a:pPr marL="0" indent="0" algn="ctr">
              <a:buNone/>
            </a:pPr>
            <a:r>
              <a:rPr lang="en-US" sz="900" dirty="0">
                <a:solidFill>
                  <a:srgbClr val="5B6B82"/>
                </a:solidFill>
                <a:latin typeface="Calibri" pitchFamily="34" charset="0"/>
                <a:ea typeface="Calibri" pitchFamily="34" charset="-122"/>
                <a:cs typeface="Calibri" pitchFamily="34" charset="-120"/>
              </a:rPr>
              <a:t>Néglig.</a:t>
            </a:r>
            <a:endParaRPr lang="en-US" sz="900" dirty="0"/>
          </a:p>
        </p:txBody>
      </p:sp>
      <p:sp>
        <p:nvSpPr>
          <p:cNvPr id="28" name="Text 26"/>
          <p:cNvSpPr/>
          <p:nvPr/>
        </p:nvSpPr>
        <p:spPr>
          <a:xfrm>
            <a:off x="2514600" y="5285232"/>
            <a:ext cx="777240" cy="237744"/>
          </a:xfrm>
          <a:prstGeom prst="rect">
            <a:avLst/>
          </a:prstGeom>
          <a:noFill/>
          <a:ln/>
        </p:spPr>
        <p:txBody>
          <a:bodyPr wrap="square" lIns="0" tIns="0" rIns="0" bIns="0" rtlCol="0" anchor="ctr"/>
          <a:lstStyle/>
          <a:p>
            <a:pPr marL="0" indent="0" algn="ctr">
              <a:buNone/>
            </a:pPr>
            <a:r>
              <a:rPr lang="en-US" sz="900" dirty="0">
                <a:solidFill>
                  <a:srgbClr val="5B6B82"/>
                </a:solidFill>
                <a:latin typeface="Calibri" pitchFamily="34" charset="0"/>
                <a:ea typeface="Calibri" pitchFamily="34" charset="-122"/>
                <a:cs typeface="Calibri" pitchFamily="34" charset="-120"/>
              </a:rPr>
              <a:t>Limité</a:t>
            </a:r>
            <a:endParaRPr lang="en-US" sz="900" dirty="0"/>
          </a:p>
        </p:txBody>
      </p:sp>
      <p:sp>
        <p:nvSpPr>
          <p:cNvPr id="29" name="Text 27"/>
          <p:cNvSpPr/>
          <p:nvPr/>
        </p:nvSpPr>
        <p:spPr>
          <a:xfrm>
            <a:off x="3291840" y="5285232"/>
            <a:ext cx="777240" cy="237744"/>
          </a:xfrm>
          <a:prstGeom prst="rect">
            <a:avLst/>
          </a:prstGeom>
          <a:noFill/>
          <a:ln/>
        </p:spPr>
        <p:txBody>
          <a:bodyPr wrap="square" lIns="0" tIns="0" rIns="0" bIns="0" rtlCol="0" anchor="ctr"/>
          <a:lstStyle/>
          <a:p>
            <a:pPr marL="0" indent="0" algn="ctr">
              <a:buNone/>
            </a:pPr>
            <a:r>
              <a:rPr lang="en-US" sz="900" dirty="0">
                <a:solidFill>
                  <a:srgbClr val="5B6B82"/>
                </a:solidFill>
                <a:latin typeface="Calibri" pitchFamily="34" charset="0"/>
                <a:ea typeface="Calibri" pitchFamily="34" charset="-122"/>
                <a:cs typeface="Calibri" pitchFamily="34" charset="-120"/>
              </a:rPr>
              <a:t>Fort</a:t>
            </a:r>
            <a:endParaRPr lang="en-US" sz="900" dirty="0"/>
          </a:p>
        </p:txBody>
      </p:sp>
      <p:sp>
        <p:nvSpPr>
          <p:cNvPr id="30" name="Text 28"/>
          <p:cNvSpPr/>
          <p:nvPr/>
        </p:nvSpPr>
        <p:spPr>
          <a:xfrm>
            <a:off x="4069080" y="5285232"/>
            <a:ext cx="777240" cy="237744"/>
          </a:xfrm>
          <a:prstGeom prst="rect">
            <a:avLst/>
          </a:prstGeom>
          <a:noFill/>
          <a:ln/>
        </p:spPr>
        <p:txBody>
          <a:bodyPr wrap="square" lIns="0" tIns="0" rIns="0" bIns="0" rtlCol="0" anchor="ctr"/>
          <a:lstStyle/>
          <a:p>
            <a:pPr marL="0" indent="0" algn="ctr">
              <a:buNone/>
            </a:pPr>
            <a:r>
              <a:rPr lang="en-US" sz="900" dirty="0">
                <a:solidFill>
                  <a:srgbClr val="5B6B82"/>
                </a:solidFill>
                <a:latin typeface="Calibri" pitchFamily="34" charset="0"/>
                <a:ea typeface="Calibri" pitchFamily="34" charset="-122"/>
                <a:cs typeface="Calibri" pitchFamily="34" charset="-120"/>
              </a:rPr>
              <a:t>Maximal</a:t>
            </a:r>
            <a:endParaRPr lang="en-US" sz="900" dirty="0"/>
          </a:p>
        </p:txBody>
      </p:sp>
      <p:sp>
        <p:nvSpPr>
          <p:cNvPr id="31" name="Text 29"/>
          <p:cNvSpPr/>
          <p:nvPr/>
        </p:nvSpPr>
        <p:spPr>
          <a:xfrm>
            <a:off x="1737360" y="5513832"/>
            <a:ext cx="3108960" cy="237744"/>
          </a:xfrm>
          <a:prstGeom prst="rect">
            <a:avLst/>
          </a:prstGeom>
          <a:noFill/>
          <a:ln/>
        </p:spPr>
        <p:txBody>
          <a:bodyPr wrap="square" lIns="0" tIns="0" rIns="0" bIns="0" rtlCol="0" anchor="ctr"/>
          <a:lstStyle/>
          <a:p>
            <a:pPr marL="0" indent="0" algn="ctr">
              <a:buNone/>
            </a:pPr>
            <a:r>
              <a:rPr lang="en-US" sz="1100" b="1" dirty="0">
                <a:solidFill>
                  <a:srgbClr val="5B6B82"/>
                </a:solidFill>
                <a:latin typeface="Calibri" pitchFamily="34" charset="0"/>
                <a:ea typeface="Calibri" pitchFamily="34" charset="-122"/>
                <a:cs typeface="Calibri" pitchFamily="34" charset="-120"/>
              </a:rPr>
              <a:t>Vraisemblance</a:t>
            </a:r>
            <a:endParaRPr lang="en-US" sz="1100" dirty="0"/>
          </a:p>
        </p:txBody>
      </p:sp>
      <p:sp>
        <p:nvSpPr>
          <p:cNvPr id="32" name="Shape 30"/>
          <p:cNvSpPr/>
          <p:nvPr/>
        </p:nvSpPr>
        <p:spPr>
          <a:xfrm>
            <a:off x="2677820" y="3089300"/>
            <a:ext cx="450799" cy="450799"/>
          </a:xfrm>
          <a:prstGeom prst="ellipse">
            <a:avLst/>
          </a:prstGeom>
          <a:solidFill>
            <a:srgbClr val="1F2A44"/>
          </a:solidFill>
          <a:ln w="25400">
            <a:solidFill>
              <a:srgbClr val="FFFFFF"/>
            </a:solidFill>
            <a:prstDash val="solid"/>
          </a:ln>
        </p:spPr>
      </p:sp>
      <p:sp>
        <p:nvSpPr>
          <p:cNvPr id="33" name="Text 31"/>
          <p:cNvSpPr/>
          <p:nvPr/>
        </p:nvSpPr>
        <p:spPr>
          <a:xfrm>
            <a:off x="2677820" y="3089300"/>
            <a:ext cx="450799" cy="450799"/>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R2</a:t>
            </a:r>
            <a:endParaRPr lang="en-US" sz="1100" dirty="0"/>
          </a:p>
        </p:txBody>
      </p:sp>
      <p:sp>
        <p:nvSpPr>
          <p:cNvPr id="34" name="Shape 32"/>
          <p:cNvSpPr/>
          <p:nvPr/>
        </p:nvSpPr>
        <p:spPr>
          <a:xfrm>
            <a:off x="2677820" y="3866540"/>
            <a:ext cx="450799" cy="450799"/>
          </a:xfrm>
          <a:prstGeom prst="ellipse">
            <a:avLst/>
          </a:prstGeom>
          <a:solidFill>
            <a:srgbClr val="1F2A44"/>
          </a:solidFill>
          <a:ln w="25400">
            <a:solidFill>
              <a:srgbClr val="FFFFFF"/>
            </a:solidFill>
            <a:prstDash val="solid"/>
          </a:ln>
        </p:spPr>
      </p:sp>
      <p:sp>
        <p:nvSpPr>
          <p:cNvPr id="35" name="Text 33"/>
          <p:cNvSpPr/>
          <p:nvPr/>
        </p:nvSpPr>
        <p:spPr>
          <a:xfrm>
            <a:off x="2677820" y="3866540"/>
            <a:ext cx="450799" cy="450799"/>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R1</a:t>
            </a:r>
            <a:endParaRPr lang="en-US" sz="1100" dirty="0"/>
          </a:p>
        </p:txBody>
      </p:sp>
      <p:sp>
        <p:nvSpPr>
          <p:cNvPr id="36" name="Shape 34"/>
          <p:cNvSpPr/>
          <p:nvPr/>
        </p:nvSpPr>
        <p:spPr>
          <a:xfrm>
            <a:off x="1900580" y="3866540"/>
            <a:ext cx="450799" cy="450799"/>
          </a:xfrm>
          <a:prstGeom prst="ellipse">
            <a:avLst/>
          </a:prstGeom>
          <a:solidFill>
            <a:srgbClr val="1F2A44"/>
          </a:solidFill>
          <a:ln w="25400">
            <a:solidFill>
              <a:srgbClr val="FFFFFF"/>
            </a:solidFill>
            <a:prstDash val="solid"/>
          </a:ln>
        </p:spPr>
      </p:sp>
      <p:sp>
        <p:nvSpPr>
          <p:cNvPr id="37" name="Text 35"/>
          <p:cNvSpPr/>
          <p:nvPr/>
        </p:nvSpPr>
        <p:spPr>
          <a:xfrm>
            <a:off x="1900580" y="3866540"/>
            <a:ext cx="450799" cy="450799"/>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R4</a:t>
            </a:r>
            <a:endParaRPr lang="en-US" sz="1100" dirty="0"/>
          </a:p>
        </p:txBody>
      </p:sp>
      <p:sp>
        <p:nvSpPr>
          <p:cNvPr id="39" name="Text 37"/>
          <p:cNvSpPr/>
          <p:nvPr/>
        </p:nvSpPr>
        <p:spPr>
          <a:xfrm>
            <a:off x="6217920" y="1993392"/>
            <a:ext cx="5120640" cy="32004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Caractérisation des résiduels</a:t>
            </a:r>
            <a:endParaRPr lang="en-US" sz="1600" dirty="0"/>
          </a:p>
        </p:txBody>
      </p:sp>
      <p:sp>
        <p:nvSpPr>
          <p:cNvPr id="40" name="Text 38"/>
          <p:cNvSpPr/>
          <p:nvPr/>
        </p:nvSpPr>
        <p:spPr>
          <a:xfrm>
            <a:off x="6217920" y="2377440"/>
            <a:ext cx="5120640" cy="3383280"/>
          </a:xfrm>
          <a:prstGeom prst="rect">
            <a:avLst/>
          </a:prstGeom>
          <a:noFill/>
          <a:ln/>
        </p:spPr>
        <p:txBody>
          <a:bodyPr wrap="square" lIns="0" tIns="0" rIns="0" bIns="0" rtlCol="0" anchor="ctr"/>
          <a:lstStyle/>
          <a:p>
            <a:pPr marL="0" indent="0">
              <a:lnSpc>
                <a:spcPct val="102000"/>
              </a:lnSpc>
              <a:spcAft>
                <a:spcPts val="800"/>
              </a:spcAft>
              <a:buNone/>
            </a:pPr>
            <a:r>
              <a:rPr lang="en-US" sz="1200" b="1" dirty="0">
                <a:solidFill>
                  <a:srgbClr val="C0392B"/>
                </a:solidFill>
                <a:latin typeface="Calibri" pitchFamily="34" charset="0"/>
                <a:ea typeface="Calibri" pitchFamily="34" charset="-122"/>
                <a:cs typeface="Calibri" pitchFamily="34" charset="-120"/>
              </a:rPr>
              <a:t>R2 — Études : 4×3 (critique) → 3×2 (orange). </a:t>
            </a:r>
            <a:r>
              <a:rPr lang="en-US" sz="1200" dirty="0">
                <a:solidFill>
                  <a:srgbClr val="30384A"/>
                </a:solidFill>
                <a:latin typeface="Calibri" pitchFamily="34" charset="0"/>
                <a:ea typeface="Calibri" pitchFamily="34" charset="-122"/>
                <a:cs typeface="Calibri" pitchFamily="34" charset="-120"/>
              </a:rPr>
              <a:t>Le chiffrement rend les données volées inexploitables (gravité ↓) ; le verrouillage USB et de l'accès physique abaisse la vraisemblance. Reste surveillé + assurance.
</a:t>
            </a:r>
            <a:endParaRPr lang="en-US" sz="1200" dirty="0"/>
          </a:p>
          <a:p>
            <a:pPr marL="0" indent="0">
              <a:lnSpc>
                <a:spcPct val="102000"/>
              </a:lnSpc>
              <a:spcAft>
                <a:spcPts val="800"/>
              </a:spcAft>
              <a:buNone/>
            </a:pPr>
            <a:r>
              <a:rPr lang="en-US" sz="1200" b="1" dirty="0">
                <a:solidFill>
                  <a:srgbClr val="E07B16"/>
                </a:solidFill>
                <a:latin typeface="Calibri" pitchFamily="34" charset="0"/>
                <a:ea typeface="Calibri" pitchFamily="34" charset="-122"/>
                <a:cs typeface="Calibri" pitchFamily="34" charset="-120"/>
              </a:rPr>
              <a:t>R1 — Prix : 3×3 (fort) → 2×2 (jaune). </a:t>
            </a:r>
            <a:r>
              <a:rPr lang="en-US" sz="1200" dirty="0">
                <a:solidFill>
                  <a:srgbClr val="30384A"/>
                </a:solidFill>
                <a:latin typeface="Calibri" pitchFamily="34" charset="0"/>
                <a:ea typeface="Calibri" pitchFamily="34" charset="-122"/>
                <a:cs typeface="Calibri" pitchFamily="34" charset="-120"/>
              </a:rPr>
              <a:t>Le chiffrement et le cloisonnement des prix abaissent la gravité ; le durcissement du portable et le clean printer abaissent la vraisemblance. Acceptable.
</a:t>
            </a:r>
            <a:endParaRPr lang="en-US" sz="1200" dirty="0"/>
          </a:p>
          <a:p>
            <a:pPr marL="0" indent="0">
              <a:lnSpc>
                <a:spcPct val="102000"/>
              </a:lnSpc>
              <a:spcAft>
                <a:spcPts val="800"/>
              </a:spcAft>
              <a:buNone/>
            </a:pPr>
            <a:r>
              <a:rPr lang="en-US" sz="1200" b="1" dirty="0">
                <a:solidFill>
                  <a:srgbClr val="2C6E7F"/>
                </a:solidFill>
                <a:latin typeface="Calibri" pitchFamily="34" charset="0"/>
                <a:ea typeface="Calibri" pitchFamily="34" charset="-122"/>
                <a:cs typeface="Calibri" pitchFamily="34" charset="-120"/>
              </a:rPr>
              <a:t>R4 — RGPD : 3×2 → 2×1. </a:t>
            </a:r>
            <a:r>
              <a:rPr lang="en-US" sz="1200" dirty="0">
                <a:solidFill>
                  <a:srgbClr val="30384A"/>
                </a:solidFill>
                <a:latin typeface="Calibri" pitchFamily="34" charset="0"/>
                <a:ea typeface="Calibri" pitchFamily="34" charset="-122"/>
                <a:cs typeface="Calibri" pitchFamily="34" charset="-120"/>
              </a:rPr>
              <a:t>Chiffrement des données nominatives + registre RGPD.
</a:t>
            </a:r>
            <a:endParaRPr lang="en-US" sz="1200" dirty="0"/>
          </a:p>
          <a:p>
            <a:pPr marL="0" indent="0">
              <a:lnSpc>
                <a:spcPct val="102000"/>
              </a:lnSpc>
              <a:spcAft>
                <a:spcPts val="800"/>
              </a:spcAft>
              <a:buNone/>
            </a:pPr>
            <a:r>
              <a:rPr lang="en-US" sz="1200" b="1" dirty="0">
                <a:solidFill>
                  <a:srgbClr val="1F2A44"/>
                </a:solidFill>
                <a:latin typeface="Calibri" pitchFamily="34" charset="0"/>
                <a:ea typeface="Calibri" pitchFamily="34" charset="-122"/>
                <a:cs typeface="Calibri" pitchFamily="34" charset="-120"/>
              </a:rPr>
              <a:t>Principe : </a:t>
            </a:r>
            <a:r>
              <a:rPr lang="en-US" sz="1200" dirty="0">
                <a:solidFill>
                  <a:srgbClr val="30384A"/>
                </a:solidFill>
                <a:latin typeface="Calibri" pitchFamily="34" charset="0"/>
                <a:ea typeface="Calibri" pitchFamily="34" charset="-122"/>
                <a:cs typeface="Calibri" pitchFamily="34" charset="-120"/>
              </a:rPr>
              <a:t>on ne supprime jamais le risque, on l'amène à un niveau accepté en connaissance de cause (logique FEROS).</a:t>
            </a:r>
            <a:endParaRPr lang="en-US" sz="1200" dirty="0"/>
          </a:p>
        </p:txBody>
      </p:sp>
      <p:sp>
        <p:nvSpPr>
          <p:cNvPr id="43"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MODULE 4 · RISQUES RÉSIDUELS</a:t>
            </a:r>
            <a:endParaRPr lang="en-US" sz="1467" dirty="0"/>
          </a:p>
        </p:txBody>
      </p:sp>
      <p:sp>
        <p:nvSpPr>
          <p:cNvPr id="44" name="Text 2"/>
          <p:cNvSpPr/>
          <p:nvPr/>
        </p:nvSpPr>
        <p:spPr>
          <a:xfrm>
            <a:off x="670560" y="804672"/>
            <a:ext cx="10850880" cy="853440"/>
          </a:xfrm>
          <a:prstGeom prst="rect">
            <a:avLst/>
          </a:prstGeom>
          <a:noFill/>
          <a:ln/>
        </p:spPr>
        <p:txBody>
          <a:bodyPr wrap="square" lIns="0" tIns="0" rIns="0" bIns="0" rtlCol="0" anchor="ctr"/>
          <a:lstStyle/>
          <a:p>
            <a:r>
              <a:rPr lang="en-US" sz="3200" b="1" dirty="0">
                <a:solidFill>
                  <a:srgbClr val="1E2B45"/>
                </a:solidFill>
                <a:latin typeface="Georgia" pitchFamily="34" charset="0"/>
                <a:ea typeface="Georgia" pitchFamily="34" charset="-122"/>
                <a:cs typeface="Georgia" pitchFamily="34" charset="-120"/>
              </a:rPr>
              <a:t>Risques résiduels après traitement</a:t>
            </a:r>
            <a:endParaRPr lang="en-US" sz="3200" dirty="0"/>
          </a:p>
        </p:txBody>
      </p:sp>
      <p:sp>
        <p:nvSpPr>
          <p:cNvPr id="45" name="Shape 40"/>
          <p:cNvSpPr/>
          <p:nvPr/>
        </p:nvSpPr>
        <p:spPr>
          <a:xfrm>
            <a:off x="670560" y="6315456"/>
            <a:ext cx="10850880" cy="0"/>
          </a:xfrm>
          <a:prstGeom prst="line">
            <a:avLst/>
          </a:prstGeom>
          <a:noFill/>
          <a:ln w="12700">
            <a:solidFill>
              <a:srgbClr val="D7DEE8"/>
            </a:solidFill>
            <a:prstDash val="solid"/>
          </a:ln>
        </p:spPr>
      </p:sp>
      <p:sp>
        <p:nvSpPr>
          <p:cNvPr id="46" name="Text 41"/>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47" name="Text 42"/>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12</a:t>
            </a:r>
            <a:endParaRPr lang="en-US" sz="1133"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0"/>
          <p:cNvGraphicFramePr>
            <a:graphicFrameLocks noGrp="1"/>
          </p:cNvGraphicFramePr>
          <p:nvPr>
            <p:extLst>
              <p:ext uri="{D42A27DB-BD31-4B8C-83A1-F6EECF244321}">
                <p14:modId xmlns:p14="http://schemas.microsoft.com/office/powerpoint/2010/main" val="858187410"/>
              </p:ext>
            </p:extLst>
          </p:nvPr>
        </p:nvGraphicFramePr>
        <p:xfrm>
          <a:off x="640080" y="1783080"/>
          <a:ext cx="10972800" cy="4325112"/>
        </p:xfrm>
        <a:graphic>
          <a:graphicData uri="http://schemas.openxmlformats.org/drawingml/2006/table">
            <a:tbl>
              <a:tblPr/>
              <a:tblGrid>
                <a:gridCol w="58521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1148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Mesure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Risque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Ligne de défense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Priorité</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13232">
                <a:tc>
                  <a:txBody>
                    <a:bodyPr/>
                    <a:lstStyle/>
                    <a:p>
                      <a:pPr marL="0" indent="0">
                        <a:buNone/>
                      </a:pPr>
                      <a:r>
                        <a:rPr lang="en-US" sz="1400" dirty="0">
                          <a:solidFill>
                            <a:srgbClr val="30384A"/>
                          </a:solidFill>
                          <a:latin typeface="Calibri" pitchFamily="34" charset="0"/>
                          <a:ea typeface="Calibri" pitchFamily="34" charset="-122"/>
                          <a:cs typeface="Calibri" pitchFamily="34" charset="-120"/>
                        </a:rPr>
                        <a:t>Condamner les ports USB des postes liés aux études + poste « blanc » avec sas antiviral</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30384A"/>
                          </a:solidFill>
                          <a:latin typeface="Calibri" pitchFamily="34" charset="0"/>
                          <a:ea typeface="Calibri" pitchFamily="34" charset="-122"/>
                          <a:cs typeface="Calibri" pitchFamily="34" charset="-120"/>
                        </a:rPr>
                        <a:t>R2</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dirty="0">
                          <a:solidFill>
                            <a:srgbClr val="30384A"/>
                          </a:solidFill>
                          <a:latin typeface="Calibri" pitchFamily="34" charset="0"/>
                          <a:ea typeface="Calibri" pitchFamily="34" charset="-122"/>
                          <a:cs typeface="Calibri" pitchFamily="34" charset="-120"/>
                        </a:rPr>
                        <a:t>Préventive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Haute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C0392B"/>
                    </a:solidFill>
                  </a:tcPr>
                </a:tc>
                <a:extLst>
                  <a:ext uri="{0D108BD9-81ED-4DB2-BD59-A6C34878D82A}">
                    <a16:rowId xmlns:a16="http://schemas.microsoft.com/office/drawing/2014/main" val="10001"/>
                  </a:ext>
                </a:extLst>
              </a:tr>
              <a:tr h="640080">
                <a:tc>
                  <a:txBody>
                    <a:bodyPr/>
                    <a:lstStyle/>
                    <a:p>
                      <a:pPr marL="0" indent="0">
                        <a:buNone/>
                      </a:pPr>
                      <a:r>
                        <a:rPr lang="en-US" sz="1400" dirty="0">
                          <a:solidFill>
                            <a:srgbClr val="30384A"/>
                          </a:solidFill>
                          <a:latin typeface="Calibri" pitchFamily="34" charset="0"/>
                          <a:ea typeface="Calibri" pitchFamily="34" charset="-122"/>
                          <a:cs typeface="Calibri" pitchFamily="34" charset="-120"/>
                        </a:rPr>
                        <a:t>Chiffrement au repos des études et des prix ; clés USB nominatives chiffrées</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30384A"/>
                          </a:solidFill>
                          <a:latin typeface="Calibri" pitchFamily="34" charset="0"/>
                          <a:ea typeface="Calibri" pitchFamily="34" charset="-122"/>
                          <a:cs typeface="Calibri" pitchFamily="34" charset="-120"/>
                        </a:rPr>
                        <a:t>R1·R2</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dirty="0">
                          <a:solidFill>
                            <a:srgbClr val="30384A"/>
                          </a:solidFill>
                          <a:latin typeface="Calibri" pitchFamily="34" charset="0"/>
                          <a:ea typeface="Calibri" pitchFamily="34" charset="-122"/>
                          <a:cs typeface="Calibri" pitchFamily="34" charset="-120"/>
                        </a:rPr>
                        <a:t>Protectrice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Haute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C0392B"/>
                    </a:solidFill>
                  </a:tcPr>
                </a:tc>
                <a:extLst>
                  <a:ext uri="{0D108BD9-81ED-4DB2-BD59-A6C34878D82A}">
                    <a16:rowId xmlns:a16="http://schemas.microsoft.com/office/drawing/2014/main" val="10002"/>
                  </a:ext>
                </a:extLst>
              </a:tr>
              <a:tr h="566928">
                <a:tc>
                  <a:txBody>
                    <a:bodyPr/>
                    <a:lstStyle/>
                    <a:p>
                      <a:pPr marL="0" indent="0">
                        <a:buNone/>
                      </a:pPr>
                      <a:r>
                        <a:rPr lang="en-US" sz="1400" dirty="0">
                          <a:solidFill>
                            <a:srgbClr val="30384A"/>
                          </a:solidFill>
                          <a:latin typeface="Calibri" pitchFamily="34" charset="0"/>
                          <a:ea typeface="Calibri" pitchFamily="34" charset="-122"/>
                          <a:cs typeface="Calibri" pitchFamily="34" charset="-120"/>
                        </a:rPr>
                        <a:t>EDR + VPN + MAJ automatique sur les portables</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30384A"/>
                          </a:solidFill>
                          <a:latin typeface="Calibri" pitchFamily="34" charset="0"/>
                          <a:ea typeface="Calibri" pitchFamily="34" charset="-122"/>
                          <a:cs typeface="Calibri" pitchFamily="34" charset="-120"/>
                        </a:rPr>
                        <a:t>R1·R2</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dirty="0">
                          <a:solidFill>
                            <a:srgbClr val="30384A"/>
                          </a:solidFill>
                          <a:latin typeface="Calibri" pitchFamily="34" charset="0"/>
                          <a:ea typeface="Calibri" pitchFamily="34" charset="-122"/>
                          <a:cs typeface="Calibri" pitchFamily="34" charset="-120"/>
                        </a:rPr>
                        <a:t>Préventive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Haute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E07B16"/>
                    </a:solidFill>
                  </a:tcPr>
                </a:tc>
                <a:extLst>
                  <a:ext uri="{0D108BD9-81ED-4DB2-BD59-A6C34878D82A}">
                    <a16:rowId xmlns:a16="http://schemas.microsoft.com/office/drawing/2014/main" val="10003"/>
                  </a:ext>
                </a:extLst>
              </a:tr>
              <a:tr h="713232">
                <a:tc>
                  <a:txBody>
                    <a:bodyPr/>
                    <a:lstStyle/>
                    <a:p>
                      <a:pPr marL="0" indent="0">
                        <a:buNone/>
                      </a:pPr>
                      <a:r>
                        <a:rPr lang="en-US" sz="1400" dirty="0">
                          <a:solidFill>
                            <a:srgbClr val="30384A"/>
                          </a:solidFill>
                          <a:latin typeface="Calibri" pitchFamily="34" charset="0"/>
                          <a:ea typeface="Calibri" pitchFamily="34" charset="-122"/>
                          <a:cs typeface="Calibri" pitchFamily="34" charset="-120"/>
                        </a:rPr>
                        <a:t>Sas de réception visiteurs + ménage supervisé + bureaux fermés hors présence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30384A"/>
                          </a:solidFill>
                          <a:latin typeface="Calibri" pitchFamily="34" charset="0"/>
                          <a:ea typeface="Calibri" pitchFamily="34" charset="-122"/>
                          <a:cs typeface="Calibri" pitchFamily="34" charset="-120"/>
                        </a:rPr>
                        <a:t>R2</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dirty="0">
                          <a:solidFill>
                            <a:srgbClr val="30384A"/>
                          </a:solidFill>
                          <a:latin typeface="Calibri" pitchFamily="34" charset="0"/>
                          <a:ea typeface="Calibri" pitchFamily="34" charset="-122"/>
                          <a:cs typeface="Calibri" pitchFamily="34" charset="-120"/>
                        </a:rPr>
                        <a:t>Préventive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Moyenne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E07B16"/>
                    </a:solidFill>
                  </a:tcPr>
                </a:tc>
                <a:extLst>
                  <a:ext uri="{0D108BD9-81ED-4DB2-BD59-A6C34878D82A}">
                    <a16:rowId xmlns:a16="http://schemas.microsoft.com/office/drawing/2014/main" val="10004"/>
                  </a:ext>
                </a:extLst>
              </a:tr>
              <a:tr h="640080">
                <a:tc>
                  <a:txBody>
                    <a:bodyPr/>
                    <a:lstStyle/>
                    <a:p>
                      <a:pPr marL="0" indent="0">
                        <a:buNone/>
                      </a:pPr>
                      <a:r>
                        <a:rPr lang="en-US" sz="1400" dirty="0">
                          <a:solidFill>
                            <a:srgbClr val="30384A"/>
                          </a:solidFill>
                          <a:latin typeface="Calibri" pitchFamily="34" charset="0"/>
                          <a:ea typeface="Calibri" pitchFamily="34" charset="-122"/>
                          <a:cs typeface="Calibri" pitchFamily="34" charset="-120"/>
                        </a:rPr>
                        <a:t>Journalisation des accès serveurs (imputabilité) ; tests de restauration RAID</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30384A"/>
                          </a:solidFill>
                          <a:latin typeface="Calibri" pitchFamily="34" charset="0"/>
                          <a:ea typeface="Calibri" pitchFamily="34" charset="-122"/>
                          <a:cs typeface="Calibri" pitchFamily="34" charset="-120"/>
                        </a:rPr>
                        <a:t>R2·R5</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dirty="0">
                          <a:solidFill>
                            <a:srgbClr val="30384A"/>
                          </a:solidFill>
                          <a:latin typeface="Calibri" pitchFamily="34" charset="0"/>
                          <a:ea typeface="Calibri" pitchFamily="34" charset="-122"/>
                          <a:cs typeface="Calibri" pitchFamily="34" charset="-120"/>
                        </a:rPr>
                        <a:t>Récupératrice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Moyenne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F2C014"/>
                    </a:solidFill>
                  </a:tcPr>
                </a:tc>
                <a:extLst>
                  <a:ext uri="{0D108BD9-81ED-4DB2-BD59-A6C34878D82A}">
                    <a16:rowId xmlns:a16="http://schemas.microsoft.com/office/drawing/2014/main" val="10005"/>
                  </a:ext>
                </a:extLst>
              </a:tr>
              <a:tr h="640080">
                <a:tc>
                  <a:txBody>
                    <a:bodyPr/>
                    <a:lstStyle/>
                    <a:p>
                      <a:pPr marL="0" indent="0">
                        <a:buNone/>
                      </a:pPr>
                      <a:r>
                        <a:rPr lang="en-US" sz="1400" dirty="0">
                          <a:solidFill>
                            <a:srgbClr val="30384A"/>
                          </a:solidFill>
                          <a:latin typeface="Calibri" pitchFamily="34" charset="0"/>
                          <a:ea typeface="Calibri" pitchFamily="34" charset="-122"/>
                          <a:cs typeface="Calibri" pitchFamily="34" charset="-120"/>
                        </a:rPr>
                        <a:t>Sensibilisation : phishing, faux clients, clean desk / clean printer</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30384A"/>
                          </a:solidFill>
                          <a:latin typeface="Calibri" pitchFamily="34" charset="0"/>
                          <a:ea typeface="Calibri" pitchFamily="34" charset="-122"/>
                          <a:cs typeface="Calibri" pitchFamily="34" charset="-120"/>
                        </a:rPr>
                        <a:t>R1·R2</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dirty="0">
                          <a:solidFill>
                            <a:srgbClr val="30384A"/>
                          </a:solidFill>
                          <a:latin typeface="Calibri" pitchFamily="34" charset="0"/>
                          <a:ea typeface="Calibri" pitchFamily="34" charset="-122"/>
                          <a:cs typeface="Calibri" pitchFamily="34" charset="-120"/>
                        </a:rPr>
                        <a:t>Préventive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Continue</a:t>
                      </a:r>
                      <a:endParaRPr lang="en-US" sz="1400" dirty="0">
                        <a:latin typeface="Calibri" charset="0"/>
                        <a:ea typeface="Calibri" charset="0"/>
                        <a:cs typeface="Calibri" charset="0"/>
                      </a:endParaRPr>
                    </a:p>
                  </a:txBody>
                  <a:tcPr anchor="ctr">
                    <a:lnL w="12700" cap="flat" cmpd="sng" algn="ctr">
                      <a:solidFill>
                        <a:srgbClr val="C9D2E0"/>
                      </a:solidFill>
                      <a:prstDash val="solid"/>
                      <a:round/>
                      <a:headEnd type="none" w="med" len="med"/>
                      <a:tailEnd type="none" w="med" len="med"/>
                    </a:lnL>
                    <a:lnR w="12700" cap="flat" cmpd="sng" algn="ctr">
                      <a:solidFill>
                        <a:srgbClr val="C9D2E0"/>
                      </a:solidFill>
                      <a:prstDash val="solid"/>
                      <a:round/>
                      <a:headEnd type="none" w="med" len="med"/>
                      <a:tailEnd type="none" w="med" len="med"/>
                    </a:lnR>
                    <a:lnT w="12700" cap="flat" cmpd="sng" algn="ctr">
                      <a:solidFill>
                        <a:srgbClr val="C9D2E0"/>
                      </a:solidFill>
                      <a:prstDash val="solid"/>
                      <a:round/>
                      <a:headEnd type="none" w="med" len="med"/>
                      <a:tailEnd type="none" w="med" len="med"/>
                    </a:lnT>
                    <a:lnB w="12700" cap="flat" cmpd="sng" algn="ctr">
                      <a:solidFill>
                        <a:srgbClr val="C9D2E0"/>
                      </a:solidFill>
                      <a:prstDash val="solid"/>
                      <a:round/>
                      <a:headEnd type="none" w="med" len="med"/>
                      <a:tailEnd type="none" w="med" len="med"/>
                    </a:lnB>
                    <a:solidFill>
                      <a:srgbClr val="F2C014"/>
                    </a:solidFill>
                  </a:tcPr>
                </a:tc>
                <a:extLst>
                  <a:ext uri="{0D108BD9-81ED-4DB2-BD59-A6C34878D82A}">
                    <a16:rowId xmlns:a16="http://schemas.microsoft.com/office/drawing/2014/main" val="10006"/>
                  </a:ext>
                </a:extLst>
              </a:tr>
            </a:tbl>
          </a:graphicData>
        </a:graphic>
      </p:graphicFrame>
      <p:sp>
        <p:nvSpPr>
          <p:cNvPr id="5" name="Text 0">
            <a:extLst>
              <a:ext uri="{FF2B5EF4-FFF2-40B4-BE49-F238E27FC236}">
                <a16:creationId xmlns:a16="http://schemas.microsoft.com/office/drawing/2014/main" id="{05C50ABD-D469-23B1-47B5-55F5B235759F}"/>
              </a:ext>
            </a:extLst>
          </p:cNvPr>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MODULE 5 · MESURES DE SÉCURITÉ</a:t>
            </a:r>
            <a:endParaRPr lang="en-US" sz="1467" dirty="0"/>
          </a:p>
        </p:txBody>
      </p:sp>
      <p:sp>
        <p:nvSpPr>
          <p:cNvPr id="8" name="Text 2">
            <a:extLst>
              <a:ext uri="{FF2B5EF4-FFF2-40B4-BE49-F238E27FC236}">
                <a16:creationId xmlns:a16="http://schemas.microsoft.com/office/drawing/2014/main" id="{62678C34-553C-C6FC-3E07-9176F774C6A2}"/>
              </a:ext>
            </a:extLst>
          </p:cNvPr>
          <p:cNvSpPr/>
          <p:nvPr/>
        </p:nvSpPr>
        <p:spPr>
          <a:xfrm>
            <a:off x="670560" y="829056"/>
            <a:ext cx="10850880" cy="853440"/>
          </a:xfrm>
          <a:prstGeom prst="rect">
            <a:avLst/>
          </a:prstGeom>
          <a:noFill/>
          <a:ln/>
        </p:spPr>
        <p:txBody>
          <a:bodyPr wrap="square" lIns="0" tIns="0" rIns="0" bIns="0" rtlCol="0" anchor="ctr"/>
          <a:lstStyle/>
          <a:p>
            <a:r>
              <a:rPr lang="en-US" sz="3200" b="1" dirty="0">
                <a:solidFill>
                  <a:srgbClr val="1E2B45"/>
                </a:solidFill>
                <a:latin typeface="Georgia" pitchFamily="34" charset="0"/>
                <a:ea typeface="Georgia" pitchFamily="34" charset="-122"/>
                <a:cs typeface="Georgia" pitchFamily="34" charset="-120"/>
              </a:rPr>
              <a:t>Plan d'actions priorisé pour une TPE</a:t>
            </a:r>
            <a:endParaRPr lang="en-US" sz="3200" dirty="0"/>
          </a:p>
        </p:txBody>
      </p:sp>
      <p:sp>
        <p:nvSpPr>
          <p:cNvPr id="9" name="Shape 3">
            <a:extLst>
              <a:ext uri="{FF2B5EF4-FFF2-40B4-BE49-F238E27FC236}">
                <a16:creationId xmlns:a16="http://schemas.microsoft.com/office/drawing/2014/main" id="{0C93EA5F-176A-F774-76B1-89241B592B91}"/>
              </a:ext>
            </a:extLst>
          </p:cNvPr>
          <p:cNvSpPr/>
          <p:nvPr/>
        </p:nvSpPr>
        <p:spPr>
          <a:xfrm>
            <a:off x="670560" y="6315456"/>
            <a:ext cx="10850880" cy="0"/>
          </a:xfrm>
          <a:prstGeom prst="line">
            <a:avLst/>
          </a:prstGeom>
          <a:noFill/>
          <a:ln w="12700">
            <a:solidFill>
              <a:srgbClr val="D7DEE8"/>
            </a:solidFill>
            <a:prstDash val="solid"/>
          </a:ln>
        </p:spPr>
      </p:sp>
      <p:sp>
        <p:nvSpPr>
          <p:cNvPr id="10" name="Text 4">
            <a:extLst>
              <a:ext uri="{FF2B5EF4-FFF2-40B4-BE49-F238E27FC236}">
                <a16:creationId xmlns:a16="http://schemas.microsoft.com/office/drawing/2014/main" id="{5C9B8FF1-6F30-12FC-8508-1C595666390D}"/>
              </a:ext>
            </a:extLst>
          </p:cNvPr>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11" name="Text 5">
            <a:extLst>
              <a:ext uri="{FF2B5EF4-FFF2-40B4-BE49-F238E27FC236}">
                <a16:creationId xmlns:a16="http://schemas.microsoft.com/office/drawing/2014/main" id="{3CF93A35-3F8F-609C-9FDC-968DAC6ACF2E}"/>
              </a:ext>
            </a:extLst>
          </p:cNvPr>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13</a:t>
            </a:r>
            <a:endParaRPr lang="en-US" sz="1133"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RECOMMANDATIONS · GAINS RAPIDES</a:t>
            </a:r>
            <a:endParaRPr lang="en-US" sz="1467" dirty="0"/>
          </a:p>
        </p:txBody>
      </p:sp>
      <p:sp>
        <p:nvSpPr>
          <p:cNvPr id="4" name="Text 2"/>
          <p:cNvSpPr/>
          <p:nvPr/>
        </p:nvSpPr>
        <p:spPr>
          <a:xfrm>
            <a:off x="670560" y="829056"/>
            <a:ext cx="10850880" cy="853440"/>
          </a:xfrm>
          <a:prstGeom prst="rect">
            <a:avLst/>
          </a:prstGeom>
          <a:noFill/>
          <a:ln/>
        </p:spPr>
        <p:txBody>
          <a:bodyPr wrap="square" lIns="0" tIns="0" rIns="0" bIns="0" rtlCol="0" anchor="ctr"/>
          <a:lstStyle/>
          <a:p>
            <a:r>
              <a:rPr lang="en-US" sz="3200" b="1" dirty="0">
                <a:solidFill>
                  <a:srgbClr val="1E2B45"/>
                </a:solidFill>
                <a:latin typeface="Georgia" pitchFamily="34" charset="0"/>
                <a:ea typeface="Georgia" pitchFamily="34" charset="-122"/>
                <a:cs typeface="Georgia" pitchFamily="34" charset="-120"/>
              </a:rPr>
              <a:t>Deux mesures à fort effet, coût quasi nul</a:t>
            </a:r>
            <a:endParaRPr lang="en-US" sz="3200" dirty="0"/>
          </a:p>
        </p:txBody>
      </p:sp>
      <p:sp>
        <p:nvSpPr>
          <p:cNvPr id="5" name="Shape 3"/>
          <p:cNvSpPr/>
          <p:nvPr/>
        </p:nvSpPr>
        <p:spPr>
          <a:xfrm>
            <a:off x="670560" y="1828800"/>
            <a:ext cx="5205984" cy="402336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6" name="Shape 4"/>
          <p:cNvSpPr/>
          <p:nvPr/>
        </p:nvSpPr>
        <p:spPr>
          <a:xfrm>
            <a:off x="670560" y="1828800"/>
            <a:ext cx="5205984" cy="85344"/>
          </a:xfrm>
          <a:prstGeom prst="rect">
            <a:avLst/>
          </a:prstGeom>
          <a:solidFill>
            <a:srgbClr val="D97A28"/>
          </a:solidFill>
          <a:ln/>
        </p:spPr>
      </p:sp>
      <p:sp>
        <p:nvSpPr>
          <p:cNvPr id="7" name="Shape 5"/>
          <p:cNvSpPr/>
          <p:nvPr/>
        </p:nvSpPr>
        <p:spPr>
          <a:xfrm>
            <a:off x="975360" y="2097024"/>
            <a:ext cx="609600" cy="609600"/>
          </a:xfrm>
          <a:prstGeom prst="ellipse">
            <a:avLst/>
          </a:prstGeom>
          <a:solidFill>
            <a:srgbClr val="1E2B45"/>
          </a:solidFill>
          <a:ln/>
        </p:spPr>
      </p:sp>
      <p:sp>
        <p:nvSpPr>
          <p:cNvPr id="8" name="Text 6"/>
          <p:cNvSpPr/>
          <p:nvPr/>
        </p:nvSpPr>
        <p:spPr>
          <a:xfrm>
            <a:off x="975360" y="2097024"/>
            <a:ext cx="609600" cy="609600"/>
          </a:xfrm>
          <a:prstGeom prst="rect">
            <a:avLst/>
          </a:prstGeom>
          <a:noFill/>
          <a:ln/>
        </p:spPr>
        <p:txBody>
          <a:bodyPr wrap="square" lIns="0" tIns="0" rIns="0" bIns="0" rtlCol="0" anchor="ctr"/>
          <a:lstStyle/>
          <a:p>
            <a:pPr algn="ct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9" name="Text 7"/>
          <p:cNvSpPr/>
          <p:nvPr/>
        </p:nvSpPr>
        <p:spPr>
          <a:xfrm>
            <a:off x="1767840" y="2121408"/>
            <a:ext cx="3901440" cy="292608"/>
          </a:xfrm>
          <a:prstGeom prst="rect">
            <a:avLst/>
          </a:prstGeom>
          <a:noFill/>
          <a:ln/>
        </p:spPr>
        <p:txBody>
          <a:bodyPr wrap="square" lIns="0" tIns="0" rIns="0" bIns="0" rtlCol="0" anchor="ctr"/>
          <a:lstStyle/>
          <a:p>
            <a:r>
              <a:rPr lang="en-US" sz="1267" b="1" kern="0" spc="133" dirty="0">
                <a:solidFill>
                  <a:srgbClr val="D97A28"/>
                </a:solidFill>
                <a:latin typeface="Calibri" pitchFamily="34" charset="0"/>
                <a:ea typeface="Calibri" pitchFamily="34" charset="-122"/>
                <a:cs typeface="Calibri" pitchFamily="34" charset="-120"/>
              </a:rPr>
              <a:t>MESURE D'ORGANISATION</a:t>
            </a:r>
            <a:endParaRPr lang="en-US" sz="1267" dirty="0"/>
          </a:p>
        </p:txBody>
      </p:sp>
      <p:sp>
        <p:nvSpPr>
          <p:cNvPr id="10" name="Text 8"/>
          <p:cNvSpPr/>
          <p:nvPr/>
        </p:nvSpPr>
        <p:spPr>
          <a:xfrm>
            <a:off x="1767840" y="2389632"/>
            <a:ext cx="3901440" cy="609600"/>
          </a:xfrm>
          <a:prstGeom prst="rect">
            <a:avLst/>
          </a:prstGeom>
          <a:noFill/>
          <a:ln/>
        </p:spPr>
        <p:txBody>
          <a:bodyPr wrap="square" lIns="0" tIns="0" rIns="0" bIns="0" rtlCol="0" anchor="t"/>
          <a:lstStyle/>
          <a:p>
            <a:r>
              <a:rPr lang="en-US" b="1" dirty="0">
                <a:solidFill>
                  <a:srgbClr val="1E2B45"/>
                </a:solidFill>
                <a:latin typeface="Georgia" pitchFamily="34" charset="0"/>
                <a:ea typeface="Georgia" pitchFamily="34" charset="-122"/>
                <a:cs typeface="Georgia" pitchFamily="34" charset="-120"/>
              </a:rPr>
              <a:t>Politique stricte des supports amovibles</a:t>
            </a:r>
            <a:endParaRPr lang="en-US" dirty="0"/>
          </a:p>
        </p:txBody>
      </p:sp>
      <p:sp>
        <p:nvSpPr>
          <p:cNvPr id="11" name="Text 9"/>
          <p:cNvSpPr/>
          <p:nvPr/>
        </p:nvSpPr>
        <p:spPr>
          <a:xfrm>
            <a:off x="1036320" y="3230880"/>
            <a:ext cx="4572000" cy="1341120"/>
          </a:xfrm>
          <a:prstGeom prst="rect">
            <a:avLst/>
          </a:prstGeom>
          <a:noFill/>
          <a:ln/>
        </p:spPr>
        <p:txBody>
          <a:bodyPr wrap="square" lIns="0" tIns="0" rIns="0" bIns="0" rtlCol="0" anchor="ctr"/>
          <a:lstStyle/>
          <a:p>
            <a:pPr marL="457189" indent="-457189">
              <a:spcAft>
                <a:spcPts val="667"/>
              </a:spcAft>
              <a:buSzPct val="100000"/>
              <a:buChar char="•"/>
            </a:pPr>
            <a:r>
              <a:rPr lang="en-US" sz="1400" dirty="0">
                <a:solidFill>
                  <a:srgbClr val="27313F"/>
                </a:solidFill>
                <a:latin typeface="Calibri" pitchFamily="34" charset="0"/>
                <a:ea typeface="Calibri" pitchFamily="34" charset="-122"/>
                <a:cs typeface="Calibri" pitchFamily="34" charset="-120"/>
              </a:rPr>
              <a:t>Clés USB nominatives, chiffrées et journalisées.</a:t>
            </a:r>
            <a:endParaRPr lang="en-US" sz="1400" dirty="0"/>
          </a:p>
          <a:p>
            <a:pPr marL="457189" indent="-457189">
              <a:spcAft>
                <a:spcPts val="667"/>
              </a:spcAft>
              <a:buSzPct val="100000"/>
              <a:buChar char="•"/>
            </a:pPr>
            <a:r>
              <a:rPr lang="en-US" sz="1400" dirty="0">
                <a:solidFill>
                  <a:srgbClr val="27313F"/>
                </a:solidFill>
                <a:latin typeface="Calibri" pitchFamily="34" charset="0"/>
                <a:ea typeface="Calibri" pitchFamily="34" charset="-122"/>
                <a:cs typeface="Calibri" pitchFamily="34" charset="-120"/>
              </a:rPr>
              <a:t>Interdiction des clés personnelles non maîtrisées.</a:t>
            </a:r>
            <a:endParaRPr lang="en-US" sz="1400" dirty="0"/>
          </a:p>
          <a:p>
            <a:pPr marL="457189" indent="-457189">
              <a:spcAft>
                <a:spcPts val="667"/>
              </a:spcAft>
              <a:buSzPct val="100000"/>
              <a:buChar char="•"/>
            </a:pPr>
            <a:r>
              <a:rPr lang="en-US" sz="1400" dirty="0">
                <a:solidFill>
                  <a:srgbClr val="27313F"/>
                </a:solidFill>
                <a:latin typeface="Calibri" pitchFamily="34" charset="0"/>
                <a:ea typeface="Calibri" pitchFamily="34" charset="-122"/>
                <a:cs typeface="Calibri" pitchFamily="34" charset="-120"/>
              </a:rPr>
              <a:t>« Clean desk / clean printer » réellement appliqué et contrôlé.</a:t>
            </a:r>
            <a:endParaRPr lang="en-US" sz="1400" dirty="0"/>
          </a:p>
        </p:txBody>
      </p:sp>
      <p:sp>
        <p:nvSpPr>
          <p:cNvPr id="12" name="Shape 10"/>
          <p:cNvSpPr/>
          <p:nvPr/>
        </p:nvSpPr>
        <p:spPr>
          <a:xfrm>
            <a:off x="975360" y="4815840"/>
            <a:ext cx="4596384" cy="792480"/>
          </a:xfrm>
          <a:prstGeom prst="rect">
            <a:avLst/>
          </a:prstGeom>
          <a:solidFill>
            <a:srgbClr val="F4F6F9"/>
          </a:solidFill>
          <a:ln/>
        </p:spPr>
      </p:sp>
      <p:sp>
        <p:nvSpPr>
          <p:cNvPr id="13" name="Text 11"/>
          <p:cNvSpPr/>
          <p:nvPr/>
        </p:nvSpPr>
        <p:spPr>
          <a:xfrm>
            <a:off x="1158240" y="4815840"/>
            <a:ext cx="4267200" cy="792480"/>
          </a:xfrm>
          <a:prstGeom prst="rect">
            <a:avLst/>
          </a:prstGeom>
          <a:noFill/>
          <a:ln/>
        </p:spPr>
        <p:txBody>
          <a:bodyPr wrap="square" lIns="0" tIns="0" rIns="0" bIns="0" rtlCol="0" anchor="ctr"/>
          <a:lstStyle/>
          <a:p>
            <a:r>
              <a:rPr lang="en-US" sz="1333" b="1" dirty="0">
                <a:solidFill>
                  <a:srgbClr val="1E2B45"/>
                </a:solidFill>
                <a:latin typeface="Calibri" pitchFamily="34" charset="0"/>
                <a:ea typeface="Calibri" pitchFamily="34" charset="-122"/>
                <a:cs typeface="Calibri" pitchFamily="34" charset="-120"/>
              </a:rPr>
              <a:t>Effet : </a:t>
            </a:r>
            <a:r>
              <a:rPr lang="en-US" sz="1333" dirty="0">
                <a:solidFill>
                  <a:srgbClr val="27313F"/>
                </a:solidFill>
                <a:latin typeface="Calibri" pitchFamily="34" charset="0"/>
                <a:ea typeface="Calibri" pitchFamily="34" charset="-122"/>
                <a:cs typeface="Calibri" pitchFamily="34" charset="-120"/>
              </a:rPr>
              <a:t>coupe le vecteur USB (R2) et les fuites par impression (R1) — coût ≈ 0.</a:t>
            </a:r>
            <a:endParaRPr lang="en-US" sz="1333" dirty="0"/>
          </a:p>
        </p:txBody>
      </p:sp>
      <p:sp>
        <p:nvSpPr>
          <p:cNvPr id="14" name="Shape 12"/>
          <p:cNvSpPr/>
          <p:nvPr/>
        </p:nvSpPr>
        <p:spPr>
          <a:xfrm>
            <a:off x="6315456" y="1828800"/>
            <a:ext cx="5205984" cy="402336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15" name="Shape 13"/>
          <p:cNvSpPr/>
          <p:nvPr/>
        </p:nvSpPr>
        <p:spPr>
          <a:xfrm>
            <a:off x="6315456" y="1828800"/>
            <a:ext cx="5205984" cy="85344"/>
          </a:xfrm>
          <a:prstGeom prst="rect">
            <a:avLst/>
          </a:prstGeom>
          <a:solidFill>
            <a:srgbClr val="D97A28"/>
          </a:solidFill>
          <a:ln/>
        </p:spPr>
      </p:sp>
      <p:sp>
        <p:nvSpPr>
          <p:cNvPr id="16" name="Shape 14"/>
          <p:cNvSpPr/>
          <p:nvPr/>
        </p:nvSpPr>
        <p:spPr>
          <a:xfrm>
            <a:off x="6620256" y="2097024"/>
            <a:ext cx="609600" cy="609600"/>
          </a:xfrm>
          <a:prstGeom prst="ellipse">
            <a:avLst/>
          </a:prstGeom>
          <a:solidFill>
            <a:srgbClr val="1E2B45"/>
          </a:solidFill>
          <a:ln/>
        </p:spPr>
      </p:sp>
      <p:sp>
        <p:nvSpPr>
          <p:cNvPr id="17" name="Text 15"/>
          <p:cNvSpPr/>
          <p:nvPr/>
        </p:nvSpPr>
        <p:spPr>
          <a:xfrm>
            <a:off x="6620256" y="2097024"/>
            <a:ext cx="609600" cy="609600"/>
          </a:xfrm>
          <a:prstGeom prst="rect">
            <a:avLst/>
          </a:prstGeom>
          <a:noFill/>
          <a:ln/>
        </p:spPr>
        <p:txBody>
          <a:bodyPr wrap="square" lIns="0" tIns="0" rIns="0" bIns="0" rtlCol="0" anchor="ctr"/>
          <a:lstStyle/>
          <a:p>
            <a:pPr algn="ct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8" name="Text 16"/>
          <p:cNvSpPr/>
          <p:nvPr/>
        </p:nvSpPr>
        <p:spPr>
          <a:xfrm>
            <a:off x="7412736" y="2121408"/>
            <a:ext cx="3901440" cy="292608"/>
          </a:xfrm>
          <a:prstGeom prst="rect">
            <a:avLst/>
          </a:prstGeom>
          <a:noFill/>
          <a:ln/>
        </p:spPr>
        <p:txBody>
          <a:bodyPr wrap="square" lIns="0" tIns="0" rIns="0" bIns="0" rtlCol="0" anchor="ctr"/>
          <a:lstStyle/>
          <a:p>
            <a:r>
              <a:rPr lang="en-US" sz="1267" b="1" kern="0" spc="133" dirty="0">
                <a:solidFill>
                  <a:srgbClr val="D97A28"/>
                </a:solidFill>
                <a:latin typeface="Calibri" pitchFamily="34" charset="0"/>
                <a:ea typeface="Calibri" pitchFamily="34" charset="-122"/>
                <a:cs typeface="Calibri" pitchFamily="34" charset="-120"/>
              </a:rPr>
              <a:t>RÉAMÉNAGEMENT DES LOCAUX</a:t>
            </a:r>
            <a:endParaRPr lang="en-US" sz="1267" dirty="0"/>
          </a:p>
        </p:txBody>
      </p:sp>
      <p:sp>
        <p:nvSpPr>
          <p:cNvPr id="19" name="Text 17"/>
          <p:cNvSpPr/>
          <p:nvPr/>
        </p:nvSpPr>
        <p:spPr>
          <a:xfrm>
            <a:off x="7412736" y="2389632"/>
            <a:ext cx="3901440" cy="609600"/>
          </a:xfrm>
          <a:prstGeom prst="rect">
            <a:avLst/>
          </a:prstGeom>
          <a:noFill/>
          <a:ln/>
        </p:spPr>
        <p:txBody>
          <a:bodyPr wrap="square" lIns="0" tIns="0" rIns="0" bIns="0" rtlCol="0" anchor="t"/>
          <a:lstStyle/>
          <a:p>
            <a:r>
              <a:rPr lang="en-US" b="1" dirty="0">
                <a:solidFill>
                  <a:srgbClr val="1E2B45"/>
                </a:solidFill>
                <a:latin typeface="Georgia" pitchFamily="34" charset="0"/>
                <a:ea typeface="Georgia" pitchFamily="34" charset="-122"/>
                <a:cs typeface="Georgia" pitchFamily="34" charset="-120"/>
              </a:rPr>
              <a:t>Cloisonner les flux et les visiteurs</a:t>
            </a:r>
            <a:endParaRPr lang="en-US" dirty="0"/>
          </a:p>
        </p:txBody>
      </p:sp>
      <p:sp>
        <p:nvSpPr>
          <p:cNvPr id="20" name="Text 18"/>
          <p:cNvSpPr/>
          <p:nvPr/>
        </p:nvSpPr>
        <p:spPr>
          <a:xfrm>
            <a:off x="6681216" y="3230880"/>
            <a:ext cx="4572000" cy="1341120"/>
          </a:xfrm>
          <a:prstGeom prst="rect">
            <a:avLst/>
          </a:prstGeom>
          <a:noFill/>
          <a:ln/>
        </p:spPr>
        <p:txBody>
          <a:bodyPr wrap="square" lIns="0" tIns="0" rIns="0" bIns="0" rtlCol="0" anchor="ctr"/>
          <a:lstStyle/>
          <a:p>
            <a:pPr marL="457189" indent="-457189">
              <a:spcAft>
                <a:spcPts val="667"/>
              </a:spcAft>
              <a:buSzPct val="100000"/>
              <a:buChar char="•"/>
            </a:pPr>
            <a:r>
              <a:rPr lang="en-US" sz="1400" dirty="0">
                <a:solidFill>
                  <a:srgbClr val="27313F"/>
                </a:solidFill>
                <a:latin typeface="Calibri" pitchFamily="34" charset="0"/>
                <a:ea typeface="Calibri" pitchFamily="34" charset="-122"/>
                <a:cs typeface="Calibri" pitchFamily="34" charset="-120"/>
              </a:rPr>
              <a:t>Sas de réception : les visiteurs n'entrent plus dans les bureaux.</a:t>
            </a:r>
            <a:endParaRPr lang="en-US" sz="1400" dirty="0"/>
          </a:p>
          <a:p>
            <a:pPr marL="457189" indent="-457189">
              <a:spcAft>
                <a:spcPts val="667"/>
              </a:spcAft>
              <a:buSzPct val="100000"/>
              <a:buChar char="•"/>
            </a:pPr>
            <a:r>
              <a:rPr lang="en-US" sz="1400" dirty="0">
                <a:solidFill>
                  <a:srgbClr val="27313F"/>
                </a:solidFill>
                <a:latin typeface="Calibri" pitchFamily="34" charset="0"/>
                <a:ea typeface="Calibri" pitchFamily="34" charset="-122"/>
                <a:cs typeface="Calibri" pitchFamily="34" charset="-120"/>
              </a:rPr>
              <a:t>Consoles Internet et imprimante isolées en zone surveillée.</a:t>
            </a:r>
            <a:endParaRPr lang="en-US" sz="1400" dirty="0"/>
          </a:p>
          <a:p>
            <a:pPr marL="457189" indent="-457189">
              <a:spcAft>
                <a:spcPts val="667"/>
              </a:spcAft>
              <a:buSzPct val="100000"/>
              <a:buChar char="•"/>
            </a:pPr>
            <a:r>
              <a:rPr lang="en-US" sz="1400" dirty="0">
                <a:solidFill>
                  <a:srgbClr val="27313F"/>
                </a:solidFill>
                <a:latin typeface="Calibri" pitchFamily="34" charset="0"/>
                <a:ea typeface="Calibri" pitchFamily="34" charset="-122"/>
                <a:cs typeface="Calibri" pitchFamily="34" charset="-120"/>
              </a:rPr>
              <a:t>Ménage supervisé / hors des zones sensibles.</a:t>
            </a:r>
            <a:endParaRPr lang="en-US" sz="1400" dirty="0"/>
          </a:p>
        </p:txBody>
      </p:sp>
      <p:sp>
        <p:nvSpPr>
          <p:cNvPr id="21" name="Shape 19"/>
          <p:cNvSpPr/>
          <p:nvPr/>
        </p:nvSpPr>
        <p:spPr>
          <a:xfrm>
            <a:off x="6620256" y="4815840"/>
            <a:ext cx="4596384" cy="792480"/>
          </a:xfrm>
          <a:prstGeom prst="rect">
            <a:avLst/>
          </a:prstGeom>
          <a:solidFill>
            <a:srgbClr val="F4F6F9"/>
          </a:solidFill>
          <a:ln/>
        </p:spPr>
      </p:sp>
      <p:sp>
        <p:nvSpPr>
          <p:cNvPr id="22" name="Text 20"/>
          <p:cNvSpPr/>
          <p:nvPr/>
        </p:nvSpPr>
        <p:spPr>
          <a:xfrm>
            <a:off x="6803136" y="4815840"/>
            <a:ext cx="4267200" cy="792480"/>
          </a:xfrm>
          <a:prstGeom prst="rect">
            <a:avLst/>
          </a:prstGeom>
          <a:noFill/>
          <a:ln/>
        </p:spPr>
        <p:txBody>
          <a:bodyPr wrap="square" lIns="0" tIns="0" rIns="0" bIns="0" rtlCol="0" anchor="ctr"/>
          <a:lstStyle/>
          <a:p>
            <a:r>
              <a:rPr lang="en-US" sz="1333" b="1" dirty="0">
                <a:solidFill>
                  <a:srgbClr val="1E2B45"/>
                </a:solidFill>
                <a:latin typeface="Calibri" pitchFamily="34" charset="0"/>
                <a:ea typeface="Calibri" pitchFamily="34" charset="-122"/>
                <a:cs typeface="Calibri" pitchFamily="34" charset="-120"/>
              </a:rPr>
              <a:t>Effet : </a:t>
            </a:r>
            <a:r>
              <a:rPr lang="en-US" sz="1333" dirty="0">
                <a:solidFill>
                  <a:srgbClr val="27313F"/>
                </a:solidFill>
                <a:latin typeface="Calibri" pitchFamily="34" charset="0"/>
                <a:ea typeface="Calibri" pitchFamily="34" charset="-122"/>
                <a:cs typeface="Calibri" pitchFamily="34" charset="-120"/>
              </a:rPr>
              <a:t>coupe l'accès physique (R2) et l'ingénierie sociale par faux client (R1) — coût faible.</a:t>
            </a:r>
            <a:endParaRPr lang="en-US" sz="1333" dirty="0"/>
          </a:p>
        </p:txBody>
      </p:sp>
      <p:sp>
        <p:nvSpPr>
          <p:cNvPr id="23" name="Shape 21"/>
          <p:cNvSpPr/>
          <p:nvPr/>
        </p:nvSpPr>
        <p:spPr>
          <a:xfrm>
            <a:off x="670560" y="6315456"/>
            <a:ext cx="10850880" cy="0"/>
          </a:xfrm>
          <a:prstGeom prst="line">
            <a:avLst/>
          </a:prstGeom>
          <a:noFill/>
          <a:ln w="12700">
            <a:solidFill>
              <a:srgbClr val="D7DEE8"/>
            </a:solidFill>
            <a:prstDash val="solid"/>
          </a:ln>
        </p:spPr>
      </p:sp>
      <p:sp>
        <p:nvSpPr>
          <p:cNvPr id="24" name="Text 22"/>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25" name="Text 23"/>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14</a:t>
            </a:r>
            <a:endParaRPr lang="en-US" sz="1133"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414528"/>
            <a:ext cx="8778240" cy="365760"/>
          </a:xfrm>
          <a:prstGeom prst="rect">
            <a:avLst/>
          </a:prstGeom>
          <a:noFill/>
          <a:ln/>
        </p:spPr>
        <p:txBody>
          <a:bodyPr wrap="square" lIns="0" tIns="0" rIns="0" bIns="0" rtlCol="0" anchor="ctr"/>
          <a:lstStyle/>
          <a:p>
            <a:r>
              <a:rPr lang="en-US" sz="1467" b="1" kern="0" spc="400" dirty="0">
                <a:solidFill>
                  <a:srgbClr val="D97A28"/>
                </a:solidFill>
                <a:latin typeface="Calibri" pitchFamily="34" charset="0"/>
                <a:ea typeface="Calibri" pitchFamily="34" charset="-122"/>
                <a:cs typeface="Calibri" pitchFamily="34" charset="-120"/>
              </a:rPr>
              <a:t>CONCLUSION</a:t>
            </a:r>
            <a:endParaRPr lang="en-US" sz="1467" dirty="0"/>
          </a:p>
        </p:txBody>
      </p:sp>
      <p:sp>
        <p:nvSpPr>
          <p:cNvPr id="4" name="Text 2"/>
          <p:cNvSpPr/>
          <p:nvPr/>
        </p:nvSpPr>
        <p:spPr>
          <a:xfrm>
            <a:off x="670560" y="829056"/>
            <a:ext cx="10850880" cy="853440"/>
          </a:xfrm>
          <a:prstGeom prst="rect">
            <a:avLst/>
          </a:prstGeom>
          <a:noFill/>
          <a:ln/>
        </p:spPr>
        <p:txBody>
          <a:bodyPr wrap="square" lIns="0" tIns="0" rIns="0" bIns="0" rtlCol="0" anchor="ctr"/>
          <a:lstStyle/>
          <a:p>
            <a:r>
              <a:rPr lang="en-US" sz="2900" b="1" dirty="0">
                <a:solidFill>
                  <a:srgbClr val="1E2B45"/>
                </a:solidFill>
                <a:latin typeface="Georgia" pitchFamily="34" charset="0"/>
                <a:ea typeface="Georgia" pitchFamily="34" charset="-122"/>
                <a:cs typeface="Georgia" pitchFamily="34" charset="-120"/>
              </a:rPr>
              <a:t>Vivre avec le risque : rigueur, préparation, pragmatisme</a:t>
            </a:r>
            <a:endParaRPr lang="en-US" sz="2900" dirty="0"/>
          </a:p>
        </p:txBody>
      </p:sp>
      <p:sp>
        <p:nvSpPr>
          <p:cNvPr id="5" name="Shape 3"/>
          <p:cNvSpPr/>
          <p:nvPr/>
        </p:nvSpPr>
        <p:spPr>
          <a:xfrm>
            <a:off x="670560" y="1828800"/>
            <a:ext cx="3454400" cy="298704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6" name="Shape 4"/>
          <p:cNvSpPr/>
          <p:nvPr/>
        </p:nvSpPr>
        <p:spPr>
          <a:xfrm>
            <a:off x="670560" y="1828800"/>
            <a:ext cx="3454400" cy="85344"/>
          </a:xfrm>
          <a:prstGeom prst="rect">
            <a:avLst/>
          </a:prstGeom>
          <a:solidFill>
            <a:srgbClr val="2B3F63"/>
          </a:solidFill>
          <a:ln/>
        </p:spPr>
      </p:sp>
      <p:sp>
        <p:nvSpPr>
          <p:cNvPr id="7" name="Text 5"/>
          <p:cNvSpPr/>
          <p:nvPr/>
        </p:nvSpPr>
        <p:spPr>
          <a:xfrm>
            <a:off x="914400" y="2048256"/>
            <a:ext cx="2966720" cy="670560"/>
          </a:xfrm>
          <a:prstGeom prst="rect">
            <a:avLst/>
          </a:prstGeom>
          <a:noFill/>
          <a:ln/>
        </p:spPr>
        <p:txBody>
          <a:bodyPr wrap="square" lIns="0" tIns="0" rIns="0" bIns="0" rtlCol="0" anchor="t"/>
          <a:lstStyle/>
          <a:p>
            <a:r>
              <a:rPr lang="en-US" sz="1733" b="1" dirty="0">
                <a:solidFill>
                  <a:srgbClr val="1E2B45"/>
                </a:solidFill>
                <a:latin typeface="Georgia" pitchFamily="34" charset="0"/>
                <a:ea typeface="Georgia" pitchFamily="34" charset="-122"/>
                <a:cs typeface="Georgia" pitchFamily="34" charset="-120"/>
              </a:rPr>
              <a:t>Ce que l'étude établit</a:t>
            </a:r>
            <a:endParaRPr lang="en-US" sz="1733" dirty="0"/>
          </a:p>
        </p:txBody>
      </p:sp>
      <p:sp>
        <p:nvSpPr>
          <p:cNvPr id="8" name="Text 6"/>
          <p:cNvSpPr/>
          <p:nvPr/>
        </p:nvSpPr>
        <p:spPr>
          <a:xfrm>
            <a:off x="914400" y="2804160"/>
            <a:ext cx="2966720" cy="1828800"/>
          </a:xfrm>
          <a:prstGeom prst="rect">
            <a:avLst/>
          </a:prstGeom>
          <a:noFill/>
          <a:ln/>
        </p:spPr>
        <p:txBody>
          <a:bodyPr wrap="square" lIns="0" tIns="0" rIns="0" bIns="0" rtlCol="0" anchor="t"/>
          <a:lstStyle/>
          <a:p>
            <a:pPr>
              <a:lnSpc>
                <a:spcPct val="102000"/>
              </a:lnSpc>
            </a:pPr>
            <a:r>
              <a:rPr lang="en-US" sz="1373" dirty="0">
                <a:solidFill>
                  <a:srgbClr val="27313F"/>
                </a:solidFill>
                <a:latin typeface="Calibri" pitchFamily="34" charset="0"/>
                <a:ea typeface="Calibri" pitchFamily="34" charset="-122"/>
                <a:cs typeface="Calibri" pitchFamily="34" charset="-120"/>
              </a:rPr>
              <a:t>Belhome cumule un actif à très forte valeur et une surface d'attaque physique (USB, locaux, portables) que l'air-gap ne couvre pas. Les deux risques craints sont réels et prioritaires.</a:t>
            </a:r>
            <a:endParaRPr lang="en-US" sz="1373" dirty="0"/>
          </a:p>
        </p:txBody>
      </p:sp>
      <p:sp>
        <p:nvSpPr>
          <p:cNvPr id="9" name="Shape 7"/>
          <p:cNvSpPr/>
          <p:nvPr/>
        </p:nvSpPr>
        <p:spPr>
          <a:xfrm>
            <a:off x="4368800" y="1828800"/>
            <a:ext cx="3454400" cy="298704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10" name="Shape 8"/>
          <p:cNvSpPr/>
          <p:nvPr/>
        </p:nvSpPr>
        <p:spPr>
          <a:xfrm>
            <a:off x="4368800" y="1828800"/>
            <a:ext cx="3454400" cy="85344"/>
          </a:xfrm>
          <a:prstGeom prst="rect">
            <a:avLst/>
          </a:prstGeom>
          <a:solidFill>
            <a:srgbClr val="D97A28"/>
          </a:solidFill>
          <a:ln/>
        </p:spPr>
      </p:sp>
      <p:sp>
        <p:nvSpPr>
          <p:cNvPr id="11" name="Text 9"/>
          <p:cNvSpPr/>
          <p:nvPr/>
        </p:nvSpPr>
        <p:spPr>
          <a:xfrm>
            <a:off x="4612640" y="2048256"/>
            <a:ext cx="2966720" cy="670560"/>
          </a:xfrm>
          <a:prstGeom prst="rect">
            <a:avLst/>
          </a:prstGeom>
          <a:noFill/>
          <a:ln/>
        </p:spPr>
        <p:txBody>
          <a:bodyPr wrap="square" lIns="0" tIns="0" rIns="0" bIns="0" rtlCol="0" anchor="t"/>
          <a:lstStyle/>
          <a:p>
            <a:r>
              <a:rPr lang="en-US" sz="1733" b="1" dirty="0">
                <a:solidFill>
                  <a:srgbClr val="1E2B45"/>
                </a:solidFill>
                <a:latin typeface="Georgia" pitchFamily="34" charset="0"/>
                <a:ea typeface="Georgia" pitchFamily="34" charset="-122"/>
                <a:cs typeface="Georgia" pitchFamily="34" charset="-120"/>
              </a:rPr>
              <a:t>Obstacles &amp; conduite du changement</a:t>
            </a:r>
            <a:endParaRPr lang="en-US" sz="1733" dirty="0"/>
          </a:p>
        </p:txBody>
      </p:sp>
      <p:sp>
        <p:nvSpPr>
          <p:cNvPr id="12" name="Text 10"/>
          <p:cNvSpPr/>
          <p:nvPr/>
        </p:nvSpPr>
        <p:spPr>
          <a:xfrm>
            <a:off x="4612640" y="2804160"/>
            <a:ext cx="2966720" cy="1828800"/>
          </a:xfrm>
          <a:prstGeom prst="rect">
            <a:avLst/>
          </a:prstGeom>
          <a:noFill/>
          <a:ln/>
        </p:spPr>
        <p:txBody>
          <a:bodyPr wrap="square" lIns="0" tIns="0" rIns="0" bIns="0" rtlCol="0" anchor="t"/>
          <a:lstStyle/>
          <a:p>
            <a:pPr>
              <a:lnSpc>
                <a:spcPct val="102000"/>
              </a:lnSpc>
            </a:pPr>
            <a:r>
              <a:rPr lang="en-US" sz="1373" dirty="0">
                <a:solidFill>
                  <a:srgbClr val="27313F"/>
                </a:solidFill>
                <a:latin typeface="Calibri" pitchFamily="34" charset="0"/>
                <a:ea typeface="Calibri" pitchFamily="34" charset="-122"/>
                <a:cs typeface="Calibri" pitchFamily="34" charset="-120"/>
              </a:rPr>
              <a:t>TPE sans RSSI, primauté de l'excellence technique, autonomie des ingénieurs. Porter le message par la responsabilité pénale et la réputation, jamais par la contrainte.</a:t>
            </a:r>
            <a:endParaRPr lang="en-US" sz="1373" dirty="0"/>
          </a:p>
        </p:txBody>
      </p:sp>
      <p:sp>
        <p:nvSpPr>
          <p:cNvPr id="13" name="Shape 11"/>
          <p:cNvSpPr/>
          <p:nvPr/>
        </p:nvSpPr>
        <p:spPr>
          <a:xfrm>
            <a:off x="8067040" y="1828800"/>
            <a:ext cx="3454400" cy="2987040"/>
          </a:xfrm>
          <a:prstGeom prst="rect">
            <a:avLst/>
          </a:prstGeom>
          <a:solidFill>
            <a:srgbClr val="FFFFFF"/>
          </a:solidFill>
          <a:ln w="12700">
            <a:solidFill>
              <a:srgbClr val="D7DEE8"/>
            </a:solidFill>
            <a:prstDash val="solid"/>
          </a:ln>
          <a:effectLst>
            <a:outerShdw blurRad="88900" dist="25400" dir="8100000" algn="bl" rotWithShape="0">
              <a:srgbClr val="9AA6B5">
                <a:alpha val="22000"/>
              </a:srgbClr>
            </a:outerShdw>
          </a:effectLst>
        </p:spPr>
      </p:sp>
      <p:sp>
        <p:nvSpPr>
          <p:cNvPr id="14" name="Shape 12"/>
          <p:cNvSpPr/>
          <p:nvPr/>
        </p:nvSpPr>
        <p:spPr>
          <a:xfrm>
            <a:off x="8067040" y="1828800"/>
            <a:ext cx="3454400" cy="85344"/>
          </a:xfrm>
          <a:prstGeom prst="rect">
            <a:avLst/>
          </a:prstGeom>
          <a:solidFill>
            <a:srgbClr val="B23A2E"/>
          </a:solidFill>
          <a:ln/>
        </p:spPr>
      </p:sp>
      <p:sp>
        <p:nvSpPr>
          <p:cNvPr id="15" name="Text 13"/>
          <p:cNvSpPr/>
          <p:nvPr/>
        </p:nvSpPr>
        <p:spPr>
          <a:xfrm>
            <a:off x="8310880" y="2048256"/>
            <a:ext cx="2966720" cy="670560"/>
          </a:xfrm>
          <a:prstGeom prst="rect">
            <a:avLst/>
          </a:prstGeom>
          <a:noFill/>
          <a:ln/>
        </p:spPr>
        <p:txBody>
          <a:bodyPr wrap="square" lIns="0" tIns="0" rIns="0" bIns="0" rtlCol="0" anchor="t"/>
          <a:lstStyle/>
          <a:p>
            <a:r>
              <a:rPr lang="en-US" sz="1733" b="1" dirty="0">
                <a:solidFill>
                  <a:srgbClr val="1E2B45"/>
                </a:solidFill>
                <a:latin typeface="Georgia" pitchFamily="34" charset="0"/>
                <a:ea typeface="Georgia" pitchFamily="34" charset="-122"/>
                <a:cs typeface="Georgia" pitchFamily="34" charset="-120"/>
              </a:rPr>
              <a:t>Limites &amp; suite</a:t>
            </a:r>
            <a:endParaRPr lang="en-US" sz="1733" dirty="0"/>
          </a:p>
        </p:txBody>
      </p:sp>
      <p:sp>
        <p:nvSpPr>
          <p:cNvPr id="16" name="Text 14"/>
          <p:cNvSpPr/>
          <p:nvPr/>
        </p:nvSpPr>
        <p:spPr>
          <a:xfrm>
            <a:off x="8310880" y="2804160"/>
            <a:ext cx="2966720" cy="1828800"/>
          </a:xfrm>
          <a:prstGeom prst="rect">
            <a:avLst/>
          </a:prstGeom>
          <a:noFill/>
          <a:ln/>
        </p:spPr>
        <p:txBody>
          <a:bodyPr wrap="square" lIns="0" tIns="0" rIns="0" bIns="0" rtlCol="0" anchor="t"/>
          <a:lstStyle/>
          <a:p>
            <a:pPr>
              <a:lnSpc>
                <a:spcPct val="102000"/>
              </a:lnSpc>
            </a:pPr>
            <a:r>
              <a:rPr lang="en-US" sz="1373" dirty="0">
                <a:solidFill>
                  <a:srgbClr val="27313F"/>
                </a:solidFill>
                <a:latin typeface="Calibri" pitchFamily="34" charset="0"/>
                <a:ea typeface="Calibri" pitchFamily="34" charset="-122"/>
                <a:cs typeface="Calibri" pitchFamily="34" charset="-120"/>
              </a:rPr>
              <a:t>Étude générale, sans test d'intrusion. L'effort d'analyse est faible ; le vrai défi est la discipline durable. Étapes : déployer le plan, puis EBIOS complet + audit.</a:t>
            </a:r>
            <a:endParaRPr lang="en-US" sz="1373" dirty="0"/>
          </a:p>
        </p:txBody>
      </p:sp>
      <p:sp>
        <p:nvSpPr>
          <p:cNvPr id="17" name="Shape 15"/>
          <p:cNvSpPr/>
          <p:nvPr/>
        </p:nvSpPr>
        <p:spPr>
          <a:xfrm>
            <a:off x="670560" y="5181600"/>
            <a:ext cx="10850880" cy="853440"/>
          </a:xfrm>
          <a:prstGeom prst="rect">
            <a:avLst/>
          </a:prstGeom>
          <a:solidFill>
            <a:srgbClr val="1E2B45"/>
          </a:solidFill>
          <a:ln/>
        </p:spPr>
      </p:sp>
      <p:sp>
        <p:nvSpPr>
          <p:cNvPr id="18" name="Text 16"/>
          <p:cNvSpPr/>
          <p:nvPr/>
        </p:nvSpPr>
        <p:spPr>
          <a:xfrm>
            <a:off x="1036320" y="5181600"/>
            <a:ext cx="10119360" cy="853440"/>
          </a:xfrm>
          <a:prstGeom prst="rect">
            <a:avLst/>
          </a:prstGeom>
          <a:noFill/>
          <a:ln/>
        </p:spPr>
        <p:txBody>
          <a:bodyPr wrap="square" lIns="0" tIns="0" rIns="0" bIns="0" rtlCol="0" anchor="ctr"/>
          <a:lstStyle/>
          <a:p>
            <a:pPr algn="ctr"/>
            <a:r>
              <a:rPr lang="en-US" sz="1867" i="1" dirty="0">
                <a:solidFill>
                  <a:srgbClr val="FFFFFF"/>
                </a:solidFill>
                <a:latin typeface="Georgia" pitchFamily="34" charset="0"/>
                <a:ea typeface="Georgia" pitchFamily="34" charset="-122"/>
                <a:cs typeface="Georgia" pitchFamily="34" charset="-120"/>
              </a:rPr>
              <a:t>« La sécurité ne sera jamais absolue. La rigueur, la préparation et le pragmatisme sont vos meilleurs atouts. »</a:t>
            </a:r>
            <a:endParaRPr lang="en-US" sz="1867" dirty="0"/>
          </a:p>
        </p:txBody>
      </p:sp>
      <p:sp>
        <p:nvSpPr>
          <p:cNvPr id="19" name="Shape 17"/>
          <p:cNvSpPr/>
          <p:nvPr/>
        </p:nvSpPr>
        <p:spPr>
          <a:xfrm>
            <a:off x="670560" y="6315456"/>
            <a:ext cx="10850880" cy="0"/>
          </a:xfrm>
          <a:prstGeom prst="line">
            <a:avLst/>
          </a:prstGeom>
          <a:noFill/>
          <a:ln w="12700">
            <a:solidFill>
              <a:srgbClr val="D7DEE8"/>
            </a:solidFill>
            <a:prstDash val="solid"/>
          </a:ln>
        </p:spPr>
      </p:sp>
      <p:sp>
        <p:nvSpPr>
          <p:cNvPr id="20" name="Text 18"/>
          <p:cNvSpPr/>
          <p:nvPr/>
        </p:nvSpPr>
        <p:spPr>
          <a:xfrm>
            <a:off x="670560" y="6364224"/>
            <a:ext cx="7315200" cy="365760"/>
          </a:xfrm>
          <a:prstGeom prst="rect">
            <a:avLst/>
          </a:prstGeom>
          <a:noFill/>
          <a:ln/>
        </p:spPr>
        <p:txBody>
          <a:bodyPr wrap="square" lIns="0" tIns="0" rIns="0" bIns="0" rtlCol="0" anchor="ctr"/>
          <a:lstStyle/>
          <a:p>
            <a:r>
              <a:rPr lang="en-US" sz="1133" dirty="0">
                <a:solidFill>
                  <a:srgbClr val="6B7787"/>
                </a:solidFill>
                <a:latin typeface="Calibri" pitchFamily="34" charset="0"/>
                <a:ea typeface="Calibri" pitchFamily="34" charset="-122"/>
                <a:cs typeface="Calibri" pitchFamily="34" charset="-120"/>
              </a:rPr>
              <a:t>Cas Belhome  ·  Analyse de risque EBIOS (ANSSI)</a:t>
            </a:r>
            <a:endParaRPr lang="en-US" sz="1133" dirty="0"/>
          </a:p>
        </p:txBody>
      </p:sp>
      <p:sp>
        <p:nvSpPr>
          <p:cNvPr id="21" name="Text 19"/>
          <p:cNvSpPr/>
          <p:nvPr/>
        </p:nvSpPr>
        <p:spPr>
          <a:xfrm>
            <a:off x="10789920" y="6364224"/>
            <a:ext cx="731520" cy="365760"/>
          </a:xfrm>
          <a:prstGeom prst="rect">
            <a:avLst/>
          </a:prstGeom>
          <a:noFill/>
          <a:ln/>
        </p:spPr>
        <p:txBody>
          <a:bodyPr wrap="square" lIns="0" tIns="0" rIns="0" bIns="0" rtlCol="0" anchor="ctr"/>
          <a:lstStyle/>
          <a:p>
            <a:pPr algn="r"/>
            <a:r>
              <a:rPr lang="en-US" sz="1133" dirty="0">
                <a:solidFill>
                  <a:srgbClr val="6B7787"/>
                </a:solidFill>
                <a:latin typeface="Calibri" pitchFamily="34" charset="0"/>
                <a:ea typeface="Calibri" pitchFamily="34" charset="-122"/>
                <a:cs typeface="Calibri" pitchFamily="34" charset="-120"/>
              </a:rPr>
              <a:t>15</a:t>
            </a:r>
            <a:endParaRPr lang="en-US" sz="113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TotalTime>
  <Words>4595</Words>
  <Application>Microsoft Office PowerPoint</Application>
  <PresentationFormat>Grand écran</PresentationFormat>
  <Paragraphs>370</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Cambria</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risque EBIOS — Belhome</dc:title>
  <dc:subject>PptxGenJS Presentation</dc:subject>
  <dc:creator>Équipe Data Analytics — OMNES</dc:creator>
  <cp:lastModifiedBy>Ines DAMMAK</cp:lastModifiedBy>
  <cp:revision>8</cp:revision>
  <dcterms:created xsi:type="dcterms:W3CDTF">2026-06-02T16:15:38Z</dcterms:created>
  <dcterms:modified xsi:type="dcterms:W3CDTF">2026-06-03T07:17:19Z</dcterms:modified>
</cp:coreProperties>
</file>